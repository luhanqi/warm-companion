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78" r:id="rId7"/>
    <p:sldId id="262" r:id="rId8"/>
    <p:sldId id="263" r:id="rId9"/>
    <p:sldId id="281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80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4" userDrawn="1">
          <p15:clr>
            <a:srgbClr val="A4A3A4"/>
          </p15:clr>
        </p15:guide>
        <p15:guide id="2" pos="37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6447"/>
    <a:srgbClr val="FFFFFF"/>
    <a:srgbClr val="A68A64"/>
    <a:srgbClr val="E8DFD2"/>
    <a:srgbClr val="EDE7E5"/>
    <a:srgbClr val="C4BD97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232" y="68"/>
      </p:cViewPr>
      <p:guideLst>
        <p:guide orient="horz" pos="2434"/>
        <p:guide pos="37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/>
              <a:t>空巢老人占比</a:t>
            </a:r>
          </a:p>
        </c:rich>
      </c:tx>
      <c:layout>
        <c:manualLayout>
          <c:xMode val="edge"/>
          <c:yMode val="edge"/>
          <c:x val="0.40697242595859301"/>
          <c:y val="1.347017318794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1"/>
          <c:order val="0"/>
          <c:tx>
            <c:strRef>
              <c:f>Sheet1!$B$1</c:f>
              <c:strCache>
                <c:ptCount val="1"/>
                <c:pt idx="0">
                  <c:v>空巢老人占比2</c:v>
                </c:pt>
              </c:strCache>
            </c:strRef>
          </c:tx>
          <c:spPr>
            <a:solidFill>
              <a:srgbClr val="E8DFD2"/>
            </a:solidFill>
          </c:spPr>
          <c:dPt>
            <c:idx val="0"/>
            <c:bubble3D val="0"/>
            <c:spPr>
              <a:solidFill>
                <a:srgbClr val="A68A6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14-49A6-839F-F055BA51D421}"/>
              </c:ext>
            </c:extLst>
          </c:dPt>
          <c:dPt>
            <c:idx val="1"/>
            <c:bubble3D val="0"/>
            <c:spPr>
              <a:solidFill>
                <a:srgbClr val="E8DFD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14-49A6-839F-F055BA51D421}"/>
              </c:ext>
            </c:extLst>
          </c:dPt>
          <c:dPt>
            <c:idx val="2"/>
            <c:bubble3D val="0"/>
            <c:spPr>
              <a:solidFill>
                <a:srgbClr val="E8DFD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14-49A6-839F-F055BA51D421}"/>
              </c:ext>
            </c:extLst>
          </c:dPt>
          <c:dPt>
            <c:idx val="3"/>
            <c:bubble3D val="0"/>
            <c:spPr>
              <a:solidFill>
                <a:srgbClr val="E8DFD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714-49A6-839F-F055BA51D421}"/>
              </c:ext>
            </c:extLst>
          </c:dPt>
          <c:dLbls>
            <c:dLbl>
              <c:idx val="0"/>
              <c:layout>
                <c:manualLayout>
                  <c:x val="-0.121145685123059"/>
                  <c:y val="-6.4385900985802005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1200" u="none" strike="noStrike" cap="none" normalizeH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uFill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uFill>
                        <a:latin typeface="微软雅黑" panose="020B0503020204020204" charset="-122"/>
                      </a:rPr>
                      <a:t>59.70%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714-49A6-839F-F055BA51D421}"/>
                </c:ext>
              </c:extLst>
            </c:dLbl>
            <c:dLbl>
              <c:idx val="1"/>
              <c:layout>
                <c:manualLayout>
                  <c:x val="0.121602196496326"/>
                  <c:y val="4.0541509038360499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1200"/>
                      <a:t>40.30%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714-49A6-839F-F055BA51D4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800" b="0" i="0" u="none" strike="noStrike" kern="1200" cap="none" spc="0" normalizeH="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uFill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u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空巢老人</c:v>
                </c:pt>
                <c:pt idx="1">
                  <c:v>非空巢老人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0.59699999999999998</c:v>
                </c:pt>
                <c:pt idx="1">
                  <c:v>0.40300000000000002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14-49A6-839F-F055BA51D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zh-CN"/>
          </a:p>
        </c:txPr>
      </c:legendEntry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628967571903289"/>
          <c:y val="0.28649582493521503"/>
          <c:w val="0.31843703449066102"/>
          <c:h val="0.31154621364814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ab69aa1-0d78-4b4f-b89e-b2e4e7abc53f}"/>
      </c:ext>
    </c:extLst>
  </c:chart>
  <c:spPr>
    <a:solidFill>
      <a:schemeClr val="bg1"/>
    </a:solidFill>
    <a:ln w="9525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zh-CN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0.44083</cdr:y>
    </cdr:from>
    <cdr:to>
      <cdr:x>0.38524</cdr:x>
      <cdr:y>0.95883</cdr:y>
    </cdr:to>
    <cdr:sp macro="" textlink="">
      <cdr:nvSpPr>
        <cdr:cNvPr id="2" name="矩形 1"/>
        <cdr:cNvSpPr/>
      </cdr:nvSpPr>
      <cdr:spPr>
        <a:xfrm xmlns:a="http://schemas.openxmlformats.org/drawingml/2006/main">
          <a:off x="0" y="972185"/>
          <a:ext cx="2134870" cy="1142365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horzOverflow="clip" wrap="square" rtlCol="0" anchor="t"/>
        <a:lstStyle xmlns:a="http://schemas.openxmlformats.org/drawingml/2006/main"/>
        <a:p xmlns:a="http://schemas.openxmlformats.org/drawingml/2006/main">
          <a:r>
            <a:rPr 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rPr>
            <a:t>来源：</a:t>
          </a:r>
          <a:r>
            <a: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rPr>
            <a:t>2026</a:t>
          </a:r>
          <a:r>
            <a: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rPr>
            <a:t>年</a:t>
          </a:r>
          <a:r>
            <a: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rPr>
            <a:t>1</a:t>
          </a:r>
          <a:r>
            <a: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rPr>
            <a:t>月北京日报客户端，</a:t>
          </a:r>
        </a:p>
        <a:p xmlns:a="http://schemas.openxmlformats.org/drawingml/2006/main">
          <a:r>
            <a: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rPr>
            <a:t>援引中国老龄事业发展基金会中华遗嘱库项目办公室相关数据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3"/>
            <a:ext cx="5181600" cy="908050"/>
          </a:xfrm>
        </p:spPr>
        <p:txBody>
          <a:bodyPr anchor="t"/>
          <a:lstStyle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3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3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3"/>
            <a:ext cx="3407833" cy="3902075"/>
          </a:xfrm>
        </p:spPr>
        <p:txBody>
          <a:bodyPr/>
          <a:lstStyle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3"/>
            <a:ext cx="2005542" cy="31273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09600" rtl="0" eaLnBrk="1" latinLnBrk="0" hangingPunct="1">
        <a:spcBef>
          <a:spcPct val="0"/>
        </a:spcBef>
        <a:buNone/>
        <a:defRPr sz="2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1905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33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»"/>
        <a:defRPr sz="1335" kern="1200">
          <a:solidFill>
            <a:schemeClr val="tx1"/>
          </a:solidFill>
          <a:latin typeface="+mn-lt"/>
          <a:ea typeface="+mn-ea"/>
          <a:cs typeface="+mn-cs"/>
        </a:defRPr>
      </a:lvl5pPr>
      <a:lvl6pPr marL="16764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6pPr>
      <a:lvl7pPr marL="19812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8pPr>
      <a:lvl9pPr marL="2590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6.png"/><Relationship Id="rId3" Type="http://schemas.openxmlformats.org/officeDocument/2006/relationships/tags" Target="../tags/tag3.xml"/><Relationship Id="rId21" Type="http://schemas.openxmlformats.org/officeDocument/2006/relationships/image" Target="../media/image2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4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3.sv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chart" Target="../charts/chart1.xml"/><Relationship Id="rId27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tags" Target="../tags/tag46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tags" Target="../tags/tag45.xml"/><Relationship Id="rId33" Type="http://schemas.openxmlformats.org/officeDocument/2006/relationships/image" Target="../media/image62.png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29" Type="http://schemas.openxmlformats.org/officeDocument/2006/relationships/image" Target="../media/image58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tags" Target="../tags/tag44.xml"/><Relationship Id="rId32" Type="http://schemas.openxmlformats.org/officeDocument/2006/relationships/image" Target="../media/image61.png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tags" Target="../tags/tag43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31" Type="http://schemas.openxmlformats.org/officeDocument/2006/relationships/image" Target="../media/image60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tags" Target="../tags/tag42.xml"/><Relationship Id="rId27" Type="http://schemas.openxmlformats.org/officeDocument/2006/relationships/tags" Target="../tags/tag47.xml"/><Relationship Id="rId30" Type="http://schemas.openxmlformats.org/officeDocument/2006/relationships/image" Target="../media/image59.png"/><Relationship Id="rId8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4835" y="5561330"/>
            <a:ext cx="8172450" cy="440690"/>
            <a:chOff x="0" y="0"/>
            <a:chExt cx="2881932" cy="1741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1932" cy="174199"/>
            </a:xfrm>
            <a:custGeom>
              <a:avLst/>
              <a:gdLst/>
              <a:ahLst/>
              <a:cxnLst/>
              <a:rect l="l" t="t" r="r" b="b"/>
              <a:pathLst>
                <a:path w="2881932" h="174199">
                  <a:moveTo>
                    <a:pt x="70752" y="0"/>
                  </a:moveTo>
                  <a:lnTo>
                    <a:pt x="2811180" y="0"/>
                  </a:lnTo>
                  <a:cubicBezTo>
                    <a:pt x="2850255" y="0"/>
                    <a:pt x="2881932" y="31677"/>
                    <a:pt x="2881932" y="70752"/>
                  </a:cubicBezTo>
                  <a:lnTo>
                    <a:pt x="2881932" y="103447"/>
                  </a:lnTo>
                  <a:cubicBezTo>
                    <a:pt x="2881932" y="142523"/>
                    <a:pt x="2850255" y="174199"/>
                    <a:pt x="2811180" y="174199"/>
                  </a:cubicBezTo>
                  <a:lnTo>
                    <a:pt x="70752" y="174199"/>
                  </a:lnTo>
                  <a:cubicBezTo>
                    <a:pt x="31677" y="174199"/>
                    <a:pt x="0" y="142523"/>
                    <a:pt x="0" y="103447"/>
                  </a:cubicBezTo>
                  <a:lnTo>
                    <a:pt x="0" y="70752"/>
                  </a:lnTo>
                  <a:cubicBezTo>
                    <a:pt x="0" y="31677"/>
                    <a:pt x="31677" y="0"/>
                    <a:pt x="70752" y="0"/>
                  </a:cubicBezTo>
                  <a:close/>
                </a:path>
              </a:pathLst>
            </a:custGeom>
            <a:solidFill>
              <a:srgbClr val="B5A282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881932" cy="174199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720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235360" y="4221868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5" y="0"/>
                </a:lnTo>
                <a:lnTo>
                  <a:pt x="382735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369234" y="4221868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5" y="0"/>
                </a:lnTo>
                <a:lnTo>
                  <a:pt x="382735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6786983" y="-1473279"/>
            <a:ext cx="6336215" cy="633621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27246" y="2803859"/>
            <a:ext cx="3757908" cy="375790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262295" y="5769355"/>
            <a:ext cx="2524591" cy="25245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64300" y="4239328"/>
            <a:ext cx="160656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0"/>
              </a:lnSpc>
              <a:spcBef>
                <a:spcPct val="0"/>
              </a:spcBef>
            </a:pPr>
            <a:r>
              <a:rPr lang="en-US" sz="1510" b="1" u="none" strike="noStrike">
                <a:solidFill>
                  <a:srgbClr val="FFFFFF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答辩学生：张小可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98174" y="4239328"/>
            <a:ext cx="160656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0"/>
              </a:lnSpc>
              <a:spcBef>
                <a:spcPct val="0"/>
              </a:spcBef>
            </a:pPr>
            <a:r>
              <a:rPr lang="en-US" sz="1510" b="1">
                <a:solidFill>
                  <a:srgbClr val="FFFFFF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指导老师：李小画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8112" y="3900187"/>
            <a:ext cx="1565252" cy="156525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544947"/>
            <a:ext cx="777579" cy="101256"/>
            <a:chOff x="0" y="0"/>
            <a:chExt cx="1555157" cy="202512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02512" cy="202512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70529" y="0"/>
              <a:ext cx="202512" cy="202512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41058" y="0"/>
              <a:ext cx="202512" cy="202512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11587" y="0"/>
              <a:ext cx="202512" cy="202512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82116" y="0"/>
              <a:ext cx="202512" cy="202512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352644" y="0"/>
              <a:ext cx="202512" cy="202512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3433445" y="887095"/>
            <a:ext cx="4680585" cy="24542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8510"/>
              </a:lnSpc>
            </a:pPr>
            <a:r>
              <a:rPr lang="zh-CN" altLang="en-US" sz="8815" b="1" spc="219" dirty="0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暖伴</a:t>
            </a:r>
            <a:r>
              <a:rPr lang="en-US" sz="8815" b="1" spc="489" dirty="0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AI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97205" y="2854325"/>
            <a:ext cx="10658475" cy="24536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ctr" fontAlgn="auto">
              <a:lnSpc>
                <a:spcPts val="7500"/>
              </a:lnSpc>
            </a:pPr>
            <a:r>
              <a:rPr lang="zh-CN" altLang="en-US" sz="3945" b="1" spc="219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——面向银发群体的情绪感知与记忆增强</a:t>
            </a:r>
          </a:p>
          <a:p>
            <a:pPr indent="0" algn="ctr" fontAlgn="auto">
              <a:lnSpc>
                <a:spcPts val="7500"/>
              </a:lnSpc>
            </a:pPr>
            <a:r>
              <a:rPr lang="zh-CN" altLang="en-US" sz="3945" b="1" spc="219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陪伴智能体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55470" y="5422265"/>
            <a:ext cx="8171815" cy="9404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400"/>
              </a:lnSpc>
            </a:pPr>
            <a:r>
              <a:rPr lang="en-US" sz="2095" spc="2165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听懂情绪，记住人生，连接家人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5277" y="1693844"/>
            <a:ext cx="688006" cy="68800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15365" y="1608455"/>
            <a:ext cx="687705" cy="8102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820"/>
              </a:lnSpc>
            </a:pPr>
            <a:r>
              <a:rPr lang="en-US" sz="323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82090" y="2637331"/>
            <a:ext cx="688006" cy="68800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52930" y="2538730"/>
            <a:ext cx="746125" cy="8896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820"/>
              </a:lnSpc>
            </a:pPr>
            <a:r>
              <a:rPr lang="en-US" sz="323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788049" y="3677660"/>
            <a:ext cx="688006" cy="68800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759075" y="3558540"/>
            <a:ext cx="746125" cy="8534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820"/>
              </a:lnSpc>
            </a:pPr>
            <a:r>
              <a:rPr lang="en-US" sz="323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631848" y="4599693"/>
            <a:ext cx="688006" cy="68800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602355" y="4509135"/>
            <a:ext cx="746125" cy="8591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820"/>
              </a:lnSpc>
            </a:pPr>
            <a:r>
              <a:rPr lang="en-US" sz="323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71" y="141150"/>
            <a:ext cx="2406361" cy="66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60"/>
              </a:lnSpc>
              <a:spcBef>
                <a:spcPct val="0"/>
              </a:spcBef>
            </a:pPr>
            <a:r>
              <a:rPr lang="en-US" sz="2865" u="none" strike="noStrike" spc="86">
                <a:solidFill>
                  <a:srgbClr val="1E1E1E">
                    <a:alpha val="32941"/>
                  </a:srgbClr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CONTENTS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65299" y="-1827724"/>
            <a:ext cx="3792291" cy="379229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165226" y="732187"/>
            <a:ext cx="2249147" cy="224914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96902" y="1388351"/>
            <a:ext cx="936819" cy="93681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8" name="Group 28"/>
          <p:cNvGrpSpPr/>
          <p:nvPr/>
        </p:nvGrpSpPr>
        <p:grpSpPr>
          <a:xfrm rot="-10481086">
            <a:off x="-955421" y="5714599"/>
            <a:ext cx="2689515" cy="268951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31" name="Group 31"/>
          <p:cNvGrpSpPr/>
          <p:nvPr/>
        </p:nvGrpSpPr>
        <p:grpSpPr>
          <a:xfrm rot="-10481086">
            <a:off x="-946293" y="4937965"/>
            <a:ext cx="1595109" cy="1595109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34" name="Group 34"/>
          <p:cNvGrpSpPr/>
          <p:nvPr/>
        </p:nvGrpSpPr>
        <p:grpSpPr>
          <a:xfrm rot="-10481086">
            <a:off x="878053" y="5529754"/>
            <a:ext cx="664398" cy="664398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012950" y="1548130"/>
            <a:ext cx="4931410" cy="8394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160"/>
              </a:lnSpc>
            </a:pPr>
            <a:r>
              <a:rPr lang="en-US" sz="2935" b="1" spc="356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项目背景与需求分析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10535" y="2470785"/>
            <a:ext cx="4468495" cy="10052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160"/>
              </a:lnSpc>
            </a:pPr>
            <a:r>
              <a:rPr lang="en-US" sz="2935" b="1" spc="356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核心方案与技术创新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97630" y="3516630"/>
            <a:ext cx="3792220" cy="9518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160"/>
              </a:lnSpc>
            </a:pPr>
            <a:r>
              <a:rPr lang="en-US" sz="2935" b="1" spc="356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系统架构与实现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83125" y="4411980"/>
            <a:ext cx="4211955" cy="8756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160"/>
              </a:lnSpc>
            </a:pPr>
            <a:r>
              <a:rPr lang="en-US" sz="2935" b="1" spc="356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核心功能与实验验证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488617" y="5595810"/>
            <a:ext cx="688006" cy="688006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430395" y="5499735"/>
            <a:ext cx="746125" cy="9747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820"/>
              </a:lnSpc>
            </a:pPr>
            <a:r>
              <a:rPr lang="en-US" sz="323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27675" y="5499735"/>
            <a:ext cx="4131945" cy="9779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2935" b="1">
                <a:solidFill>
                  <a:srgbClr val="1E1E1E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应用场景与项目价值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915" y="96143"/>
            <a:ext cx="2260673" cy="179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0"/>
              </a:lnSpc>
            </a:pPr>
            <a:r>
              <a:rPr lang="en-US" sz="6680" spc="370">
                <a:solidFill>
                  <a:srgbClr val="1E1E1E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971" y="6268307"/>
            <a:ext cx="777579" cy="101256"/>
            <a:chOff x="0" y="0"/>
            <a:chExt cx="1555157" cy="20251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2512" cy="2025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70529" y="0"/>
              <a:ext cx="202512" cy="2025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41058" y="0"/>
              <a:ext cx="202512" cy="2025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1587" y="0"/>
              <a:ext cx="202512" cy="2025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82116" y="0"/>
              <a:ext cx="202512" cy="2025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52644" y="0"/>
              <a:ext cx="202512" cy="2025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 rot="10510853">
            <a:off x="-1194047" y="2645061"/>
            <a:ext cx="6336215" cy="633621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 rot="10510853">
            <a:off x="-1504257" y="998011"/>
            <a:ext cx="3757908" cy="375790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7" name="Group 27"/>
          <p:cNvGrpSpPr/>
          <p:nvPr/>
        </p:nvGrpSpPr>
        <p:grpSpPr>
          <a:xfrm rot="10510853">
            <a:off x="2950442" y="2453089"/>
            <a:ext cx="1565252" cy="156525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61331" y="1790205"/>
            <a:ext cx="1079571" cy="107957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423785" y="1603375"/>
            <a:ext cx="1355090" cy="15284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521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01</a:t>
            </a:r>
          </a:p>
        </p:txBody>
      </p:sp>
      <p:grpSp>
        <p:nvGrpSpPr>
          <p:cNvPr id="34" name="Group 34"/>
          <p:cNvGrpSpPr/>
          <p:nvPr/>
        </p:nvGrpSpPr>
        <p:grpSpPr>
          <a:xfrm rot="10510853">
            <a:off x="10462058" y="-1878954"/>
            <a:ext cx="3757908" cy="3757908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061585" y="3204210"/>
            <a:ext cx="7145655" cy="1484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80"/>
              </a:lnSpc>
            </a:pPr>
            <a:r>
              <a:rPr lang="en-US" sz="5515" b="1" spc="669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项目背景与需求分析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288512">
            <a:off x="-607911" y="-829151"/>
            <a:ext cx="1658302" cy="1658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3134487">
            <a:off x="-640192" y="397244"/>
            <a:ext cx="983512" cy="98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3134487">
            <a:off x="547797" y="396813"/>
            <a:ext cx="409655" cy="40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06495" y="2376599"/>
            <a:ext cx="2324495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1865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选题背景内容概括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690" y="40005"/>
            <a:ext cx="3750945" cy="10972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000"/>
              </a:lnSpc>
            </a:pPr>
            <a:r>
              <a:rPr lang="en-US" sz="3335" b="1" spc="185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行业背景与现状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055" y="1645920"/>
            <a:ext cx="2456180" cy="7988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l" fontAlgn="auto">
              <a:lnSpc>
                <a:spcPts val="3000"/>
              </a:lnSpc>
            </a:pPr>
            <a:r>
              <a:rPr lang="en-US" sz="2000" b="1" spc="550">
                <a:solidFill>
                  <a:srgbClr val="97815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1 Bold" panose="020B0800000000000000" charset="-122"/>
              </a:rPr>
              <a:t>3.1亿</a:t>
            </a:r>
            <a:r>
              <a:rPr lang="en-US" sz="2000" b="1" spc="650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1 Bold" panose="020B0800000000000000" charset="-122"/>
              </a:rPr>
              <a:t>老年人</a:t>
            </a:r>
          </a:p>
          <a:p>
            <a:pPr indent="0" algn="l" fontAlgn="auto">
              <a:lnSpc>
                <a:spcPts val="3000"/>
              </a:lnSpc>
            </a:pPr>
            <a:r>
              <a:rPr lang="en-US" sz="2000" b="1" spc="650">
                <a:solidFill>
                  <a:srgbClr val="0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1 Bold" panose="020B0800000000000000" charset="-122"/>
              </a:rPr>
              <a:t>背后的情感孤岛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84509" y="1013206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>
            <p:custDataLst>
              <p:tags r:id="rId1"/>
            </p:custDataLst>
          </p:nvPr>
        </p:nvSpPr>
        <p:spPr>
          <a:xfrm>
            <a:off x="629920" y="2500630"/>
            <a:ext cx="4437380" cy="814070"/>
          </a:xfrm>
          <a:custGeom>
            <a:avLst/>
            <a:gdLst/>
            <a:ahLst/>
            <a:cxnLst/>
            <a:rect l="l" t="t" r="r" b="b"/>
            <a:pathLst>
              <a:path w="1753091" h="1504683">
                <a:moveTo>
                  <a:pt x="9305" y="0"/>
                </a:moveTo>
                <a:lnTo>
                  <a:pt x="1743787" y="0"/>
                </a:lnTo>
                <a:cubicBezTo>
                  <a:pt x="1746254" y="0"/>
                  <a:pt x="1748621" y="980"/>
                  <a:pt x="1750366" y="2725"/>
                </a:cubicBezTo>
                <a:cubicBezTo>
                  <a:pt x="1752111" y="4470"/>
                  <a:pt x="1753091" y="6837"/>
                  <a:pt x="1753091" y="9305"/>
                </a:cubicBezTo>
                <a:lnTo>
                  <a:pt x="1753091" y="1495378"/>
                </a:lnTo>
                <a:cubicBezTo>
                  <a:pt x="1753091" y="1497846"/>
                  <a:pt x="1752111" y="1500212"/>
                  <a:pt x="1750366" y="1501957"/>
                </a:cubicBezTo>
                <a:cubicBezTo>
                  <a:pt x="1748621" y="1503702"/>
                  <a:pt x="1746254" y="1504683"/>
                  <a:pt x="1743787" y="1504683"/>
                </a:cubicBezTo>
                <a:lnTo>
                  <a:pt x="9305" y="1504683"/>
                </a:lnTo>
                <a:cubicBezTo>
                  <a:pt x="6837" y="1504683"/>
                  <a:pt x="4470" y="1503702"/>
                  <a:pt x="2725" y="1501957"/>
                </a:cubicBezTo>
                <a:cubicBezTo>
                  <a:pt x="980" y="1500212"/>
                  <a:pt x="0" y="1497846"/>
                  <a:pt x="0" y="1495378"/>
                </a:cubicBezTo>
                <a:lnTo>
                  <a:pt x="0" y="9305"/>
                </a:lnTo>
                <a:cubicBezTo>
                  <a:pt x="0" y="6837"/>
                  <a:pt x="980" y="4470"/>
                  <a:pt x="2725" y="2725"/>
                </a:cubicBezTo>
                <a:cubicBezTo>
                  <a:pt x="4470" y="980"/>
                  <a:pt x="6837" y="0"/>
                  <a:pt x="9305" y="0"/>
                </a:cubicBezTo>
                <a:close/>
              </a:path>
            </a:pathLst>
          </a:custGeom>
          <a:gradFill rotWithShape="1">
            <a:gsLst>
              <a:gs pos="0">
                <a:srgbClr val="C0AE8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18" name="TextBox 18"/>
          <p:cNvSpPr txBox="1"/>
          <p:nvPr>
            <p:custDataLst>
              <p:tags r:id="rId2"/>
            </p:custDataLst>
          </p:nvPr>
        </p:nvSpPr>
        <p:spPr>
          <a:xfrm>
            <a:off x="1384935" y="2494280"/>
            <a:ext cx="2455545" cy="8140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2335" b="1">
                <a:solidFill>
                  <a:schemeClr val="tx1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60岁及以上人口</a:t>
            </a:r>
          </a:p>
        </p:txBody>
      </p:sp>
      <p:sp>
        <p:nvSpPr>
          <p:cNvPr id="21" name="TextBox 21"/>
          <p:cNvSpPr txBox="1"/>
          <p:nvPr>
            <p:custDataLst>
              <p:tags r:id="rId3"/>
            </p:custDataLst>
          </p:nvPr>
        </p:nvSpPr>
        <p:spPr>
          <a:xfrm>
            <a:off x="4098925" y="2388870"/>
            <a:ext cx="1203325" cy="8274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6255"/>
              </a:lnSpc>
              <a:spcBef>
                <a:spcPct val="0"/>
              </a:spcBef>
            </a:pPr>
            <a:r>
              <a:rPr lang="en-US" sz="2975" b="1">
                <a:solidFill>
                  <a:srgbClr val="B5A282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3.23亿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49010" y="445770"/>
            <a:ext cx="5791835" cy="2621280"/>
          </a:xfrm>
          <a:prstGeom prst="rect">
            <a:avLst/>
          </a:prstGeom>
        </p:spPr>
      </p:pic>
      <p:graphicFrame>
        <p:nvGraphicFramePr>
          <p:cNvPr id="33" name="图表 32" descr="7b0a202020202263686172745265734964223a20223230343732313936220a7d0a"/>
          <p:cNvGraphicFramePr/>
          <p:nvPr>
            <p:custDataLst>
              <p:tags r:id="rId4"/>
            </p:custDataLst>
          </p:nvPr>
        </p:nvGraphicFramePr>
        <p:xfrm>
          <a:off x="6299200" y="3296285"/>
          <a:ext cx="5541645" cy="2205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pSp>
        <p:nvGrpSpPr>
          <p:cNvPr id="42" name="Group 42"/>
          <p:cNvGrpSpPr/>
          <p:nvPr/>
        </p:nvGrpSpPr>
        <p:grpSpPr>
          <a:xfrm>
            <a:off x="527368" y="1190541"/>
            <a:ext cx="2554750" cy="389905"/>
            <a:chOff x="0" y="0"/>
            <a:chExt cx="1009284" cy="15403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9284" cy="154036"/>
            </a:xfrm>
            <a:custGeom>
              <a:avLst/>
              <a:gdLst/>
              <a:ahLst/>
              <a:cxnLst/>
              <a:rect l="l" t="t" r="r" b="b"/>
              <a:pathLst>
                <a:path w="1009284" h="154036">
                  <a:moveTo>
                    <a:pt x="77018" y="0"/>
                  </a:moveTo>
                  <a:lnTo>
                    <a:pt x="932266" y="0"/>
                  </a:lnTo>
                  <a:cubicBezTo>
                    <a:pt x="952692" y="0"/>
                    <a:pt x="972282" y="8114"/>
                    <a:pt x="986726" y="22558"/>
                  </a:cubicBezTo>
                  <a:cubicBezTo>
                    <a:pt x="1001170" y="37002"/>
                    <a:pt x="1009284" y="56592"/>
                    <a:pt x="1009284" y="77018"/>
                  </a:cubicBezTo>
                  <a:lnTo>
                    <a:pt x="1009284" y="77018"/>
                  </a:lnTo>
                  <a:cubicBezTo>
                    <a:pt x="1009284" y="119554"/>
                    <a:pt x="974802" y="154036"/>
                    <a:pt x="932266" y="154036"/>
                  </a:cubicBezTo>
                  <a:lnTo>
                    <a:pt x="77018" y="154036"/>
                  </a:lnTo>
                  <a:cubicBezTo>
                    <a:pt x="34482" y="154036"/>
                    <a:pt x="0" y="119554"/>
                    <a:pt x="0" y="77018"/>
                  </a:cubicBezTo>
                  <a:lnTo>
                    <a:pt x="0" y="77018"/>
                  </a:lnTo>
                  <a:cubicBezTo>
                    <a:pt x="0" y="34482"/>
                    <a:pt x="34482" y="0"/>
                    <a:pt x="77018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009284" cy="192136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954405" y="1191895"/>
            <a:ext cx="2127250" cy="439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300">
                <a:solidFill>
                  <a:schemeClr val="bg1"/>
                </a:solidFill>
              </a:rPr>
              <a:t>背景驱动分析</a:t>
            </a:r>
          </a:p>
        </p:txBody>
      </p:sp>
      <p:sp>
        <p:nvSpPr>
          <p:cNvPr id="76" name="Freeform 17"/>
          <p:cNvSpPr/>
          <p:nvPr/>
        </p:nvSpPr>
        <p:spPr>
          <a:xfrm>
            <a:off x="629781" y="1159750"/>
            <a:ext cx="324817" cy="370641"/>
          </a:xfrm>
          <a:custGeom>
            <a:avLst/>
            <a:gdLst/>
            <a:ahLst/>
            <a:cxnLst/>
            <a:rect l="l" t="t" r="r" b="b"/>
            <a:pathLst>
              <a:path w="487225" h="555962">
                <a:moveTo>
                  <a:pt x="0" y="0"/>
                </a:moveTo>
                <a:lnTo>
                  <a:pt x="487224" y="0"/>
                </a:lnTo>
                <a:lnTo>
                  <a:pt x="487224" y="555962"/>
                </a:lnTo>
                <a:lnTo>
                  <a:pt x="0" y="55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cxnSp>
        <p:nvCxnSpPr>
          <p:cNvPr id="26" name="直接连接符 25"/>
          <p:cNvCxnSpPr/>
          <p:nvPr/>
        </p:nvCxnSpPr>
        <p:spPr>
          <a:xfrm flipH="1">
            <a:off x="541020" y="1728470"/>
            <a:ext cx="1270" cy="63246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Freeform 16"/>
          <p:cNvSpPr/>
          <p:nvPr>
            <p:custDataLst>
              <p:tags r:id="rId5"/>
            </p:custDataLst>
          </p:nvPr>
        </p:nvSpPr>
        <p:spPr>
          <a:xfrm>
            <a:off x="629920" y="3474720"/>
            <a:ext cx="4437380" cy="884555"/>
          </a:xfrm>
          <a:custGeom>
            <a:avLst/>
            <a:gdLst/>
            <a:ahLst/>
            <a:cxnLst/>
            <a:rect l="l" t="t" r="r" b="b"/>
            <a:pathLst>
              <a:path w="1753091" h="1504683">
                <a:moveTo>
                  <a:pt x="9305" y="0"/>
                </a:moveTo>
                <a:lnTo>
                  <a:pt x="1743787" y="0"/>
                </a:lnTo>
                <a:cubicBezTo>
                  <a:pt x="1746254" y="0"/>
                  <a:pt x="1748621" y="980"/>
                  <a:pt x="1750366" y="2725"/>
                </a:cubicBezTo>
                <a:cubicBezTo>
                  <a:pt x="1752111" y="4470"/>
                  <a:pt x="1753091" y="6837"/>
                  <a:pt x="1753091" y="9305"/>
                </a:cubicBezTo>
                <a:lnTo>
                  <a:pt x="1753091" y="1495378"/>
                </a:lnTo>
                <a:cubicBezTo>
                  <a:pt x="1753091" y="1497846"/>
                  <a:pt x="1752111" y="1500212"/>
                  <a:pt x="1750366" y="1501957"/>
                </a:cubicBezTo>
                <a:cubicBezTo>
                  <a:pt x="1748621" y="1503702"/>
                  <a:pt x="1746254" y="1504683"/>
                  <a:pt x="1743787" y="1504683"/>
                </a:cubicBezTo>
                <a:lnTo>
                  <a:pt x="9305" y="1504683"/>
                </a:lnTo>
                <a:cubicBezTo>
                  <a:pt x="6837" y="1504683"/>
                  <a:pt x="4470" y="1503702"/>
                  <a:pt x="2725" y="1501957"/>
                </a:cubicBezTo>
                <a:cubicBezTo>
                  <a:pt x="980" y="1500212"/>
                  <a:pt x="0" y="1497846"/>
                  <a:pt x="0" y="1495378"/>
                </a:cubicBezTo>
                <a:lnTo>
                  <a:pt x="0" y="9305"/>
                </a:lnTo>
                <a:cubicBezTo>
                  <a:pt x="0" y="6837"/>
                  <a:pt x="980" y="4470"/>
                  <a:pt x="2725" y="2725"/>
                </a:cubicBezTo>
                <a:cubicBezTo>
                  <a:pt x="4470" y="980"/>
                  <a:pt x="6837" y="0"/>
                  <a:pt x="9305" y="0"/>
                </a:cubicBezTo>
                <a:close/>
              </a:path>
            </a:pathLst>
          </a:custGeom>
          <a:gradFill rotWithShape="1">
            <a:gsLst>
              <a:gs pos="0">
                <a:srgbClr val="C0AE8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34" name="Freeform 16"/>
          <p:cNvSpPr/>
          <p:nvPr>
            <p:custDataLst>
              <p:tags r:id="rId6"/>
            </p:custDataLst>
          </p:nvPr>
        </p:nvSpPr>
        <p:spPr>
          <a:xfrm>
            <a:off x="629920" y="4530090"/>
            <a:ext cx="4437380" cy="902335"/>
          </a:xfrm>
          <a:custGeom>
            <a:avLst/>
            <a:gdLst/>
            <a:ahLst/>
            <a:cxnLst/>
            <a:rect l="l" t="t" r="r" b="b"/>
            <a:pathLst>
              <a:path w="1753091" h="1504683">
                <a:moveTo>
                  <a:pt x="9305" y="0"/>
                </a:moveTo>
                <a:lnTo>
                  <a:pt x="1743787" y="0"/>
                </a:lnTo>
                <a:cubicBezTo>
                  <a:pt x="1746254" y="0"/>
                  <a:pt x="1748621" y="980"/>
                  <a:pt x="1750366" y="2725"/>
                </a:cubicBezTo>
                <a:cubicBezTo>
                  <a:pt x="1752111" y="4470"/>
                  <a:pt x="1753091" y="6837"/>
                  <a:pt x="1753091" y="9305"/>
                </a:cubicBezTo>
                <a:lnTo>
                  <a:pt x="1753091" y="1495378"/>
                </a:lnTo>
                <a:cubicBezTo>
                  <a:pt x="1753091" y="1497846"/>
                  <a:pt x="1752111" y="1500212"/>
                  <a:pt x="1750366" y="1501957"/>
                </a:cubicBezTo>
                <a:cubicBezTo>
                  <a:pt x="1748621" y="1503702"/>
                  <a:pt x="1746254" y="1504683"/>
                  <a:pt x="1743787" y="1504683"/>
                </a:cubicBezTo>
                <a:lnTo>
                  <a:pt x="9305" y="1504683"/>
                </a:lnTo>
                <a:cubicBezTo>
                  <a:pt x="6837" y="1504683"/>
                  <a:pt x="4470" y="1503702"/>
                  <a:pt x="2725" y="1501957"/>
                </a:cubicBezTo>
                <a:cubicBezTo>
                  <a:pt x="980" y="1500212"/>
                  <a:pt x="0" y="1497846"/>
                  <a:pt x="0" y="1495378"/>
                </a:cubicBezTo>
                <a:lnTo>
                  <a:pt x="0" y="9305"/>
                </a:lnTo>
                <a:cubicBezTo>
                  <a:pt x="0" y="6837"/>
                  <a:pt x="980" y="4470"/>
                  <a:pt x="2725" y="2725"/>
                </a:cubicBezTo>
                <a:cubicBezTo>
                  <a:pt x="4470" y="980"/>
                  <a:pt x="6837" y="0"/>
                  <a:pt x="9305" y="0"/>
                </a:cubicBezTo>
                <a:close/>
              </a:path>
            </a:pathLst>
          </a:custGeom>
          <a:gradFill rotWithShape="1">
            <a:gsLst>
              <a:gs pos="0">
                <a:srgbClr val="C0AE8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/>
          </a:gradFill>
        </p:spPr>
      </p:sp>
      <p:sp>
        <p:nvSpPr>
          <p:cNvPr id="19" name="TextBox 19"/>
          <p:cNvSpPr txBox="1"/>
          <p:nvPr>
            <p:custDataLst>
              <p:tags r:id="rId7"/>
            </p:custDataLst>
          </p:nvPr>
        </p:nvSpPr>
        <p:spPr>
          <a:xfrm>
            <a:off x="1386205" y="3485515"/>
            <a:ext cx="2559685" cy="7486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2335" b="1">
                <a:solidFill>
                  <a:schemeClr val="tx1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占全国总人口比例</a:t>
            </a:r>
          </a:p>
        </p:txBody>
      </p:sp>
      <p:sp>
        <p:nvSpPr>
          <p:cNvPr id="22" name="TextBox 22"/>
          <p:cNvSpPr txBox="1"/>
          <p:nvPr>
            <p:custDataLst>
              <p:tags r:id="rId8"/>
            </p:custDataLst>
          </p:nvPr>
        </p:nvSpPr>
        <p:spPr>
          <a:xfrm>
            <a:off x="4100830" y="3366770"/>
            <a:ext cx="996950" cy="89979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B5A282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23%</a:t>
            </a:r>
          </a:p>
        </p:txBody>
      </p:sp>
      <p:sp>
        <p:nvSpPr>
          <p:cNvPr id="20" name="TextBox 20"/>
          <p:cNvSpPr txBox="1"/>
          <p:nvPr>
            <p:custDataLst>
              <p:tags r:id="rId9"/>
            </p:custDataLst>
          </p:nvPr>
        </p:nvSpPr>
        <p:spPr>
          <a:xfrm>
            <a:off x="1384935" y="4545330"/>
            <a:ext cx="2795905" cy="7410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2335" b="1">
                <a:solidFill>
                  <a:schemeClr val="tx1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独居和空巢老人占</a:t>
            </a:r>
            <a:r>
              <a:rPr lang="en-US" sz="2335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比</a:t>
            </a:r>
          </a:p>
        </p:txBody>
      </p:sp>
      <p:sp>
        <p:nvSpPr>
          <p:cNvPr id="23" name="TextBox 23"/>
          <p:cNvSpPr txBox="1"/>
          <p:nvPr>
            <p:custDataLst>
              <p:tags r:id="rId10"/>
            </p:custDataLst>
          </p:nvPr>
        </p:nvSpPr>
        <p:spPr>
          <a:xfrm>
            <a:off x="4180840" y="4440555"/>
            <a:ext cx="1121410" cy="6781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6255"/>
              </a:lnSpc>
              <a:spcBef>
                <a:spcPct val="0"/>
              </a:spcBef>
            </a:pPr>
            <a:r>
              <a:rPr lang="en-US" sz="2975" b="1">
                <a:solidFill>
                  <a:srgbClr val="B5A282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59.7</a:t>
            </a:r>
            <a:r>
              <a:rPr lang="en-US" sz="2975" b="1" u="none" strike="noStrike">
                <a:solidFill>
                  <a:srgbClr val="B5A282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%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4"/>
          <a:srcRect l="2016" t="6379" r="5645"/>
          <a:stretch>
            <a:fillRect/>
          </a:stretch>
        </p:blipFill>
        <p:spPr>
          <a:xfrm>
            <a:off x="717550" y="2616835"/>
            <a:ext cx="557530" cy="528955"/>
          </a:xfrm>
          <a:prstGeom prst="ellipse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5"/>
          <a:srcRect t="8221" r="4590" b="3399"/>
          <a:stretch>
            <a:fillRect/>
          </a:stretch>
        </p:blipFill>
        <p:spPr>
          <a:xfrm>
            <a:off x="714375" y="3619500"/>
            <a:ext cx="572770" cy="551815"/>
          </a:xfrm>
          <a:prstGeom prst="ellipse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6"/>
          <a:srcRect l="10927" t="2043" r="5135" b="5532"/>
          <a:stretch>
            <a:fillRect/>
          </a:stretch>
        </p:blipFill>
        <p:spPr>
          <a:xfrm>
            <a:off x="694055" y="4672330"/>
            <a:ext cx="574675" cy="574675"/>
          </a:xfrm>
          <a:prstGeom prst="ellipse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6298565" y="46990"/>
            <a:ext cx="4157345" cy="398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中国60岁及以上人口规模变化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808980" y="3623945"/>
            <a:ext cx="574675" cy="1494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空巢现状</a:t>
            </a:r>
          </a:p>
        </p:txBody>
      </p:sp>
      <p:sp>
        <p:nvSpPr>
          <p:cNvPr id="108" name="圆角矩形 107"/>
          <p:cNvSpPr/>
          <p:nvPr/>
        </p:nvSpPr>
        <p:spPr>
          <a:xfrm>
            <a:off x="584200" y="5602605"/>
            <a:ext cx="11256010" cy="1188085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>
            <p:custDataLst>
              <p:tags r:id="rId11"/>
            </p:custDataLst>
          </p:nvPr>
        </p:nvSpPr>
        <p:spPr>
          <a:xfrm>
            <a:off x="1905000" y="5808980"/>
            <a:ext cx="2193290" cy="414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人口规模持续扩大</a:t>
            </a:r>
          </a:p>
        </p:txBody>
      </p:sp>
      <p:sp>
        <p:nvSpPr>
          <p:cNvPr id="40" name="圆角矩形 39"/>
          <p:cNvSpPr/>
          <p:nvPr>
            <p:custDataLst>
              <p:tags r:id="rId12"/>
            </p:custDataLst>
          </p:nvPr>
        </p:nvSpPr>
        <p:spPr>
          <a:xfrm>
            <a:off x="1843405" y="5791200"/>
            <a:ext cx="2139315" cy="43180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>
            <p:custDataLst>
              <p:tags r:id="rId13"/>
            </p:custDataLst>
          </p:nvPr>
        </p:nvSpPr>
        <p:spPr>
          <a:xfrm>
            <a:off x="8000365" y="5796915"/>
            <a:ext cx="2794635" cy="421005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>
            <p:custDataLst>
              <p:tags r:id="rId14"/>
            </p:custDataLst>
          </p:nvPr>
        </p:nvSpPr>
        <p:spPr>
          <a:xfrm>
            <a:off x="4827270" y="5791200"/>
            <a:ext cx="2328545" cy="41402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15"/>
            </p:custDataLst>
          </p:nvPr>
        </p:nvSpPr>
        <p:spPr>
          <a:xfrm>
            <a:off x="4827270" y="5791200"/>
            <a:ext cx="2328545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老龄化程度不断加深</a:t>
            </a:r>
          </a:p>
        </p:txBody>
      </p:sp>
      <p:sp>
        <p:nvSpPr>
          <p:cNvPr id="49" name="文本框 48"/>
          <p:cNvSpPr txBox="1"/>
          <p:nvPr>
            <p:custDataLst>
              <p:tags r:id="rId16"/>
            </p:custDataLst>
          </p:nvPr>
        </p:nvSpPr>
        <p:spPr>
          <a:xfrm>
            <a:off x="8000365" y="5809615"/>
            <a:ext cx="2795270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老年心理陪伴需求突出</a:t>
            </a:r>
          </a:p>
        </p:txBody>
      </p:sp>
      <p:cxnSp>
        <p:nvCxnSpPr>
          <p:cNvPr id="50" name="直接箭头连接符 49"/>
          <p:cNvCxnSpPr>
            <a:stCxn id="40" idx="3"/>
            <a:endCxn id="47" idx="1"/>
          </p:cNvCxnSpPr>
          <p:nvPr>
            <p:custDataLst>
              <p:tags r:id="rId17"/>
            </p:custDataLst>
          </p:nvPr>
        </p:nvCxnSpPr>
        <p:spPr>
          <a:xfrm>
            <a:off x="3982720" y="6007100"/>
            <a:ext cx="844550" cy="254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7" idx="3"/>
            <a:endCxn id="49" idx="1"/>
          </p:cNvCxnSpPr>
          <p:nvPr>
            <p:custDataLst>
              <p:tags r:id="rId18"/>
            </p:custDataLst>
          </p:nvPr>
        </p:nvCxnSpPr>
        <p:spPr>
          <a:xfrm flipV="1">
            <a:off x="7155815" y="6007735"/>
            <a:ext cx="844550" cy="1905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678305" y="6344285"/>
            <a:ext cx="10162540" cy="446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3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人口规模</a:t>
            </a:r>
            <a:r>
              <a:rPr lang="zh-CN" altLang="en-US" sz="23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</a:rPr>
              <a:t>增长与空巢化</a:t>
            </a:r>
            <a:r>
              <a:rPr lang="zh-CN" altLang="en-US" sz="23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趋势叠加，为老年</a:t>
            </a:r>
            <a:r>
              <a:rPr lang="zh-CN" altLang="en-US" sz="23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</a:rPr>
              <a:t>心理陪伴与情绪关怀</a:t>
            </a:r>
            <a:r>
              <a:rPr lang="zh-CN" altLang="en-US" sz="23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带来持续需求。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2290" y="5602605"/>
            <a:ext cx="1163320" cy="1188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/>
          <p:cNvSpPr/>
          <p:nvPr/>
        </p:nvSpPr>
        <p:spPr>
          <a:xfrm>
            <a:off x="8222615" y="1726565"/>
            <a:ext cx="3307715" cy="1811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555625" y="1726565"/>
            <a:ext cx="3307715" cy="1811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4382770" y="1751965"/>
            <a:ext cx="3307715" cy="1811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288512">
            <a:off x="-607911" y="-829151"/>
            <a:ext cx="1658302" cy="1658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3134487">
            <a:off x="-640192" y="397244"/>
            <a:ext cx="983512" cy="98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3134487">
            <a:off x="547797" y="396813"/>
            <a:ext cx="409655" cy="40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85800" y="37465"/>
            <a:ext cx="4621530" cy="110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000"/>
              </a:lnSpc>
            </a:pPr>
            <a:r>
              <a:rPr lang="zh-CN" altLang="en-US" sz="3335" b="1" spc="185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行业</a:t>
            </a:r>
            <a:r>
              <a:rPr lang="en-US" sz="3335" b="1" spc="185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痛点与技术问题</a:t>
            </a:r>
          </a:p>
        </p:txBody>
      </p:sp>
      <p:sp>
        <p:nvSpPr>
          <p:cNvPr id="42" name="AutoShape 42"/>
          <p:cNvSpPr/>
          <p:nvPr/>
        </p:nvSpPr>
        <p:spPr>
          <a:xfrm>
            <a:off x="584509" y="1013206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584200" y="946785"/>
            <a:ext cx="7374255" cy="9188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215"/>
              </a:lnSpc>
            </a:pPr>
            <a:r>
              <a:rPr lang="zh-CN" altLang="en-US" sz="2485" b="1" spc="465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从“能聊天”到</a:t>
            </a:r>
            <a:r>
              <a:rPr lang="zh-CN" altLang="en-US" sz="2485" b="1" spc="465">
                <a:solidFill>
                  <a:srgbClr val="A68A64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“懂老人、记得住、会守护”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685165" y="1726565"/>
            <a:ext cx="3061970" cy="5029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情绪变化难以被及时发现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541655" y="2123440"/>
            <a:ext cx="3321685" cy="9188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300"/>
              <a:t>老年人的负面情绪常不直接表达，而是隐藏在语速变化、长久沉默或兴趣下降中。</a:t>
            </a:r>
          </a:p>
          <a:p>
            <a:pPr>
              <a:lnSpc>
                <a:spcPct val="110000"/>
              </a:lnSpc>
            </a:pPr>
            <a:r>
              <a:rPr lang="zh-CN" altLang="en-US" sz="1300"/>
              <a:t>传统陪伴依赖人工观察，难以持续捕捉这些细微变化。</a:t>
            </a:r>
          </a:p>
        </p:txBody>
      </p:sp>
      <p:sp>
        <p:nvSpPr>
          <p:cNvPr id="70" name="流程图: 可选过程 69"/>
          <p:cNvSpPr/>
          <p:nvPr/>
        </p:nvSpPr>
        <p:spPr>
          <a:xfrm>
            <a:off x="685165" y="3041650"/>
            <a:ext cx="3060065" cy="410210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197610" y="3094990"/>
            <a:ext cx="2665095" cy="3568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600"/>
              <a:t>影响：情绪风险发现</a:t>
            </a:r>
            <a:r>
              <a:rPr lang="zh-CN" altLang="en-US" sz="1600">
                <a:solidFill>
                  <a:srgbClr val="C00000"/>
                </a:solidFill>
              </a:rPr>
              <a:t>不及时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746125" y="3002915"/>
            <a:ext cx="451485" cy="44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600">
                <a:solidFill>
                  <a:srgbClr val="C00000"/>
                </a:solidFill>
              </a:rPr>
              <a:t>！</a:t>
            </a:r>
          </a:p>
        </p:txBody>
      </p:sp>
      <p:sp>
        <p:nvSpPr>
          <p:cNvPr id="73" name="椭圆 72"/>
          <p:cNvSpPr/>
          <p:nvPr/>
        </p:nvSpPr>
        <p:spPr>
          <a:xfrm>
            <a:off x="795655" y="3094355"/>
            <a:ext cx="309245" cy="303530"/>
          </a:xfrm>
          <a:prstGeom prst="ellipse">
            <a:avLst/>
          </a:prstGeom>
          <a:noFill/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4662170" y="1726565"/>
            <a:ext cx="2905125" cy="5029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陪伴缺少连续记忆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4368165" y="2122805"/>
            <a:ext cx="3321685" cy="11042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300"/>
              <a:t>普通</a:t>
            </a:r>
            <a:r>
              <a:rPr lang="en-US" altLang="zh-CN" sz="1300"/>
              <a:t>AI</a:t>
            </a:r>
            <a:r>
              <a:rPr lang="zh-CN" altLang="en-US" sz="1300"/>
              <a:t>只能理解当前对话，记不住老人的家庭关系、人生经历与表达习惯。</a:t>
            </a:r>
          </a:p>
          <a:p>
            <a:pPr>
              <a:lnSpc>
                <a:spcPct val="110000"/>
              </a:lnSpc>
            </a:pPr>
            <a:r>
              <a:rPr lang="zh-CN" altLang="en-US" sz="1300"/>
              <a:t>每次对话都像初次见面，难以形成有温度的长期陪伴。</a:t>
            </a:r>
          </a:p>
        </p:txBody>
      </p:sp>
      <p:sp>
        <p:nvSpPr>
          <p:cNvPr id="78" name="椭圆 77"/>
          <p:cNvSpPr/>
          <p:nvPr/>
        </p:nvSpPr>
        <p:spPr>
          <a:xfrm>
            <a:off x="8434070" y="3094355"/>
            <a:ext cx="309245" cy="303530"/>
          </a:xfrm>
          <a:prstGeom prst="ellipse">
            <a:avLst/>
          </a:prstGeom>
          <a:noFill/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流程图: 可选过程 78"/>
          <p:cNvSpPr/>
          <p:nvPr/>
        </p:nvSpPr>
        <p:spPr>
          <a:xfrm>
            <a:off x="4507230" y="3041015"/>
            <a:ext cx="3060065" cy="410210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流程图: 可选过程 79"/>
          <p:cNvSpPr/>
          <p:nvPr/>
        </p:nvSpPr>
        <p:spPr>
          <a:xfrm>
            <a:off x="8347075" y="3041015"/>
            <a:ext cx="3060065" cy="410210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>
            <a:off x="4662170" y="3094355"/>
            <a:ext cx="309245" cy="303530"/>
          </a:xfrm>
          <a:prstGeom prst="ellipse">
            <a:avLst/>
          </a:prstGeom>
          <a:noFill/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4618990" y="3002915"/>
            <a:ext cx="352425" cy="44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600">
                <a:solidFill>
                  <a:srgbClr val="C00000"/>
                </a:solidFill>
              </a:rPr>
              <a:t>！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8390890" y="3002280"/>
            <a:ext cx="352425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600">
                <a:solidFill>
                  <a:srgbClr val="C00000"/>
                </a:solidFill>
              </a:rPr>
              <a:t>！</a:t>
            </a:r>
          </a:p>
        </p:txBody>
      </p:sp>
      <p:sp>
        <p:nvSpPr>
          <p:cNvPr id="85" name="椭圆 84"/>
          <p:cNvSpPr/>
          <p:nvPr/>
        </p:nvSpPr>
        <p:spPr>
          <a:xfrm>
            <a:off x="8434070" y="3094355"/>
            <a:ext cx="309245" cy="303530"/>
          </a:xfrm>
          <a:prstGeom prst="ellipse">
            <a:avLst/>
          </a:prstGeom>
          <a:noFill/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4971415" y="3094355"/>
            <a:ext cx="2718435" cy="3035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600"/>
              <a:t>影响：对话缺乏</a:t>
            </a:r>
            <a:r>
              <a:rPr lang="zh-CN" altLang="en-US" sz="1600">
                <a:solidFill>
                  <a:srgbClr val="C00000"/>
                </a:solidFill>
              </a:rPr>
              <a:t>熟悉与个性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8721725" y="3094355"/>
            <a:ext cx="2893695" cy="44386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200"/>
              <a:t>影响：家属不放心，老人不愿长期使用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1600"/>
          </a:p>
        </p:txBody>
      </p:sp>
      <p:sp>
        <p:nvSpPr>
          <p:cNvPr id="90" name="文本框 89"/>
          <p:cNvSpPr txBox="1"/>
          <p:nvPr/>
        </p:nvSpPr>
        <p:spPr>
          <a:xfrm>
            <a:off x="8434070" y="1726565"/>
            <a:ext cx="2905125" cy="5029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家庭关怀与隐私难以平衡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8223250" y="2122805"/>
            <a:ext cx="3321685" cy="9721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300"/>
              <a:t>子女想了解老人情绪，老人却不愿对话被完全查看。</a:t>
            </a:r>
          </a:p>
          <a:p>
            <a:pPr>
              <a:lnSpc>
                <a:spcPct val="110000"/>
              </a:lnSpc>
            </a:pPr>
            <a:r>
              <a:rPr lang="zh-CN" altLang="en-US" sz="1300"/>
              <a:t>全量上云或开放记录，易引发隐私泄露与信任冲突。</a:t>
            </a:r>
          </a:p>
        </p:txBody>
      </p:sp>
      <p:graphicFrame>
        <p:nvGraphicFramePr>
          <p:cNvPr id="92" name="表格 91"/>
          <p:cNvGraphicFramePr/>
          <p:nvPr>
            <p:custDataLst>
              <p:tags r:id="rId1"/>
            </p:custDataLst>
          </p:nvPr>
        </p:nvGraphicFramePr>
        <p:xfrm>
          <a:off x="541020" y="3597910"/>
          <a:ext cx="11003915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2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7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核心痛点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关键技术问题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带来的影响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                      </a:t>
                      </a:r>
                      <a:endParaRPr lang="zh-CN" altLang="en-US"/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如何</a:t>
                      </a:r>
                      <a:r>
                        <a:rPr lang="zh-CN" altLang="en-US" sz="13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黑体" panose="02010609060101010101" charset="-122"/>
                          <a:ea typeface="黑体" panose="02010609060101010101" charset="-122"/>
                        </a:rPr>
                        <a:t>融合</a:t>
                      </a: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语音、文本与交互行为，识别</a:t>
                      </a:r>
                      <a:r>
                        <a:rPr lang="zh-CN" altLang="en-US" sz="13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黑体" panose="02010609060101010101" charset="-122"/>
                          <a:ea typeface="黑体" panose="02010609060101010101" charset="-122"/>
                        </a:rPr>
                        <a:t>隐性情绪及持续趋势</a:t>
                      </a: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？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风险发现不及时，容易错过早期干预窗口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                 </a:t>
                      </a:r>
                      <a:endParaRPr lang="zh-CN" altLang="en-US"/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如何</a:t>
                      </a:r>
                      <a:r>
                        <a:rPr lang="zh-CN" altLang="en-US" sz="13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黑体" panose="02010609060101010101" charset="-122"/>
                          <a:ea typeface="黑体" panose="02010609060101010101" charset="-122"/>
                        </a:rPr>
                        <a:t>安全存储</a:t>
                      </a: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个人</a:t>
                      </a:r>
                      <a:r>
                        <a:rPr lang="zh-CN" altLang="en-US" sz="13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黑体" panose="02010609060101010101" charset="-122"/>
                          <a:ea typeface="黑体" panose="02010609060101010101" charset="-122"/>
                        </a:rPr>
                        <a:t>记忆</a:t>
                      </a: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，并在对话中准确调用相关经历？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AI</a:t>
                      </a: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回应泛化，老人难以产生信任感和依恋感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B w="6350" cmpd="sng">
                      <a:solidFill>
                        <a:srgbClr val="A68A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                          </a:t>
                      </a:r>
                      <a:endParaRPr lang="zh-CN" altLang="en-US"/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如何实现</a:t>
                      </a:r>
                      <a:r>
                        <a:rPr lang="zh-CN" altLang="en-US" sz="13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黑体" panose="02010609060101010101" charset="-122"/>
                          <a:ea typeface="黑体" panose="02010609060101010101" charset="-122"/>
                        </a:rPr>
                        <a:t>数据授权、分级共享与必要提醒</a:t>
                      </a: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，而非暴露完整对话？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00">
                          <a:latin typeface="黑体" panose="02010609060101010101" charset="-122"/>
                          <a:ea typeface="黑体" panose="02010609060101010101" charset="-122"/>
                        </a:rPr>
                        <a:t>家属不放心，老人不愿用，产品难以长期运行</a:t>
                      </a:r>
                    </a:p>
                  </a:txBody>
                  <a:tcPr>
                    <a:lnL w="6350" cmpd="sng">
                      <a:solidFill>
                        <a:srgbClr val="A68A64"/>
                      </a:solidFill>
                      <a:prstDash val="solid"/>
                    </a:lnL>
                    <a:lnR w="6350" cmpd="sng">
                      <a:solidFill>
                        <a:srgbClr val="A68A64"/>
                      </a:solidFill>
                      <a:prstDash val="solid"/>
                    </a:lnR>
                    <a:lnT w="6350" cmpd="sng">
                      <a:solidFill>
                        <a:srgbClr val="A68A64"/>
                      </a:solidFill>
                      <a:prstDash val="solid"/>
                    </a:lnT>
                    <a:lnB w="6350" cmpd="sng">
                      <a:solidFill>
                        <a:srgbClr val="A68A6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3" name="文本框 92"/>
          <p:cNvSpPr txBox="1"/>
          <p:nvPr/>
        </p:nvSpPr>
        <p:spPr>
          <a:xfrm>
            <a:off x="1040765" y="3745865"/>
            <a:ext cx="1597025" cy="574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痛点总结</a:t>
            </a: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3"/>
          <a:srcRect l="4172" t="8773" r="5828" b="2638"/>
          <a:stretch>
            <a:fillRect/>
          </a:stretch>
        </p:blipFill>
        <p:spPr>
          <a:xfrm>
            <a:off x="2912745" y="4016375"/>
            <a:ext cx="308610" cy="304165"/>
          </a:xfrm>
          <a:prstGeom prst="ellipse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4"/>
          <a:srcRect l="3552" t="9085" r="14481" b="2683"/>
          <a:stretch>
            <a:fillRect/>
          </a:stretch>
        </p:blipFill>
        <p:spPr>
          <a:xfrm>
            <a:off x="2912745" y="4517390"/>
            <a:ext cx="318770" cy="337185"/>
          </a:xfrm>
          <a:prstGeom prst="ellipse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5"/>
          <a:srcRect l="9482" t="15879" r="15544" b="4615"/>
          <a:stretch>
            <a:fillRect/>
          </a:stretch>
        </p:blipFill>
        <p:spPr>
          <a:xfrm>
            <a:off x="2912745" y="4997450"/>
            <a:ext cx="337185" cy="337185"/>
          </a:xfrm>
          <a:prstGeom prst="ellipse">
            <a:avLst/>
          </a:prstGeom>
        </p:spPr>
      </p:pic>
      <p:sp>
        <p:nvSpPr>
          <p:cNvPr id="97" name="文本框 96"/>
          <p:cNvSpPr txBox="1"/>
          <p:nvPr/>
        </p:nvSpPr>
        <p:spPr>
          <a:xfrm>
            <a:off x="3250565" y="4561205"/>
            <a:ext cx="1617345" cy="274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陪伴缺少连续记忆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3250565" y="5031740"/>
            <a:ext cx="1617345" cy="30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defTabSz="609600"/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关怀与隐私难平衡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3221355" y="4044950"/>
            <a:ext cx="18897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609600"/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情绪变化难发现</a:t>
            </a: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6"/>
          <a:srcRect l="3241" t="800" r="3501" b="2030"/>
          <a:stretch>
            <a:fillRect/>
          </a:stretch>
        </p:blipFill>
        <p:spPr>
          <a:xfrm>
            <a:off x="711200" y="3745865"/>
            <a:ext cx="309245" cy="424180"/>
          </a:xfrm>
          <a:prstGeom prst="rect">
            <a:avLst/>
          </a:prstGeom>
        </p:spPr>
      </p:pic>
      <p:sp>
        <p:nvSpPr>
          <p:cNvPr id="108" name="圆角矩形 107"/>
          <p:cNvSpPr/>
          <p:nvPr/>
        </p:nvSpPr>
        <p:spPr>
          <a:xfrm>
            <a:off x="494030" y="5478780"/>
            <a:ext cx="11121390" cy="137922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2210435" y="5546090"/>
            <a:ext cx="8791575" cy="424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老年心理陪伴的关键，不在“有人聊”，而在“持续懂、记得住、守得住”。</a:t>
            </a:r>
          </a:p>
        </p:txBody>
      </p:sp>
      <p:sp>
        <p:nvSpPr>
          <p:cNvPr id="110" name="圆角矩形 109"/>
          <p:cNvSpPr/>
          <p:nvPr/>
        </p:nvSpPr>
        <p:spPr>
          <a:xfrm>
            <a:off x="2149475" y="6179185"/>
            <a:ext cx="1713230" cy="41656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圆角矩形 110"/>
          <p:cNvSpPr/>
          <p:nvPr/>
        </p:nvSpPr>
        <p:spPr>
          <a:xfrm>
            <a:off x="8434070" y="6179185"/>
            <a:ext cx="2141220" cy="41656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圆角矩形 111"/>
          <p:cNvSpPr/>
          <p:nvPr/>
        </p:nvSpPr>
        <p:spPr>
          <a:xfrm>
            <a:off x="6245225" y="6179185"/>
            <a:ext cx="1713230" cy="41656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圆角矩形 112"/>
          <p:cNvSpPr/>
          <p:nvPr/>
        </p:nvSpPr>
        <p:spPr>
          <a:xfrm>
            <a:off x="4159250" y="6179185"/>
            <a:ext cx="1713230" cy="41656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2149475" y="6179185"/>
            <a:ext cx="171323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情绪感知不足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6245225" y="6179185"/>
            <a:ext cx="171323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陪伴难以持续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4159250" y="6179185"/>
            <a:ext cx="1714500" cy="416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记忆无法沉淀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8390890" y="6179185"/>
            <a:ext cx="2239645" cy="502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家庭守护缺少边界</a:t>
            </a: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7"/>
          <a:srcRect l="2182" t="2189" r="3409"/>
          <a:stretch>
            <a:fillRect/>
          </a:stretch>
        </p:blipFill>
        <p:spPr>
          <a:xfrm>
            <a:off x="493395" y="5479415"/>
            <a:ext cx="1480185" cy="1378585"/>
          </a:xfrm>
          <a:prstGeom prst="rect">
            <a:avLst/>
          </a:prstGeom>
        </p:spPr>
      </p:pic>
      <p:cxnSp>
        <p:nvCxnSpPr>
          <p:cNvPr id="121" name="直接箭头连接符 120"/>
          <p:cNvCxnSpPr>
            <a:stCxn id="114" idx="3"/>
            <a:endCxn id="117" idx="1"/>
          </p:cNvCxnSpPr>
          <p:nvPr/>
        </p:nvCxnSpPr>
        <p:spPr>
          <a:xfrm>
            <a:off x="3862705" y="6387465"/>
            <a:ext cx="296545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7970520" y="6387465"/>
            <a:ext cx="420370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直接箭头连接符 122"/>
          <p:cNvCxnSpPr/>
          <p:nvPr/>
        </p:nvCxnSpPr>
        <p:spPr>
          <a:xfrm>
            <a:off x="5897245" y="6387465"/>
            <a:ext cx="347980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288512">
            <a:off x="-607911" y="-829151"/>
            <a:ext cx="1658302" cy="1658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3134487">
            <a:off x="-640192" y="397244"/>
            <a:ext cx="983512" cy="98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3134487">
            <a:off x="547797" y="396813"/>
            <a:ext cx="409655" cy="40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85800" y="37465"/>
            <a:ext cx="2400300" cy="11042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000"/>
              </a:lnSpc>
            </a:pPr>
            <a:r>
              <a:rPr lang="zh-CN" altLang="en-US" sz="3335" b="1" spc="185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竞品分析</a:t>
            </a:r>
          </a:p>
        </p:txBody>
      </p:sp>
      <p:sp>
        <p:nvSpPr>
          <p:cNvPr id="11" name="AutoShape 42"/>
          <p:cNvSpPr/>
          <p:nvPr/>
        </p:nvSpPr>
        <p:spPr>
          <a:xfrm>
            <a:off x="584509" y="1013206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aphicFrame>
        <p:nvGraphicFramePr>
          <p:cNvPr id="20" name="表格 19"/>
          <p:cNvGraphicFramePr/>
          <p:nvPr>
            <p:custDataLst>
              <p:tags r:id="rId1"/>
            </p:custDataLst>
          </p:nvPr>
        </p:nvGraphicFramePr>
        <p:xfrm>
          <a:off x="465455" y="1575435"/>
          <a:ext cx="8182610" cy="4191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6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 Bold" panose="020B0800000000000000" charset="-122"/>
                        </a:rPr>
                        <a:t>对比维度</a:t>
                      </a:r>
                    </a:p>
                  </a:txBody>
                  <a:tcPr marL="127000" marR="127000" marT="127000" marB="127000">
                    <a:lnL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通用聊天</a:t>
                      </a: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AI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传统老人助手</a:t>
                      </a:r>
                    </a:p>
                  </a:txBody>
                  <a:tcPr marL="127000" marR="127000" marT="127000" marB="127000">
                    <a:lnL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在线心理平台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 Bold" panose="020B0800000000000000" charset="-122"/>
                        </a:rPr>
                        <a:t>暖伴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A68A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 Bold" panose="020B0800000000000000" charset="-122"/>
                        </a:rPr>
                        <a:t>适老语言与表达理解</a:t>
                      </a:r>
                    </a:p>
                  </a:txBody>
                  <a:tcPr marL="127000" marR="127000" marT="127000" marB="127000">
                    <a:lnL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语言偏年轻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指令固定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距离感强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 Bold" panose="020B0800000000000000" charset="-122"/>
                        </a:rPr>
                        <a:t>高度适配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长期个性化记忆</a:t>
                      </a:r>
                      <a:endParaRPr lang="en-US" altLang="en-US" sz="1600" b="1">
                        <a:solidFill>
                          <a:schemeClr val="bg2">
                            <a:lumMod val="2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思源黑体 1 Bold" panose="020B0800000000000000" charset="-122"/>
                        <a:sym typeface="思源黑体 1 Bold" panose="020B0800000000000000" charset="-122"/>
                      </a:endParaRPr>
                    </a:p>
                  </a:txBody>
                  <a:tcPr marL="127000" marR="127000" marT="127000" marB="127000">
                    <a:lnL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短期上下文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无记忆能力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缺乏情感记忆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完整支持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怀旧互动</a:t>
                      </a:r>
                    </a:p>
                  </a:txBody>
                  <a:tcPr marL="127000" marR="127000" marT="127000" marB="127000">
                    <a:lnL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字由点字典黑" panose="00020600040101010101" charset="-122"/>
                          <a:sym typeface="字由点字典黑" panose="00020600040101010101" charset="-122"/>
                        </a:rPr>
                        <a:t>不支持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仅支持预设故事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字由点字典黑" panose="00020600040101010101" charset="-122"/>
                          <a:sym typeface="字由点字典黑" panose="00020600040101010101" charset="-122"/>
                        </a:rPr>
                        <a:t>支持有限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多模态支持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情绪趋势感知</a:t>
                      </a:r>
                    </a:p>
                  </a:txBody>
                  <a:tcPr marL="127000" marR="127000" marT="127000" marB="127000">
                    <a:lnL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字由点字典黑" panose="00020600040101010101" charset="-122"/>
                          <a:sym typeface="字由点字典黑" panose="00020600040101010101" charset="-122"/>
                        </a:rPr>
                        <a:t>仅单次文本情绪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不支持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字由点字典黑" panose="00020600040101010101" charset="-122"/>
                          <a:sym typeface="字由点字典黑" panose="00020600040101010101" charset="-122"/>
                        </a:rPr>
                        <a:t>滞后感知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buNone/>
                        <a:defRPr/>
                      </a:pPr>
                      <a:r>
                        <a:rPr lang="zh-CN" altLang="en-US" sz="14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完整支持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 Bold" panose="020B0800000000000000" charset="-122"/>
                          <a:sym typeface="思源黑体 1 Bold" panose="020B0800000000000000" charset="-122"/>
                        </a:rPr>
                        <a:t>家庭隐私联动</a:t>
                      </a:r>
                    </a:p>
                  </a:txBody>
                  <a:tcPr marL="127000" marR="127000" marT="127000" marB="127000">
                    <a:lnL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字由点字典黑" panose="00020600040101010101" charset="-122"/>
                          <a:sym typeface="字由点字典黑" panose="00020600040101010101" charset="-122"/>
                        </a:rPr>
                        <a:t>不支持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字由点字典黑" panose="00020600040101010101" charset="-122"/>
                          <a:sym typeface="字由点字典黑" panose="00020600040101010101" charset="-122"/>
                        </a:rPr>
                        <a:t>支持有限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隐私泄露风险高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" panose="020B0500000000000000" charset="-122"/>
                        </a:rPr>
                        <a:t>授权可控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6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 Bold" panose="020B0800000000000000" charset="-122"/>
                        </a:rPr>
                        <a:t>本地/私有化潜力</a:t>
                      </a:r>
                    </a:p>
                  </a:txBody>
                  <a:tcPr marL="127000" marR="127000" marT="127000" marB="127000">
                    <a:lnL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" panose="020B0500000000000000" charset="-122"/>
                        </a:rPr>
                        <a:t>仅支持云端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思源黑体 1" panose="020B0500000000000000" charset="-122"/>
                        </a:rPr>
                        <a:t>API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仅支持特定硬件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依赖云服务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zh-CN" altLang="en-US" sz="14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思源黑体 1" panose="020B0500000000000000" charset="-122"/>
                          <a:sym typeface="思源黑体 1" panose="020B0500000000000000" charset="-122"/>
                        </a:rPr>
                        <a:t>支持私有化</a:t>
                      </a:r>
                    </a:p>
                  </a:txBody>
                  <a:tcPr marL="127000" marR="127000" marT="127000" marB="127000">
                    <a:lnL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L>
                    <a:lnR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T>
                    <a:lnB w="9525" cap="sq" cmpd="sng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</a:lnB>
                    <a:solidFill>
                      <a:srgbClr val="E8D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5" name="Group 44"/>
          <p:cNvGrpSpPr/>
          <p:nvPr/>
        </p:nvGrpSpPr>
        <p:grpSpPr>
          <a:xfrm>
            <a:off x="494030" y="1148715"/>
            <a:ext cx="2101215" cy="429895"/>
            <a:chOff x="0" y="0"/>
            <a:chExt cx="830232" cy="157137"/>
          </a:xfrm>
        </p:grpSpPr>
        <p:sp>
          <p:nvSpPr>
            <p:cNvPr id="36" name="Freeform 45"/>
            <p:cNvSpPr/>
            <p:nvPr/>
          </p:nvSpPr>
          <p:spPr>
            <a:xfrm>
              <a:off x="0" y="0"/>
              <a:ext cx="830232" cy="157137"/>
            </a:xfrm>
            <a:custGeom>
              <a:avLst/>
              <a:gdLst/>
              <a:ahLst/>
              <a:cxnLst/>
              <a:rect l="l" t="t" r="r" b="b"/>
              <a:pathLst>
                <a:path w="830232" h="157137">
                  <a:moveTo>
                    <a:pt x="78568" y="0"/>
                  </a:moveTo>
                  <a:lnTo>
                    <a:pt x="751663" y="0"/>
                  </a:lnTo>
                  <a:cubicBezTo>
                    <a:pt x="795055" y="0"/>
                    <a:pt x="830232" y="35176"/>
                    <a:pt x="830232" y="78568"/>
                  </a:cubicBezTo>
                  <a:lnTo>
                    <a:pt x="830232" y="78568"/>
                  </a:lnTo>
                  <a:cubicBezTo>
                    <a:pt x="830232" y="99406"/>
                    <a:pt x="821954" y="119390"/>
                    <a:pt x="807219" y="134125"/>
                  </a:cubicBezTo>
                  <a:cubicBezTo>
                    <a:pt x="792485" y="148859"/>
                    <a:pt x="772501" y="157137"/>
                    <a:pt x="751663" y="157137"/>
                  </a:cubicBezTo>
                  <a:lnTo>
                    <a:pt x="78568" y="157137"/>
                  </a:lnTo>
                  <a:cubicBezTo>
                    <a:pt x="35176" y="157137"/>
                    <a:pt x="0" y="121961"/>
                    <a:pt x="0" y="78568"/>
                  </a:cubicBezTo>
                  <a:lnTo>
                    <a:pt x="0" y="78568"/>
                  </a:lnTo>
                  <a:cubicBezTo>
                    <a:pt x="0" y="35176"/>
                    <a:pt x="35176" y="0"/>
                    <a:pt x="78568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37" name="TextBox 46"/>
            <p:cNvSpPr txBox="1"/>
            <p:nvPr/>
          </p:nvSpPr>
          <p:spPr>
            <a:xfrm>
              <a:off x="0" y="-38100"/>
              <a:ext cx="830232" cy="19523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22960" y="1044575"/>
            <a:ext cx="1772920" cy="4616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竞品</a:t>
            </a:r>
            <a:r>
              <a:rPr lang="zh-CN" altLang="en-US" sz="23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对比表</a:t>
            </a:r>
          </a:p>
        </p:txBody>
      </p:sp>
      <p:sp>
        <p:nvSpPr>
          <p:cNvPr id="38" name="Freeform 17"/>
          <p:cNvSpPr/>
          <p:nvPr/>
        </p:nvSpPr>
        <p:spPr>
          <a:xfrm>
            <a:off x="583426" y="1135620"/>
            <a:ext cx="324817" cy="370641"/>
          </a:xfrm>
          <a:custGeom>
            <a:avLst/>
            <a:gdLst/>
            <a:ahLst/>
            <a:cxnLst/>
            <a:rect l="l" t="t" r="r" b="b"/>
            <a:pathLst>
              <a:path w="487225" h="555962">
                <a:moveTo>
                  <a:pt x="0" y="0"/>
                </a:moveTo>
                <a:lnTo>
                  <a:pt x="487224" y="0"/>
                </a:lnTo>
                <a:lnTo>
                  <a:pt x="487224" y="555962"/>
                </a:lnTo>
                <a:lnTo>
                  <a:pt x="0" y="55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4"/>
          <p:cNvGrpSpPr/>
          <p:nvPr/>
        </p:nvGrpSpPr>
        <p:grpSpPr>
          <a:xfrm>
            <a:off x="8784590" y="598170"/>
            <a:ext cx="2225040" cy="550545"/>
            <a:chOff x="0" y="0"/>
            <a:chExt cx="830232" cy="157137"/>
          </a:xfrm>
        </p:grpSpPr>
        <p:sp>
          <p:nvSpPr>
            <p:cNvPr id="42" name="Freeform 45"/>
            <p:cNvSpPr/>
            <p:nvPr/>
          </p:nvSpPr>
          <p:spPr>
            <a:xfrm>
              <a:off x="0" y="0"/>
              <a:ext cx="830232" cy="157137"/>
            </a:xfrm>
            <a:custGeom>
              <a:avLst/>
              <a:gdLst/>
              <a:ahLst/>
              <a:cxnLst/>
              <a:rect l="l" t="t" r="r" b="b"/>
              <a:pathLst>
                <a:path w="830232" h="157137">
                  <a:moveTo>
                    <a:pt x="78568" y="0"/>
                  </a:moveTo>
                  <a:lnTo>
                    <a:pt x="751663" y="0"/>
                  </a:lnTo>
                  <a:cubicBezTo>
                    <a:pt x="795055" y="0"/>
                    <a:pt x="830232" y="35176"/>
                    <a:pt x="830232" y="78568"/>
                  </a:cubicBezTo>
                  <a:lnTo>
                    <a:pt x="830232" y="78568"/>
                  </a:lnTo>
                  <a:cubicBezTo>
                    <a:pt x="830232" y="99406"/>
                    <a:pt x="821954" y="119390"/>
                    <a:pt x="807219" y="134125"/>
                  </a:cubicBezTo>
                  <a:cubicBezTo>
                    <a:pt x="792485" y="148859"/>
                    <a:pt x="772501" y="157137"/>
                    <a:pt x="751663" y="157137"/>
                  </a:cubicBezTo>
                  <a:lnTo>
                    <a:pt x="78568" y="157137"/>
                  </a:lnTo>
                  <a:cubicBezTo>
                    <a:pt x="35176" y="157137"/>
                    <a:pt x="0" y="121961"/>
                    <a:pt x="0" y="78568"/>
                  </a:cubicBezTo>
                  <a:lnTo>
                    <a:pt x="0" y="78568"/>
                  </a:lnTo>
                  <a:cubicBezTo>
                    <a:pt x="0" y="35176"/>
                    <a:pt x="35176" y="0"/>
                    <a:pt x="78568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43" name="TextBox 46"/>
            <p:cNvSpPr txBox="1"/>
            <p:nvPr/>
          </p:nvSpPr>
          <p:spPr>
            <a:xfrm>
              <a:off x="0" y="-38100"/>
              <a:ext cx="830232" cy="19523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39" name="TextBox 47"/>
          <p:cNvSpPr txBox="1"/>
          <p:nvPr/>
        </p:nvSpPr>
        <p:spPr>
          <a:xfrm>
            <a:off x="9177020" y="552450"/>
            <a:ext cx="1833245" cy="5270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zh-CN" altLang="en-US" sz="25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本项目优势</a:t>
            </a:r>
          </a:p>
        </p:txBody>
      </p:sp>
      <p:grpSp>
        <p:nvGrpSpPr>
          <p:cNvPr id="48" name="Group 19"/>
          <p:cNvGrpSpPr/>
          <p:nvPr/>
        </p:nvGrpSpPr>
        <p:grpSpPr>
          <a:xfrm>
            <a:off x="9011285" y="1320165"/>
            <a:ext cx="3002915" cy="1278890"/>
            <a:chOff x="0" y="0"/>
            <a:chExt cx="812800" cy="1063365"/>
          </a:xfrm>
        </p:grpSpPr>
        <p:sp>
          <p:nvSpPr>
            <p:cNvPr id="49" name="Freeform 20"/>
            <p:cNvSpPr/>
            <p:nvPr/>
          </p:nvSpPr>
          <p:spPr>
            <a:xfrm>
              <a:off x="0" y="0"/>
              <a:ext cx="812800" cy="1063365"/>
            </a:xfrm>
            <a:custGeom>
              <a:avLst/>
              <a:gdLst/>
              <a:ahLst/>
              <a:cxnLst/>
              <a:rect l="l" t="t" r="r" b="b"/>
              <a:pathLst>
                <a:path w="812800" h="1063365">
                  <a:moveTo>
                    <a:pt x="20022" y="0"/>
                  </a:moveTo>
                  <a:lnTo>
                    <a:pt x="792778" y="0"/>
                  </a:lnTo>
                  <a:cubicBezTo>
                    <a:pt x="803836" y="0"/>
                    <a:pt x="812800" y="8964"/>
                    <a:pt x="812800" y="20022"/>
                  </a:cubicBezTo>
                  <a:lnTo>
                    <a:pt x="812800" y="1043343"/>
                  </a:lnTo>
                  <a:cubicBezTo>
                    <a:pt x="812800" y="1054401"/>
                    <a:pt x="803836" y="1063365"/>
                    <a:pt x="792778" y="1063365"/>
                  </a:cubicBezTo>
                  <a:lnTo>
                    <a:pt x="20022" y="1063365"/>
                  </a:lnTo>
                  <a:cubicBezTo>
                    <a:pt x="8964" y="1063365"/>
                    <a:pt x="0" y="1054401"/>
                    <a:pt x="0" y="1043343"/>
                  </a:cubicBezTo>
                  <a:lnTo>
                    <a:pt x="0" y="20022"/>
                  </a:lnTo>
                  <a:cubicBezTo>
                    <a:pt x="0" y="8964"/>
                    <a:pt x="8964" y="0"/>
                    <a:pt x="20022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50" name="TextBox 21"/>
            <p:cNvSpPr txBox="1"/>
            <p:nvPr/>
          </p:nvSpPr>
          <p:spPr>
            <a:xfrm>
              <a:off x="0" y="-38100"/>
              <a:ext cx="812800" cy="1101465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grpSp>
        <p:nvGrpSpPr>
          <p:cNvPr id="52" name="Group 30"/>
          <p:cNvGrpSpPr/>
          <p:nvPr/>
        </p:nvGrpSpPr>
        <p:grpSpPr>
          <a:xfrm>
            <a:off x="8784590" y="1163955"/>
            <a:ext cx="574040" cy="574675"/>
            <a:chOff x="0" y="0"/>
            <a:chExt cx="812800" cy="812800"/>
          </a:xfrm>
        </p:grpSpPr>
        <p:sp>
          <p:nvSpPr>
            <p:cNvPr id="53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54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51" name="TextBox 33"/>
          <p:cNvSpPr txBox="1"/>
          <p:nvPr/>
        </p:nvSpPr>
        <p:spPr>
          <a:xfrm>
            <a:off x="8561070" y="597535"/>
            <a:ext cx="1005205" cy="12884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1</a:t>
            </a:r>
          </a:p>
        </p:txBody>
      </p:sp>
      <p:grpSp>
        <p:nvGrpSpPr>
          <p:cNvPr id="61" name="Group 30"/>
          <p:cNvGrpSpPr/>
          <p:nvPr/>
        </p:nvGrpSpPr>
        <p:grpSpPr>
          <a:xfrm>
            <a:off x="8784590" y="4398010"/>
            <a:ext cx="574040" cy="561340"/>
            <a:chOff x="0" y="0"/>
            <a:chExt cx="812800" cy="812800"/>
          </a:xfrm>
        </p:grpSpPr>
        <p:sp>
          <p:nvSpPr>
            <p:cNvPr id="62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63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grpSp>
        <p:nvGrpSpPr>
          <p:cNvPr id="64" name="Group 30"/>
          <p:cNvGrpSpPr/>
          <p:nvPr/>
        </p:nvGrpSpPr>
        <p:grpSpPr>
          <a:xfrm>
            <a:off x="8784590" y="2805430"/>
            <a:ext cx="574040" cy="560070"/>
            <a:chOff x="0" y="0"/>
            <a:chExt cx="812800" cy="812800"/>
          </a:xfrm>
        </p:grpSpPr>
        <p:sp>
          <p:nvSpPr>
            <p:cNvPr id="65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66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grpSp>
        <p:nvGrpSpPr>
          <p:cNvPr id="67" name="Group 19"/>
          <p:cNvGrpSpPr/>
          <p:nvPr/>
        </p:nvGrpSpPr>
        <p:grpSpPr>
          <a:xfrm>
            <a:off x="9011285" y="2886075"/>
            <a:ext cx="3002915" cy="1319530"/>
            <a:chOff x="0" y="0"/>
            <a:chExt cx="812800" cy="1063365"/>
          </a:xfrm>
        </p:grpSpPr>
        <p:sp>
          <p:nvSpPr>
            <p:cNvPr id="68" name="Freeform 20"/>
            <p:cNvSpPr/>
            <p:nvPr/>
          </p:nvSpPr>
          <p:spPr>
            <a:xfrm>
              <a:off x="0" y="0"/>
              <a:ext cx="812800" cy="1063365"/>
            </a:xfrm>
            <a:custGeom>
              <a:avLst/>
              <a:gdLst/>
              <a:ahLst/>
              <a:cxnLst/>
              <a:rect l="l" t="t" r="r" b="b"/>
              <a:pathLst>
                <a:path w="812800" h="1063365">
                  <a:moveTo>
                    <a:pt x="20022" y="0"/>
                  </a:moveTo>
                  <a:lnTo>
                    <a:pt x="792778" y="0"/>
                  </a:lnTo>
                  <a:cubicBezTo>
                    <a:pt x="803836" y="0"/>
                    <a:pt x="812800" y="8964"/>
                    <a:pt x="812800" y="20022"/>
                  </a:cubicBezTo>
                  <a:lnTo>
                    <a:pt x="812800" y="1043343"/>
                  </a:lnTo>
                  <a:cubicBezTo>
                    <a:pt x="812800" y="1054401"/>
                    <a:pt x="803836" y="1063365"/>
                    <a:pt x="792778" y="1063365"/>
                  </a:cubicBezTo>
                  <a:lnTo>
                    <a:pt x="20022" y="1063365"/>
                  </a:lnTo>
                  <a:cubicBezTo>
                    <a:pt x="8964" y="1063365"/>
                    <a:pt x="0" y="1054401"/>
                    <a:pt x="0" y="1043343"/>
                  </a:cubicBezTo>
                  <a:lnTo>
                    <a:pt x="0" y="20022"/>
                  </a:lnTo>
                  <a:cubicBezTo>
                    <a:pt x="0" y="8964"/>
                    <a:pt x="8964" y="0"/>
                    <a:pt x="20022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69" name="TextBox 21"/>
            <p:cNvSpPr txBox="1"/>
            <p:nvPr/>
          </p:nvSpPr>
          <p:spPr>
            <a:xfrm>
              <a:off x="0" y="-38100"/>
              <a:ext cx="812800" cy="1101465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grpSp>
        <p:nvGrpSpPr>
          <p:cNvPr id="70" name="Group 19"/>
          <p:cNvGrpSpPr/>
          <p:nvPr/>
        </p:nvGrpSpPr>
        <p:grpSpPr>
          <a:xfrm>
            <a:off x="9011285" y="4492625"/>
            <a:ext cx="3002915" cy="1271270"/>
            <a:chOff x="0" y="0"/>
            <a:chExt cx="812800" cy="1063365"/>
          </a:xfrm>
        </p:grpSpPr>
        <p:sp>
          <p:nvSpPr>
            <p:cNvPr id="71" name="Freeform 20"/>
            <p:cNvSpPr/>
            <p:nvPr/>
          </p:nvSpPr>
          <p:spPr>
            <a:xfrm>
              <a:off x="0" y="0"/>
              <a:ext cx="812800" cy="1063365"/>
            </a:xfrm>
            <a:custGeom>
              <a:avLst/>
              <a:gdLst/>
              <a:ahLst/>
              <a:cxnLst/>
              <a:rect l="l" t="t" r="r" b="b"/>
              <a:pathLst>
                <a:path w="812800" h="1063365">
                  <a:moveTo>
                    <a:pt x="20022" y="0"/>
                  </a:moveTo>
                  <a:lnTo>
                    <a:pt x="792778" y="0"/>
                  </a:lnTo>
                  <a:cubicBezTo>
                    <a:pt x="803836" y="0"/>
                    <a:pt x="812800" y="8964"/>
                    <a:pt x="812800" y="20022"/>
                  </a:cubicBezTo>
                  <a:lnTo>
                    <a:pt x="812800" y="1043343"/>
                  </a:lnTo>
                  <a:cubicBezTo>
                    <a:pt x="812800" y="1054401"/>
                    <a:pt x="803836" y="1063365"/>
                    <a:pt x="792778" y="1063365"/>
                  </a:cubicBezTo>
                  <a:lnTo>
                    <a:pt x="20022" y="1063365"/>
                  </a:lnTo>
                  <a:cubicBezTo>
                    <a:pt x="8964" y="1063365"/>
                    <a:pt x="0" y="1054401"/>
                    <a:pt x="0" y="1043343"/>
                  </a:cubicBezTo>
                  <a:lnTo>
                    <a:pt x="0" y="20022"/>
                  </a:lnTo>
                  <a:cubicBezTo>
                    <a:pt x="0" y="8964"/>
                    <a:pt x="8964" y="0"/>
                    <a:pt x="20022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72" name="TextBox 21"/>
            <p:cNvSpPr txBox="1"/>
            <p:nvPr/>
          </p:nvSpPr>
          <p:spPr>
            <a:xfrm>
              <a:off x="0" y="-38100"/>
              <a:ext cx="812800" cy="1101465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sp>
        <p:nvSpPr>
          <p:cNvPr id="73" name="TextBox 33"/>
          <p:cNvSpPr txBox="1"/>
          <p:nvPr/>
        </p:nvSpPr>
        <p:spPr>
          <a:xfrm>
            <a:off x="8561070" y="2248535"/>
            <a:ext cx="1005205" cy="11804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2</a:t>
            </a:r>
          </a:p>
        </p:txBody>
      </p:sp>
      <p:sp>
        <p:nvSpPr>
          <p:cNvPr id="74" name="TextBox 33"/>
          <p:cNvSpPr txBox="1"/>
          <p:nvPr/>
        </p:nvSpPr>
        <p:spPr>
          <a:xfrm>
            <a:off x="8561070" y="3811270"/>
            <a:ext cx="1005205" cy="12884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3</a:t>
            </a:r>
          </a:p>
        </p:txBody>
      </p:sp>
      <p:sp>
        <p:nvSpPr>
          <p:cNvPr id="76" name="Freeform 17"/>
          <p:cNvSpPr/>
          <p:nvPr/>
        </p:nvSpPr>
        <p:spPr>
          <a:xfrm>
            <a:off x="8908276" y="673975"/>
            <a:ext cx="324817" cy="370641"/>
          </a:xfrm>
          <a:custGeom>
            <a:avLst/>
            <a:gdLst/>
            <a:ahLst/>
            <a:cxnLst/>
            <a:rect l="l" t="t" r="r" b="b"/>
            <a:pathLst>
              <a:path w="487225" h="555962">
                <a:moveTo>
                  <a:pt x="0" y="0"/>
                </a:moveTo>
                <a:lnTo>
                  <a:pt x="487224" y="0"/>
                </a:lnTo>
                <a:lnTo>
                  <a:pt x="487224" y="555962"/>
                </a:lnTo>
                <a:lnTo>
                  <a:pt x="0" y="55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7" name="文本框 76"/>
          <p:cNvSpPr txBox="1"/>
          <p:nvPr/>
        </p:nvSpPr>
        <p:spPr>
          <a:xfrm>
            <a:off x="9671050" y="1397000"/>
            <a:ext cx="1462405" cy="3416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</a:rPr>
              <a:t>表达更适老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9671050" y="1783080"/>
            <a:ext cx="2343150" cy="81597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400"/>
              <a:t>识别老人含蓄、生活化的表达，并结合</a:t>
            </a:r>
            <a:r>
              <a:rPr lang="zh-CN" altLang="en-US" sz="14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语音与行为变化</a:t>
            </a:r>
            <a:r>
              <a:rPr lang="zh-CN" altLang="en-US" sz="1400"/>
              <a:t>理解真实状态。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9670415" y="2995930"/>
            <a:ext cx="1590040" cy="3695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</a:rPr>
              <a:t>陪伴更连续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9670415" y="4622800"/>
            <a:ext cx="1590040" cy="3568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000" b="1">
                <a:solidFill>
                  <a:schemeClr val="bg2">
                    <a:lumMod val="25000"/>
                  </a:schemeClr>
                </a:solidFill>
              </a:rPr>
              <a:t>联动有边界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9670415" y="3390265"/>
            <a:ext cx="2344420" cy="81534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400"/>
              <a:t>通过</a:t>
            </a:r>
            <a:r>
              <a:rPr lang="zh-CN" altLang="en-US" sz="14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授权式长期记忆与</a:t>
            </a:r>
            <a:r>
              <a:rPr lang="en-US" altLang="zh-CN" sz="14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RAG</a:t>
            </a:r>
            <a:r>
              <a:rPr lang="zh-CN" altLang="en-US" sz="1400"/>
              <a:t>，关联家庭关系、兴趣爱好和重要人生经历。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9670415" y="4996815"/>
            <a:ext cx="2343785" cy="67500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400"/>
              <a:t>基于连续趋势形成分级提醒，只向家属提供必要建议，</a:t>
            </a:r>
            <a:r>
              <a:rPr lang="zh-CN" altLang="en-US" sz="14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不默认开放完整对话</a:t>
            </a:r>
            <a:r>
              <a:rPr lang="zh-CN" altLang="en-US" sz="1400"/>
              <a:t>。</a:t>
            </a:r>
          </a:p>
        </p:txBody>
      </p:sp>
      <p:grpSp>
        <p:nvGrpSpPr>
          <p:cNvPr id="83" name="Group 48"/>
          <p:cNvGrpSpPr/>
          <p:nvPr/>
        </p:nvGrpSpPr>
        <p:grpSpPr>
          <a:xfrm>
            <a:off x="0" y="5836285"/>
            <a:ext cx="12192000" cy="1038225"/>
            <a:chOff x="0" y="0"/>
            <a:chExt cx="4543743" cy="228401"/>
          </a:xfrm>
        </p:grpSpPr>
        <p:sp>
          <p:nvSpPr>
            <p:cNvPr id="84" name="Freeform 49"/>
            <p:cNvSpPr/>
            <p:nvPr/>
          </p:nvSpPr>
          <p:spPr>
            <a:xfrm>
              <a:off x="0" y="0"/>
              <a:ext cx="4543742" cy="228401"/>
            </a:xfrm>
            <a:custGeom>
              <a:avLst/>
              <a:gdLst/>
              <a:ahLst/>
              <a:cxnLst/>
              <a:rect l="l" t="t" r="r" b="b"/>
              <a:pathLst>
                <a:path w="4543742" h="228401">
                  <a:moveTo>
                    <a:pt x="3387" y="0"/>
                  </a:moveTo>
                  <a:lnTo>
                    <a:pt x="4540356" y="0"/>
                  </a:lnTo>
                  <a:cubicBezTo>
                    <a:pt x="4541254" y="0"/>
                    <a:pt x="4542115" y="357"/>
                    <a:pt x="4542751" y="992"/>
                  </a:cubicBezTo>
                  <a:cubicBezTo>
                    <a:pt x="4543385" y="1627"/>
                    <a:pt x="4543742" y="2488"/>
                    <a:pt x="4543742" y="3387"/>
                  </a:cubicBezTo>
                  <a:lnTo>
                    <a:pt x="4543742" y="225014"/>
                  </a:lnTo>
                  <a:cubicBezTo>
                    <a:pt x="4543742" y="226884"/>
                    <a:pt x="4542226" y="228401"/>
                    <a:pt x="4540356" y="228401"/>
                  </a:cubicBezTo>
                  <a:lnTo>
                    <a:pt x="3387" y="228401"/>
                  </a:lnTo>
                  <a:cubicBezTo>
                    <a:pt x="1516" y="228401"/>
                    <a:pt x="0" y="226884"/>
                    <a:pt x="0" y="225014"/>
                  </a:cubicBezTo>
                  <a:lnTo>
                    <a:pt x="0" y="3387"/>
                  </a:lnTo>
                  <a:cubicBezTo>
                    <a:pt x="0" y="1516"/>
                    <a:pt x="1516" y="0"/>
                    <a:pt x="33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AE8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85" name="TextBox 50"/>
            <p:cNvSpPr txBox="1"/>
            <p:nvPr/>
          </p:nvSpPr>
          <p:spPr>
            <a:xfrm>
              <a:off x="0" y="-38100"/>
              <a:ext cx="4543743" cy="266501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-635" y="5832475"/>
            <a:ext cx="12192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暖伴不是通用</a:t>
            </a:r>
            <a:r>
              <a:rPr lang="en-US" altLang="zh-CN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的放大版，而是为老年心理陪伴重构</a:t>
            </a:r>
            <a:r>
              <a:rPr lang="zh-CN" altLang="en-US" sz="22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“感知—记忆—陪伴—守护”</a:t>
            </a:r>
            <a:r>
              <a:rPr lang="zh-CN" altLang="en-US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的闭环。</a:t>
            </a: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5"/>
          <a:srcRect l="7472" t="6375" r="9517" b="4708"/>
          <a:stretch>
            <a:fillRect/>
          </a:stretch>
        </p:blipFill>
        <p:spPr>
          <a:xfrm>
            <a:off x="9127490" y="1885950"/>
            <a:ext cx="515620" cy="492760"/>
          </a:xfrm>
          <a:prstGeom prst="ellipse">
            <a:avLst/>
          </a:prstGeom>
          <a:solidFill>
            <a:schemeClr val="bg1"/>
          </a:solidFill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6"/>
          <a:srcRect l="2136" t="3460" r="5000"/>
          <a:stretch>
            <a:fillRect/>
          </a:stretch>
        </p:blipFill>
        <p:spPr>
          <a:xfrm>
            <a:off x="9127490" y="3475990"/>
            <a:ext cx="515620" cy="522605"/>
          </a:xfrm>
          <a:prstGeom prst="ellipse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7"/>
          <a:srcRect l="2186" t="6036" r="2837" b="2568"/>
          <a:stretch>
            <a:fillRect/>
          </a:stretch>
        </p:blipFill>
        <p:spPr>
          <a:xfrm>
            <a:off x="9127490" y="5099685"/>
            <a:ext cx="515620" cy="522605"/>
          </a:xfrm>
          <a:prstGeom prst="ellipse">
            <a:avLst/>
          </a:prstGeom>
        </p:spPr>
      </p:pic>
      <p:sp>
        <p:nvSpPr>
          <p:cNvPr id="104" name="流程图: 终止 103"/>
          <p:cNvSpPr/>
          <p:nvPr/>
        </p:nvSpPr>
        <p:spPr>
          <a:xfrm>
            <a:off x="860425" y="6277610"/>
            <a:ext cx="2225040" cy="523240"/>
          </a:xfrm>
          <a:prstGeom prst="flowChartTerminator">
            <a:avLst/>
          </a:prstGeom>
          <a:solidFill>
            <a:srgbClr val="E8DFD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5"/>
          <a:srcRect l="7472" t="6375" r="9517" b="4708"/>
          <a:stretch>
            <a:fillRect/>
          </a:stretch>
        </p:blipFill>
        <p:spPr>
          <a:xfrm>
            <a:off x="869950" y="6277610"/>
            <a:ext cx="515620" cy="492760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105" name="流程图: 终止 104"/>
          <p:cNvSpPr/>
          <p:nvPr/>
        </p:nvSpPr>
        <p:spPr>
          <a:xfrm>
            <a:off x="8272780" y="6278245"/>
            <a:ext cx="2225040" cy="523240"/>
          </a:xfrm>
          <a:prstGeom prst="flowChartTerminator">
            <a:avLst/>
          </a:prstGeom>
          <a:solidFill>
            <a:srgbClr val="E8DFD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流程图: 终止 105"/>
          <p:cNvSpPr/>
          <p:nvPr/>
        </p:nvSpPr>
        <p:spPr>
          <a:xfrm>
            <a:off x="4459605" y="6277610"/>
            <a:ext cx="2225040" cy="523240"/>
          </a:xfrm>
          <a:prstGeom prst="flowChartTerminator">
            <a:avLst/>
          </a:prstGeom>
          <a:solidFill>
            <a:srgbClr val="E8DFD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6"/>
          <a:srcRect l="2136" t="3460" r="5000"/>
          <a:stretch>
            <a:fillRect/>
          </a:stretch>
        </p:blipFill>
        <p:spPr>
          <a:xfrm>
            <a:off x="4298950" y="6253480"/>
            <a:ext cx="515620" cy="522605"/>
          </a:xfrm>
          <a:prstGeom prst="ellipse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7"/>
          <a:srcRect l="2186" t="6036" r="2837" b="2568"/>
          <a:stretch>
            <a:fillRect/>
          </a:stretch>
        </p:blipFill>
        <p:spPr>
          <a:xfrm>
            <a:off x="8200390" y="6278245"/>
            <a:ext cx="515620" cy="522605"/>
          </a:xfrm>
          <a:prstGeom prst="ellipse">
            <a:avLst/>
          </a:prstGeom>
        </p:spPr>
      </p:pic>
      <p:sp>
        <p:nvSpPr>
          <p:cNvPr id="107" name="文本框 106"/>
          <p:cNvSpPr txBox="1"/>
          <p:nvPr/>
        </p:nvSpPr>
        <p:spPr>
          <a:xfrm>
            <a:off x="1515745" y="6341745"/>
            <a:ext cx="129286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100">
                <a:solidFill>
                  <a:schemeClr val="tx1">
                    <a:lumMod val="50000"/>
                    <a:lumOff val="50000"/>
                  </a:schemeClr>
                </a:solidFill>
              </a:rPr>
              <a:t>老年专属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8947150" y="6341745"/>
            <a:ext cx="1250315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100">
                <a:solidFill>
                  <a:schemeClr val="tx1">
                    <a:lumMod val="50000"/>
                    <a:lumOff val="50000"/>
                  </a:schemeClr>
                </a:solidFill>
              </a:rPr>
              <a:t>隐私可控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5051425" y="6341745"/>
            <a:ext cx="1509395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100">
                <a:solidFill>
                  <a:schemeClr val="tx1">
                    <a:lumMod val="50000"/>
                    <a:lumOff val="50000"/>
                  </a:schemeClr>
                </a:solidFill>
              </a:rPr>
              <a:t>长期连续 </a:t>
            </a:r>
            <a:r>
              <a:rPr lang="zh-CN" altLang="en-US" sz="2100"/>
              <a:t> </a:t>
            </a:r>
          </a:p>
        </p:txBody>
      </p:sp>
      <p:cxnSp>
        <p:nvCxnSpPr>
          <p:cNvPr id="110" name="直接连接符 109"/>
          <p:cNvCxnSpPr/>
          <p:nvPr/>
        </p:nvCxnSpPr>
        <p:spPr>
          <a:xfrm flipH="1">
            <a:off x="3583940" y="6310630"/>
            <a:ext cx="6350" cy="383540"/>
          </a:xfrm>
          <a:prstGeom prst="line">
            <a:avLst/>
          </a:prstGeom>
          <a:ln w="22225" cmpd="sng">
            <a:solidFill>
              <a:srgbClr val="A68A64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H="1">
            <a:off x="7563485" y="6310630"/>
            <a:ext cx="6350" cy="383540"/>
          </a:xfrm>
          <a:prstGeom prst="line">
            <a:avLst/>
          </a:prstGeom>
          <a:ln w="22225" cmpd="sng">
            <a:solidFill>
              <a:srgbClr val="A68A64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>
          <a:xfrm>
            <a:off x="2875915" y="97790"/>
            <a:ext cx="5771515" cy="1038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l" fontAlgn="auto">
              <a:lnSpc>
                <a:spcPts val="3800"/>
              </a:lnSpc>
            </a:pPr>
            <a:r>
              <a:rPr lang="zh-CN" altLang="en-US" sz="2200" b="1" spc="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1 Bold" panose="020B0800000000000000" charset="-122"/>
              </a:rPr>
              <a:t>暖伴</a:t>
            </a:r>
            <a:r>
              <a:rPr lang="en-US" sz="2200" b="1" spc="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1 Bold" panose="020B0800000000000000" charset="-122"/>
              </a:rPr>
              <a:t>AI</a:t>
            </a:r>
            <a:r>
              <a:rPr lang="en-US" altLang="zh-CN" sz="2200" b="1" spc="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1 Bold" panose="020B0800000000000000" charset="-122"/>
              </a:rPr>
              <a:t>——</a:t>
            </a:r>
            <a:r>
              <a:rPr lang="zh-CN" altLang="en-US" sz="2200" b="1" spc="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思源黑体 1 Bold" panose="020B0800000000000000" charset="-122"/>
              </a:rPr>
              <a:t>面向银发群体的情绪感知与记忆增强陪伴智能体</a:t>
            </a:r>
          </a:p>
          <a:p>
            <a:pPr indent="0" algn="l" fontAlgn="auto">
              <a:lnSpc>
                <a:spcPts val="3800"/>
              </a:lnSpc>
            </a:pPr>
            <a:endParaRPr lang="zh-CN" altLang="en-US" sz="2200" b="1" spc="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思源黑体 1 Bold" panose="020B0800000000000000" charset="-122"/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5880" y="1148715"/>
            <a:ext cx="6188710" cy="22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971" y="6268307"/>
            <a:ext cx="777579" cy="101256"/>
            <a:chOff x="0" y="0"/>
            <a:chExt cx="1555157" cy="20251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2512" cy="2025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70529" y="0"/>
              <a:ext cx="202512" cy="2025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41058" y="0"/>
              <a:ext cx="202512" cy="2025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1587" y="0"/>
              <a:ext cx="202512" cy="2025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82116" y="0"/>
              <a:ext cx="202512" cy="2025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52644" y="0"/>
              <a:ext cx="202512" cy="2025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 rot="10510853">
            <a:off x="-1194047" y="2645061"/>
            <a:ext cx="6336215" cy="633621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 rot="10510853">
            <a:off x="-1504257" y="998011"/>
            <a:ext cx="3757908" cy="375790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7" name="Group 27"/>
          <p:cNvGrpSpPr/>
          <p:nvPr/>
        </p:nvGrpSpPr>
        <p:grpSpPr>
          <a:xfrm rot="10510853">
            <a:off x="2950442" y="2453089"/>
            <a:ext cx="1565252" cy="156525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61331" y="1790205"/>
            <a:ext cx="1079571" cy="107957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423785" y="1588770"/>
            <a:ext cx="1355090" cy="12274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521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02</a:t>
            </a:r>
          </a:p>
        </p:txBody>
      </p:sp>
      <p:grpSp>
        <p:nvGrpSpPr>
          <p:cNvPr id="34" name="Group 34"/>
          <p:cNvGrpSpPr/>
          <p:nvPr/>
        </p:nvGrpSpPr>
        <p:grpSpPr>
          <a:xfrm rot="10510853">
            <a:off x="10462058" y="-1878954"/>
            <a:ext cx="3757908" cy="3757908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061585" y="3204210"/>
            <a:ext cx="7195185" cy="1484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580"/>
              </a:lnSpc>
            </a:pPr>
            <a:r>
              <a:rPr lang="en-US" sz="5515" b="1" spc="669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核心方案与技术创新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3D3D3">
                <a:alpha val="100000"/>
              </a:srgbClr>
            </a:gs>
            <a:gs pos="33333">
              <a:srgbClr val="FFFEFF">
                <a:alpha val="100000"/>
              </a:srgbClr>
            </a:gs>
            <a:gs pos="66667">
              <a:srgbClr val="FFFEFF">
                <a:alpha val="100000"/>
              </a:srgbClr>
            </a:gs>
            <a:gs pos="100000">
              <a:srgbClr val="D3D3D3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4200" y="-207645"/>
            <a:ext cx="4366895" cy="10325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735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项目总体解决方案</a:t>
            </a:r>
          </a:p>
        </p:txBody>
      </p:sp>
      <p:sp>
        <p:nvSpPr>
          <p:cNvPr id="3" name="AutoShape 3"/>
          <p:cNvSpPr/>
          <p:nvPr/>
        </p:nvSpPr>
        <p:spPr>
          <a:xfrm>
            <a:off x="585144" y="874704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951719" y="1779341"/>
            <a:ext cx="2288225" cy="22882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97815B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9726" tIns="29726" rIns="29726" bIns="29726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038051" y="1865673"/>
            <a:ext cx="2115561" cy="21155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9726" tIns="29726" rIns="29726" bIns="29726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71110" y="2444115"/>
            <a:ext cx="2082165" cy="18630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ctr" fontAlgn="auto">
              <a:lnSpc>
                <a:spcPts val="3600"/>
              </a:lnSpc>
            </a:pPr>
            <a:r>
              <a:rPr lang="zh-CN" altLang="en-US" sz="2335" spc="437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暖伴</a:t>
            </a:r>
            <a:r>
              <a:rPr lang="en-US" sz="2335" spc="437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AI</a:t>
            </a:r>
          </a:p>
          <a:p>
            <a:pPr indent="0" algn="ctr" fontAlgn="auto">
              <a:lnSpc>
                <a:spcPts val="3600"/>
              </a:lnSpc>
            </a:pPr>
            <a:r>
              <a:rPr lang="en-US" sz="2335" spc="437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智能体中枢</a:t>
            </a:r>
          </a:p>
          <a:p>
            <a:pPr algn="ctr">
              <a:lnSpc>
                <a:spcPts val="6100"/>
              </a:lnSpc>
            </a:pPr>
            <a:endParaRPr sz="1200"/>
          </a:p>
        </p:txBody>
      </p:sp>
      <p:grpSp>
        <p:nvGrpSpPr>
          <p:cNvPr id="11" name="Group 11"/>
          <p:cNvGrpSpPr/>
          <p:nvPr/>
        </p:nvGrpSpPr>
        <p:grpSpPr>
          <a:xfrm>
            <a:off x="3955473" y="2250538"/>
            <a:ext cx="1345832" cy="134583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6350" tIns="46350" rIns="46350" bIns="4635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077335" y="2622550"/>
            <a:ext cx="1101725" cy="9893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ctr" fontAlgn="auto">
              <a:lnSpc>
                <a:spcPts val="3000"/>
              </a:lnSpc>
            </a:pPr>
            <a:r>
              <a:rPr lang="en-US" sz="1915" spc="390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情绪</a:t>
            </a:r>
          </a:p>
          <a:p>
            <a:pPr indent="0" algn="ctr" fontAlgn="auto">
              <a:lnSpc>
                <a:spcPts val="3000"/>
              </a:lnSpc>
            </a:pPr>
            <a:r>
              <a:rPr lang="en-US" sz="1915" spc="390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理解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891033" y="2253150"/>
            <a:ext cx="1345832" cy="134583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6350" tIns="46350" rIns="46350" bIns="4635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012305" y="2625090"/>
            <a:ext cx="1149985" cy="768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0" algn="ctr" fontAlgn="auto">
              <a:lnSpc>
                <a:spcPts val="3000"/>
              </a:lnSpc>
            </a:pPr>
            <a:r>
              <a:rPr lang="en-US" sz="1915" spc="390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个性化陪伴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81065" y="1779341"/>
            <a:ext cx="2062268" cy="2698011"/>
            <a:chOff x="0" y="0"/>
            <a:chExt cx="812800" cy="10633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063365"/>
            </a:xfrm>
            <a:custGeom>
              <a:avLst/>
              <a:gdLst/>
              <a:ahLst/>
              <a:cxnLst/>
              <a:rect l="l" t="t" r="r" b="b"/>
              <a:pathLst>
                <a:path w="812800" h="1063365">
                  <a:moveTo>
                    <a:pt x="20022" y="0"/>
                  </a:moveTo>
                  <a:lnTo>
                    <a:pt x="792778" y="0"/>
                  </a:lnTo>
                  <a:cubicBezTo>
                    <a:pt x="803836" y="0"/>
                    <a:pt x="812800" y="8964"/>
                    <a:pt x="812800" y="20022"/>
                  </a:cubicBezTo>
                  <a:lnTo>
                    <a:pt x="812800" y="1043343"/>
                  </a:lnTo>
                  <a:cubicBezTo>
                    <a:pt x="812800" y="1054401"/>
                    <a:pt x="803836" y="1063365"/>
                    <a:pt x="792778" y="1063365"/>
                  </a:cubicBezTo>
                  <a:lnTo>
                    <a:pt x="20022" y="1063365"/>
                  </a:lnTo>
                  <a:cubicBezTo>
                    <a:pt x="8964" y="1063365"/>
                    <a:pt x="0" y="1054401"/>
                    <a:pt x="0" y="1043343"/>
                  </a:cubicBezTo>
                  <a:lnTo>
                    <a:pt x="0" y="20022"/>
                  </a:lnTo>
                  <a:cubicBezTo>
                    <a:pt x="0" y="8964"/>
                    <a:pt x="8964" y="0"/>
                    <a:pt x="20022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12800" cy="1101465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370" y="3583511"/>
            <a:ext cx="1821659" cy="301213"/>
            <a:chOff x="0" y="0"/>
            <a:chExt cx="719668" cy="11899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82040" y="3481705"/>
            <a:ext cx="1659890" cy="5327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😊 心情记录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01370" y="3180515"/>
            <a:ext cx="1821659" cy="301213"/>
            <a:chOff x="0" y="0"/>
            <a:chExt cx="719668" cy="11899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82040" y="3083560"/>
            <a:ext cx="1659890" cy="5276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▣ 图片内容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01370" y="2777521"/>
            <a:ext cx="1821659" cy="301213"/>
            <a:chOff x="0" y="0"/>
            <a:chExt cx="719668" cy="11899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82040" y="2675255"/>
            <a:ext cx="1659890" cy="5327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Aa 文字对话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01370" y="2374525"/>
            <a:ext cx="1821659" cy="301213"/>
            <a:chOff x="0" y="0"/>
            <a:chExt cx="719668" cy="1189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38225" y="2254250"/>
            <a:ext cx="1659890" cy="5289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🎙 语音输入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01370" y="1910459"/>
            <a:ext cx="1821659" cy="301213"/>
            <a:chOff x="0" y="0"/>
            <a:chExt cx="719668" cy="11899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249004" y="1779341"/>
            <a:ext cx="2062268" cy="2698011"/>
            <a:chOff x="0" y="0"/>
            <a:chExt cx="812800" cy="106336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1063365"/>
            </a:xfrm>
            <a:custGeom>
              <a:avLst/>
              <a:gdLst/>
              <a:ahLst/>
              <a:cxnLst/>
              <a:rect l="l" t="t" r="r" b="b"/>
              <a:pathLst>
                <a:path w="812800" h="1063365">
                  <a:moveTo>
                    <a:pt x="20022" y="0"/>
                  </a:moveTo>
                  <a:lnTo>
                    <a:pt x="792778" y="0"/>
                  </a:lnTo>
                  <a:cubicBezTo>
                    <a:pt x="803836" y="0"/>
                    <a:pt x="812800" y="8964"/>
                    <a:pt x="812800" y="20022"/>
                  </a:cubicBezTo>
                  <a:lnTo>
                    <a:pt x="812800" y="1043343"/>
                  </a:lnTo>
                  <a:cubicBezTo>
                    <a:pt x="812800" y="1054401"/>
                    <a:pt x="803836" y="1063365"/>
                    <a:pt x="792778" y="1063365"/>
                  </a:cubicBezTo>
                  <a:lnTo>
                    <a:pt x="20022" y="1063365"/>
                  </a:lnTo>
                  <a:cubicBezTo>
                    <a:pt x="8964" y="1063365"/>
                    <a:pt x="0" y="1054401"/>
                    <a:pt x="0" y="1043343"/>
                  </a:cubicBezTo>
                  <a:lnTo>
                    <a:pt x="0" y="20022"/>
                  </a:lnTo>
                  <a:cubicBezTo>
                    <a:pt x="0" y="8964"/>
                    <a:pt x="8964" y="0"/>
                    <a:pt x="20022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812800" cy="1101465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69309" y="3583511"/>
            <a:ext cx="1821659" cy="301213"/>
            <a:chOff x="0" y="0"/>
            <a:chExt cx="719668" cy="11899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69309" y="3180515"/>
            <a:ext cx="1821659" cy="301213"/>
            <a:chOff x="0" y="0"/>
            <a:chExt cx="719668" cy="11899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369309" y="2777521"/>
            <a:ext cx="1821659" cy="301213"/>
            <a:chOff x="0" y="0"/>
            <a:chExt cx="719668" cy="11899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366490" y="2361263"/>
            <a:ext cx="1821659" cy="301213"/>
            <a:chOff x="0" y="0"/>
            <a:chExt cx="719668" cy="11899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69309" y="1910459"/>
            <a:ext cx="1821659" cy="301213"/>
            <a:chOff x="0" y="0"/>
            <a:chExt cx="719668" cy="11899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9" name="AutoShape 59"/>
          <p:cNvSpPr/>
          <p:nvPr/>
        </p:nvSpPr>
        <p:spPr>
          <a:xfrm>
            <a:off x="8313065" y="3014894"/>
            <a:ext cx="859739" cy="0"/>
          </a:xfrm>
          <a:prstGeom prst="line">
            <a:avLst/>
          </a:prstGeom>
          <a:ln w="19050" cap="flat">
            <a:solidFill>
              <a:srgbClr val="97815B"/>
            </a:solidFill>
            <a:prstDash val="sysDash"/>
            <a:headEnd type="none" w="sm" len="sm"/>
            <a:tailEnd type="triangle" w="lg" len="med"/>
          </a:ln>
        </p:spPr>
      </p:sp>
      <p:sp>
        <p:nvSpPr>
          <p:cNvPr id="60" name="TextBox 60"/>
          <p:cNvSpPr txBox="1"/>
          <p:nvPr/>
        </p:nvSpPr>
        <p:spPr>
          <a:xfrm>
            <a:off x="8312785" y="2706370"/>
            <a:ext cx="859790" cy="3771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1200" spc="145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策略生成</a:t>
            </a:r>
          </a:p>
        </p:txBody>
      </p:sp>
      <p:sp>
        <p:nvSpPr>
          <p:cNvPr id="61" name="AutoShape 61"/>
          <p:cNvSpPr/>
          <p:nvPr/>
        </p:nvSpPr>
        <p:spPr>
          <a:xfrm>
            <a:off x="3019533" y="3031404"/>
            <a:ext cx="859739" cy="0"/>
          </a:xfrm>
          <a:prstGeom prst="line">
            <a:avLst/>
          </a:prstGeom>
          <a:ln w="19050" cap="flat">
            <a:solidFill>
              <a:srgbClr val="97815B"/>
            </a:solidFill>
            <a:prstDash val="sysDash"/>
            <a:headEnd type="none" w="sm" len="sm"/>
            <a:tailEnd type="triangle" w="lg" len="med"/>
          </a:ln>
        </p:spPr>
      </p:sp>
      <p:sp>
        <p:nvSpPr>
          <p:cNvPr id="62" name="TextBox 62"/>
          <p:cNvSpPr txBox="1"/>
          <p:nvPr/>
        </p:nvSpPr>
        <p:spPr>
          <a:xfrm>
            <a:off x="3019425" y="2705735"/>
            <a:ext cx="859790" cy="3943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1200" spc="145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授权采集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2149475" y="5819140"/>
            <a:ext cx="2452370" cy="396875"/>
            <a:chOff x="0" y="0"/>
            <a:chExt cx="795208" cy="15635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95208" cy="156354"/>
            </a:xfrm>
            <a:custGeom>
              <a:avLst/>
              <a:gdLst/>
              <a:ahLst/>
              <a:cxnLst/>
              <a:rect l="l" t="t" r="r" b="b"/>
              <a:pathLst>
                <a:path w="795208" h="156354">
                  <a:moveTo>
                    <a:pt x="20465" y="0"/>
                  </a:moveTo>
                  <a:lnTo>
                    <a:pt x="774743" y="0"/>
                  </a:lnTo>
                  <a:cubicBezTo>
                    <a:pt x="780171" y="0"/>
                    <a:pt x="785376" y="2156"/>
                    <a:pt x="789214" y="5994"/>
                  </a:cubicBezTo>
                  <a:cubicBezTo>
                    <a:pt x="793052" y="9832"/>
                    <a:pt x="795208" y="15037"/>
                    <a:pt x="795208" y="20465"/>
                  </a:cubicBezTo>
                  <a:lnTo>
                    <a:pt x="795208" y="135889"/>
                  </a:lnTo>
                  <a:cubicBezTo>
                    <a:pt x="795208" y="141317"/>
                    <a:pt x="793052" y="146522"/>
                    <a:pt x="789214" y="150360"/>
                  </a:cubicBezTo>
                  <a:cubicBezTo>
                    <a:pt x="785376" y="154198"/>
                    <a:pt x="780171" y="156354"/>
                    <a:pt x="774743" y="156354"/>
                  </a:cubicBezTo>
                  <a:lnTo>
                    <a:pt x="20465" y="156354"/>
                  </a:lnTo>
                  <a:cubicBezTo>
                    <a:pt x="9162" y="156354"/>
                    <a:pt x="0" y="147192"/>
                    <a:pt x="0" y="135889"/>
                  </a:cubicBezTo>
                  <a:lnTo>
                    <a:pt x="0" y="20465"/>
                  </a:lnTo>
                  <a:cubicBezTo>
                    <a:pt x="0" y="15037"/>
                    <a:pt x="2156" y="9832"/>
                    <a:pt x="5994" y="5994"/>
                  </a:cubicBezTo>
                  <a:cubicBezTo>
                    <a:pt x="9832" y="2156"/>
                    <a:pt x="15037" y="0"/>
                    <a:pt x="20465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795208" cy="194454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2178685" y="5723255"/>
            <a:ext cx="2423160" cy="4927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en-US" sz="2000" spc="349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老人端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351395" y="5819140"/>
            <a:ext cx="2452370" cy="396875"/>
            <a:chOff x="0" y="0"/>
            <a:chExt cx="795208" cy="15635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95208" cy="156354"/>
            </a:xfrm>
            <a:custGeom>
              <a:avLst/>
              <a:gdLst/>
              <a:ahLst/>
              <a:cxnLst/>
              <a:rect l="l" t="t" r="r" b="b"/>
              <a:pathLst>
                <a:path w="795208" h="156354">
                  <a:moveTo>
                    <a:pt x="20465" y="0"/>
                  </a:moveTo>
                  <a:lnTo>
                    <a:pt x="774743" y="0"/>
                  </a:lnTo>
                  <a:cubicBezTo>
                    <a:pt x="780171" y="0"/>
                    <a:pt x="785376" y="2156"/>
                    <a:pt x="789214" y="5994"/>
                  </a:cubicBezTo>
                  <a:cubicBezTo>
                    <a:pt x="793052" y="9832"/>
                    <a:pt x="795208" y="15037"/>
                    <a:pt x="795208" y="20465"/>
                  </a:cubicBezTo>
                  <a:lnTo>
                    <a:pt x="795208" y="135889"/>
                  </a:lnTo>
                  <a:cubicBezTo>
                    <a:pt x="795208" y="141317"/>
                    <a:pt x="793052" y="146522"/>
                    <a:pt x="789214" y="150360"/>
                  </a:cubicBezTo>
                  <a:cubicBezTo>
                    <a:pt x="785376" y="154198"/>
                    <a:pt x="780171" y="156354"/>
                    <a:pt x="774743" y="156354"/>
                  </a:cubicBezTo>
                  <a:lnTo>
                    <a:pt x="20465" y="156354"/>
                  </a:lnTo>
                  <a:cubicBezTo>
                    <a:pt x="9162" y="156354"/>
                    <a:pt x="0" y="147192"/>
                    <a:pt x="0" y="135889"/>
                  </a:cubicBezTo>
                  <a:lnTo>
                    <a:pt x="0" y="20465"/>
                  </a:lnTo>
                  <a:cubicBezTo>
                    <a:pt x="0" y="15037"/>
                    <a:pt x="2156" y="9832"/>
                    <a:pt x="5994" y="5994"/>
                  </a:cubicBezTo>
                  <a:cubicBezTo>
                    <a:pt x="9832" y="2156"/>
                    <a:pt x="15037" y="0"/>
                    <a:pt x="20465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795208" cy="194454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240"/>
                </a:lnSpc>
              </a:pPr>
              <a:endParaRPr sz="1200"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7352030" y="5722620"/>
            <a:ext cx="2451100" cy="4933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en-US" sz="2000" spc="349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子女端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418975" y="5188553"/>
            <a:ext cx="3319439" cy="396708"/>
            <a:chOff x="0" y="0"/>
            <a:chExt cx="1308288" cy="15635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308288" cy="156354"/>
            </a:xfrm>
            <a:custGeom>
              <a:avLst/>
              <a:gdLst/>
              <a:ahLst/>
              <a:cxnLst/>
              <a:rect l="l" t="t" r="r" b="b"/>
              <a:pathLst>
                <a:path w="1308288" h="156354">
                  <a:moveTo>
                    <a:pt x="12439" y="0"/>
                  </a:moveTo>
                  <a:lnTo>
                    <a:pt x="1295849" y="0"/>
                  </a:lnTo>
                  <a:cubicBezTo>
                    <a:pt x="1299148" y="0"/>
                    <a:pt x="1302312" y="1311"/>
                    <a:pt x="1304644" y="3643"/>
                  </a:cubicBezTo>
                  <a:cubicBezTo>
                    <a:pt x="1306977" y="5976"/>
                    <a:pt x="1308288" y="9140"/>
                    <a:pt x="1308288" y="12439"/>
                  </a:cubicBezTo>
                  <a:lnTo>
                    <a:pt x="1308288" y="143915"/>
                  </a:lnTo>
                  <a:cubicBezTo>
                    <a:pt x="1308288" y="150785"/>
                    <a:pt x="1302719" y="156354"/>
                    <a:pt x="1295849" y="156354"/>
                  </a:cubicBezTo>
                  <a:lnTo>
                    <a:pt x="12439" y="156354"/>
                  </a:lnTo>
                  <a:cubicBezTo>
                    <a:pt x="5569" y="156354"/>
                    <a:pt x="0" y="150785"/>
                    <a:pt x="0" y="143915"/>
                  </a:cubicBezTo>
                  <a:lnTo>
                    <a:pt x="0" y="12439"/>
                  </a:lnTo>
                  <a:cubicBezTo>
                    <a:pt x="0" y="9140"/>
                    <a:pt x="1311" y="5976"/>
                    <a:pt x="3643" y="3643"/>
                  </a:cubicBezTo>
                  <a:cubicBezTo>
                    <a:pt x="5976" y="1311"/>
                    <a:pt x="9140" y="0"/>
                    <a:pt x="12439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1308288" cy="194454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369695" y="5064760"/>
            <a:ext cx="1282065" cy="4940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en-US" sz="1865" spc="349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策略优化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4466669" y="5161921"/>
            <a:ext cx="3319439" cy="396708"/>
            <a:chOff x="0" y="0"/>
            <a:chExt cx="1308288" cy="15635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308288" cy="156354"/>
            </a:xfrm>
            <a:custGeom>
              <a:avLst/>
              <a:gdLst/>
              <a:ahLst/>
              <a:cxnLst/>
              <a:rect l="l" t="t" r="r" b="b"/>
              <a:pathLst>
                <a:path w="1308288" h="156354">
                  <a:moveTo>
                    <a:pt x="12439" y="0"/>
                  </a:moveTo>
                  <a:lnTo>
                    <a:pt x="1295849" y="0"/>
                  </a:lnTo>
                  <a:cubicBezTo>
                    <a:pt x="1299148" y="0"/>
                    <a:pt x="1302312" y="1311"/>
                    <a:pt x="1304644" y="3643"/>
                  </a:cubicBezTo>
                  <a:cubicBezTo>
                    <a:pt x="1306977" y="5976"/>
                    <a:pt x="1308288" y="9140"/>
                    <a:pt x="1308288" y="12439"/>
                  </a:cubicBezTo>
                  <a:lnTo>
                    <a:pt x="1308288" y="143915"/>
                  </a:lnTo>
                  <a:cubicBezTo>
                    <a:pt x="1308288" y="150785"/>
                    <a:pt x="1302719" y="156354"/>
                    <a:pt x="1295849" y="156354"/>
                  </a:cubicBezTo>
                  <a:lnTo>
                    <a:pt x="12439" y="156354"/>
                  </a:lnTo>
                  <a:cubicBezTo>
                    <a:pt x="5569" y="156354"/>
                    <a:pt x="0" y="150785"/>
                    <a:pt x="0" y="143915"/>
                  </a:cubicBezTo>
                  <a:lnTo>
                    <a:pt x="0" y="12439"/>
                  </a:lnTo>
                  <a:cubicBezTo>
                    <a:pt x="0" y="9140"/>
                    <a:pt x="1311" y="5976"/>
                    <a:pt x="3643" y="3643"/>
                  </a:cubicBezTo>
                  <a:cubicBezTo>
                    <a:pt x="5976" y="1311"/>
                    <a:pt x="9140" y="0"/>
                    <a:pt x="124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1308288" cy="194454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4965700" y="5043805"/>
            <a:ext cx="2385695" cy="6330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zh-CN" altLang="en-US" sz="1865" spc="349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隐私与授权</a:t>
            </a:r>
            <a:r>
              <a:rPr lang="en-US" sz="1865" spc="349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策略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8533092" y="5169670"/>
            <a:ext cx="3319439" cy="396708"/>
            <a:chOff x="0" y="0"/>
            <a:chExt cx="1308288" cy="15635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308288" cy="156354"/>
            </a:xfrm>
            <a:custGeom>
              <a:avLst/>
              <a:gdLst/>
              <a:ahLst/>
              <a:cxnLst/>
              <a:rect l="l" t="t" r="r" b="b"/>
              <a:pathLst>
                <a:path w="1308288" h="156354">
                  <a:moveTo>
                    <a:pt x="12439" y="0"/>
                  </a:moveTo>
                  <a:lnTo>
                    <a:pt x="1295849" y="0"/>
                  </a:lnTo>
                  <a:cubicBezTo>
                    <a:pt x="1299148" y="0"/>
                    <a:pt x="1302312" y="1311"/>
                    <a:pt x="1304644" y="3643"/>
                  </a:cubicBezTo>
                  <a:cubicBezTo>
                    <a:pt x="1306977" y="5976"/>
                    <a:pt x="1308288" y="9140"/>
                    <a:pt x="1308288" y="12439"/>
                  </a:cubicBezTo>
                  <a:lnTo>
                    <a:pt x="1308288" y="143915"/>
                  </a:lnTo>
                  <a:cubicBezTo>
                    <a:pt x="1308288" y="150785"/>
                    <a:pt x="1302719" y="156354"/>
                    <a:pt x="1295849" y="156354"/>
                  </a:cubicBezTo>
                  <a:lnTo>
                    <a:pt x="12439" y="156354"/>
                  </a:lnTo>
                  <a:cubicBezTo>
                    <a:pt x="5569" y="156354"/>
                    <a:pt x="0" y="150785"/>
                    <a:pt x="0" y="143915"/>
                  </a:cubicBezTo>
                  <a:lnTo>
                    <a:pt x="0" y="12439"/>
                  </a:lnTo>
                  <a:cubicBezTo>
                    <a:pt x="0" y="9140"/>
                    <a:pt x="1311" y="5976"/>
                    <a:pt x="3643" y="3643"/>
                  </a:cubicBezTo>
                  <a:cubicBezTo>
                    <a:pt x="5976" y="1311"/>
                    <a:pt x="9140" y="0"/>
                    <a:pt x="12439" y="0"/>
                  </a:cubicBezTo>
                  <a:close/>
                </a:path>
              </a:pathLst>
            </a:custGeom>
            <a:ln w="19050" cap="sq">
              <a:solidFill>
                <a:srgbClr val="C0AE8F">
                  <a:alpha val="74902"/>
                </a:srgbClr>
              </a:solidFill>
              <a:prstDash val="sysDot"/>
              <a:miter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1308288" cy="194454"/>
            </a:xfrm>
            <a:prstGeom prst="rect">
              <a:avLst/>
            </a:prstGeom>
          </p:spPr>
          <p:txBody>
            <a:bodyPr lIns="26791" tIns="26791" rIns="26791" bIns="26791" rtlCol="0" anchor="ctr"/>
            <a:lstStyle/>
            <a:p>
              <a:pPr algn="ctr">
                <a:lnSpc>
                  <a:spcPts val="2660"/>
                </a:lnSpc>
              </a:pPr>
              <a:endParaRPr sz="1200"/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9651365" y="5072380"/>
            <a:ext cx="1282065" cy="6121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en-US" sz="1865" spc="349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趋势反馈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4200" y="824865"/>
            <a:ext cx="8337550" cy="7188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5"/>
              </a:lnSpc>
            </a:pPr>
            <a:r>
              <a:rPr lang="en-US" sz="2485" spc="465">
                <a:solidFill>
                  <a:srgbClr val="000000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构建</a:t>
            </a:r>
            <a:r>
              <a:rPr lang="en-US" sz="2485" spc="465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“感知—理解—陪伴—守护”</a:t>
            </a:r>
            <a:r>
              <a:rPr lang="en-US" sz="2485" spc="465">
                <a:solidFill>
                  <a:srgbClr val="000000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的老年</a:t>
            </a:r>
            <a:r>
              <a:rPr lang="en-US" sz="2485" spc="465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AI</a:t>
            </a:r>
            <a:r>
              <a:rPr lang="en-US" sz="2485" spc="465">
                <a:solidFill>
                  <a:srgbClr val="000000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闭环</a:t>
            </a:r>
          </a:p>
          <a:p>
            <a:pPr algn="l">
              <a:lnSpc>
                <a:spcPts val="5215"/>
              </a:lnSpc>
            </a:pPr>
            <a:endParaRPr sz="1200"/>
          </a:p>
        </p:txBody>
      </p:sp>
      <p:sp>
        <p:nvSpPr>
          <p:cNvPr id="90" name="TextBox 90"/>
          <p:cNvSpPr txBox="1"/>
          <p:nvPr/>
        </p:nvSpPr>
        <p:spPr>
          <a:xfrm>
            <a:off x="1123315" y="1790700"/>
            <a:ext cx="1491615" cy="4635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1665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01 多模态感知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1001370" y="4005374"/>
            <a:ext cx="1821659" cy="301213"/>
            <a:chOff x="0" y="0"/>
            <a:chExt cx="719668" cy="11899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988695" y="3884295"/>
            <a:ext cx="1821815" cy="5289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1465">
                <a:solidFill>
                  <a:srgbClr val="97815B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📊 互动/训练数据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948430" y="3852545"/>
            <a:ext cx="1276985" cy="10261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474980" lvl="1" indent="-237490" algn="l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文本情感</a:t>
            </a:r>
          </a:p>
          <a:p>
            <a:pPr marL="474980" lvl="1" indent="-237490" algn="l" fontAlgn="auto">
              <a:lnSpc>
                <a:spcPts val="2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语音特征</a:t>
            </a:r>
          </a:p>
          <a:p>
            <a:pPr marL="474980" lvl="1" indent="-237490" algn="l" fontAlgn="auto">
              <a:lnSpc>
                <a:spcPts val="2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意图识别</a:t>
            </a:r>
          </a:p>
          <a:p>
            <a:pPr marL="474980" lvl="1" indent="-237490" algn="l" fontAlgn="auto">
              <a:lnSpc>
                <a:spcPts val="2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记忆检索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038090" y="2112010"/>
            <a:ext cx="2115820" cy="4565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265">
                <a:solidFill>
                  <a:srgbClr val="97815B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大模型 · 长期记忆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5225415" y="3308350"/>
            <a:ext cx="1774190" cy="4457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200">
                <a:solidFill>
                  <a:srgbClr val="97815B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RAG知识库 · Agent调度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955333" y="3852866"/>
            <a:ext cx="1263831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0" lvl="1" indent="-237490" algn="l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共情对话</a:t>
            </a:r>
          </a:p>
          <a:p>
            <a:pPr marL="474980" lvl="1" indent="-237490" algn="l" fontAlgn="auto">
              <a:lnSpc>
                <a:spcPts val="2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怀旧引导</a:t>
            </a:r>
          </a:p>
          <a:p>
            <a:pPr marL="474980" lvl="1" indent="-237490" algn="l" fontAlgn="auto">
              <a:lnSpc>
                <a:spcPts val="2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认知训练</a:t>
            </a:r>
          </a:p>
          <a:p>
            <a:pPr marL="474980" lvl="1" indent="-237490" algn="l" fontAlgn="auto">
              <a:lnSpc>
                <a:spcPts val="2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1465">
                <a:solidFill>
                  <a:srgbClr val="B5A282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故事整理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466590" y="2211705"/>
            <a:ext cx="485140" cy="5657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20"/>
              </a:lnSpc>
              <a:spcBef>
                <a:spcPct val="0"/>
              </a:spcBef>
            </a:pPr>
            <a:r>
              <a:rPr lang="en-US" sz="2500">
                <a:solidFill>
                  <a:schemeClr val="bg1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02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399020" y="2211070"/>
            <a:ext cx="328295" cy="6146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500">
                <a:gradFill>
                  <a:gsLst>
                    <a:gs pos="0">
                      <a:srgbClr val="F0F3FF">
                        <a:alpha val="100000"/>
                      </a:srgbClr>
                    </a:gs>
                    <a:gs pos="25000">
                      <a:srgbClr val="F0F3FF">
                        <a:alpha val="100000"/>
                      </a:srgbClr>
                    </a:gs>
                    <a:gs pos="50000">
                      <a:srgbClr val="F0F3FF">
                        <a:alpha val="100000"/>
                      </a:srgbClr>
                    </a:gs>
                    <a:gs pos="75000">
                      <a:srgbClr val="F0F3FF">
                        <a:alpha val="100000"/>
                      </a:srgbClr>
                    </a:gs>
                    <a:gs pos="100000">
                      <a:srgbClr val="C1CCF7">
                        <a:alpha val="100000"/>
                      </a:srgbClr>
                    </a:gs>
                  </a:gsLst>
                  <a:lin ang="2700000"/>
                </a:gra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03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651365" y="1790065"/>
            <a:ext cx="1424305" cy="5372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1665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04 分级守护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369425" y="2253615"/>
            <a:ext cx="1659890" cy="5295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情绪趋势分析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9366250" y="2656840"/>
            <a:ext cx="1659890" cy="5295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认知变化关注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9248775" y="3077845"/>
            <a:ext cx="1939290" cy="4978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连续异常提醒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226550" y="3481705"/>
            <a:ext cx="1964055" cy="4965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家庭关怀建议</a:t>
            </a:r>
          </a:p>
        </p:txBody>
      </p:sp>
      <p:grpSp>
        <p:nvGrpSpPr>
          <p:cNvPr id="107" name="Group 107"/>
          <p:cNvGrpSpPr/>
          <p:nvPr/>
        </p:nvGrpSpPr>
        <p:grpSpPr>
          <a:xfrm>
            <a:off x="9399639" y="4005374"/>
            <a:ext cx="1821659" cy="301213"/>
            <a:chOff x="0" y="0"/>
            <a:chExt cx="719668" cy="11899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19668" cy="118998"/>
            </a:xfrm>
            <a:custGeom>
              <a:avLst/>
              <a:gdLst/>
              <a:ahLst/>
              <a:cxnLst/>
              <a:rect l="l" t="t" r="r" b="b"/>
              <a:pathLst>
                <a:path w="719668" h="118998">
                  <a:moveTo>
                    <a:pt x="59499" y="0"/>
                  </a:moveTo>
                  <a:lnTo>
                    <a:pt x="660169" y="0"/>
                  </a:lnTo>
                  <a:cubicBezTo>
                    <a:pt x="675949" y="0"/>
                    <a:pt x="691083" y="6269"/>
                    <a:pt x="702241" y="17427"/>
                  </a:cubicBezTo>
                  <a:cubicBezTo>
                    <a:pt x="713399" y="28585"/>
                    <a:pt x="719668" y="43719"/>
                    <a:pt x="719668" y="59499"/>
                  </a:cubicBezTo>
                  <a:lnTo>
                    <a:pt x="719668" y="59499"/>
                  </a:lnTo>
                  <a:cubicBezTo>
                    <a:pt x="719668" y="75279"/>
                    <a:pt x="713399" y="90413"/>
                    <a:pt x="702241" y="101571"/>
                  </a:cubicBezTo>
                  <a:cubicBezTo>
                    <a:pt x="691083" y="112729"/>
                    <a:pt x="675949" y="118998"/>
                    <a:pt x="660169" y="118998"/>
                  </a:cubicBezTo>
                  <a:lnTo>
                    <a:pt x="59499" y="118998"/>
                  </a:lnTo>
                  <a:cubicBezTo>
                    <a:pt x="43719" y="118998"/>
                    <a:pt x="28585" y="112729"/>
                    <a:pt x="17427" y="101571"/>
                  </a:cubicBezTo>
                  <a:cubicBezTo>
                    <a:pt x="6269" y="90413"/>
                    <a:pt x="0" y="75279"/>
                    <a:pt x="0" y="59499"/>
                  </a:cubicBezTo>
                  <a:lnTo>
                    <a:pt x="0" y="59499"/>
                  </a:lnTo>
                  <a:cubicBezTo>
                    <a:pt x="0" y="43719"/>
                    <a:pt x="6269" y="28585"/>
                    <a:pt x="17427" y="17427"/>
                  </a:cubicBezTo>
                  <a:cubicBezTo>
                    <a:pt x="28585" y="6269"/>
                    <a:pt x="43719" y="0"/>
                    <a:pt x="59499" y="0"/>
                  </a:cubicBezTo>
                  <a:close/>
                </a:path>
              </a:pathLst>
            </a:custGeom>
            <a:solidFill>
              <a:srgbClr val="97815B">
                <a:alpha val="12941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0" y="-47625"/>
              <a:ext cx="719668" cy="16662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10" name="TextBox 110"/>
          <p:cNvSpPr txBox="1"/>
          <p:nvPr/>
        </p:nvSpPr>
        <p:spPr>
          <a:xfrm>
            <a:off x="9236710" y="3926840"/>
            <a:ext cx="1964055" cy="4927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</a:pPr>
            <a:r>
              <a:rPr lang="en-US" sz="1465">
                <a:solidFill>
                  <a:srgbClr val="97815B"/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专业支持转介</a:t>
            </a:r>
          </a:p>
        </p:txBody>
      </p:sp>
      <p:sp>
        <p:nvSpPr>
          <p:cNvPr id="111" name="AutoShape 111"/>
          <p:cNvSpPr/>
          <p:nvPr/>
        </p:nvSpPr>
        <p:spPr>
          <a:xfrm>
            <a:off x="10192811" y="4477393"/>
            <a:ext cx="9895" cy="670070"/>
          </a:xfrm>
          <a:prstGeom prst="line">
            <a:avLst/>
          </a:prstGeom>
          <a:ln w="19050" cap="flat">
            <a:solidFill>
              <a:srgbClr val="97815B"/>
            </a:solidFill>
            <a:prstDash val="sysDash"/>
            <a:headEnd type="none" w="sm" len="sm"/>
            <a:tailEnd type="triangle" w="lg" len="med"/>
          </a:ln>
        </p:spPr>
      </p:sp>
      <p:sp>
        <p:nvSpPr>
          <p:cNvPr id="112" name="AutoShape 112"/>
          <p:cNvSpPr/>
          <p:nvPr/>
        </p:nvSpPr>
        <p:spPr>
          <a:xfrm flipH="1">
            <a:off x="7807643" y="5368117"/>
            <a:ext cx="709205" cy="0"/>
          </a:xfrm>
          <a:prstGeom prst="line">
            <a:avLst/>
          </a:prstGeom>
          <a:ln w="19050" cap="flat">
            <a:solidFill>
              <a:srgbClr val="97815B"/>
            </a:solidFill>
            <a:prstDash val="sysDash"/>
            <a:headEnd type="none" w="sm" len="sm"/>
            <a:tailEnd type="triangle" w="lg" len="med"/>
          </a:ln>
        </p:spPr>
      </p:sp>
      <p:sp>
        <p:nvSpPr>
          <p:cNvPr id="113" name="AutoShape 113"/>
          <p:cNvSpPr/>
          <p:nvPr/>
        </p:nvSpPr>
        <p:spPr>
          <a:xfrm flipH="1">
            <a:off x="3757464" y="5374467"/>
            <a:ext cx="709205" cy="0"/>
          </a:xfrm>
          <a:prstGeom prst="line">
            <a:avLst/>
          </a:prstGeom>
          <a:ln w="19050" cap="flat">
            <a:solidFill>
              <a:srgbClr val="97815B"/>
            </a:solidFill>
            <a:prstDash val="sysDash"/>
            <a:headEnd type="none" w="sm" len="sm"/>
            <a:tailEnd type="triangle" w="lg" len="med"/>
          </a:ln>
        </p:spPr>
      </p:sp>
      <p:sp>
        <p:nvSpPr>
          <p:cNvPr id="114" name="AutoShape 114"/>
          <p:cNvSpPr/>
          <p:nvPr/>
        </p:nvSpPr>
        <p:spPr>
          <a:xfrm flipH="1" flipV="1">
            <a:off x="2020619" y="4463214"/>
            <a:ext cx="6449" cy="719099"/>
          </a:xfrm>
          <a:prstGeom prst="line">
            <a:avLst/>
          </a:prstGeom>
          <a:ln w="19050" cap="flat">
            <a:solidFill>
              <a:srgbClr val="97815B"/>
            </a:solidFill>
            <a:prstDash val="sysDash"/>
            <a:headEnd type="none" w="sm" len="sm"/>
            <a:tailEnd type="triangle" w="lg" len="med"/>
          </a:ln>
        </p:spPr>
      </p:sp>
      <p:grpSp>
        <p:nvGrpSpPr>
          <p:cNvPr id="117" name="Group 117"/>
          <p:cNvGrpSpPr/>
          <p:nvPr/>
        </p:nvGrpSpPr>
        <p:grpSpPr>
          <a:xfrm>
            <a:off x="4964487" y="6549630"/>
            <a:ext cx="2047995" cy="304611"/>
            <a:chOff x="0" y="0"/>
            <a:chExt cx="688319" cy="102378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688319" cy="102378"/>
            </a:xfrm>
            <a:custGeom>
              <a:avLst/>
              <a:gdLst/>
              <a:ahLst/>
              <a:cxnLst/>
              <a:rect l="l" t="t" r="r" b="b"/>
              <a:pathLst>
                <a:path w="688319" h="102378">
                  <a:moveTo>
                    <a:pt x="51189" y="0"/>
                  </a:moveTo>
                  <a:lnTo>
                    <a:pt x="637130" y="0"/>
                  </a:lnTo>
                  <a:cubicBezTo>
                    <a:pt x="665401" y="0"/>
                    <a:pt x="688319" y="22918"/>
                    <a:pt x="688319" y="51189"/>
                  </a:cubicBezTo>
                  <a:lnTo>
                    <a:pt x="688319" y="51189"/>
                  </a:lnTo>
                  <a:cubicBezTo>
                    <a:pt x="688319" y="79460"/>
                    <a:pt x="665401" y="102378"/>
                    <a:pt x="637130" y="102378"/>
                  </a:cubicBezTo>
                  <a:lnTo>
                    <a:pt x="51189" y="102378"/>
                  </a:lnTo>
                  <a:cubicBezTo>
                    <a:pt x="22918" y="102378"/>
                    <a:pt x="0" y="79460"/>
                    <a:pt x="0" y="51189"/>
                  </a:cubicBezTo>
                  <a:lnTo>
                    <a:pt x="0" y="51189"/>
                  </a:lnTo>
                  <a:cubicBezTo>
                    <a:pt x="0" y="22918"/>
                    <a:pt x="22918" y="0"/>
                    <a:pt x="51189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19" name="TextBox 119"/>
            <p:cNvSpPr txBox="1"/>
            <p:nvPr/>
          </p:nvSpPr>
          <p:spPr>
            <a:xfrm>
              <a:off x="0" y="-47625"/>
              <a:ext cx="688319" cy="15000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5201285" y="6365875"/>
            <a:ext cx="1689735" cy="12477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2065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服务连接对象</a:t>
            </a:r>
          </a:p>
        </p:txBody>
      </p:sp>
      <p:sp>
        <p:nvSpPr>
          <p:cNvPr id="121" name="Freeform 121"/>
          <p:cNvSpPr/>
          <p:nvPr/>
        </p:nvSpPr>
        <p:spPr>
          <a:xfrm>
            <a:off x="3304540" y="6216015"/>
            <a:ext cx="1660525" cy="488950"/>
          </a:xfrm>
          <a:custGeom>
            <a:avLst/>
            <a:gdLst/>
            <a:ahLst/>
            <a:cxnLst/>
            <a:rect l="l" t="t" r="r" b="b"/>
            <a:pathLst>
              <a:path w="5168798" h="809017">
                <a:moveTo>
                  <a:pt x="0" y="0"/>
                </a:moveTo>
                <a:quadBezTo>
                  <a:pt x="1374130" y="1023164"/>
                  <a:pt x="5168799" y="752333"/>
                </a:quadBezTo>
              </a:path>
            </a:pathLst>
          </a:custGeom>
          <a:ln w="38100" cap="flat">
            <a:solidFill>
              <a:srgbClr val="97815B">
                <a:alpha val="51765"/>
              </a:srgbClr>
            </a:solidFill>
            <a:prstDash val="lgDash"/>
            <a:headEnd type="arrow" w="med" len="sm"/>
            <a:tailEnd type="none" w="sm" len="sm"/>
          </a:ln>
        </p:spPr>
      </p:sp>
      <p:sp>
        <p:nvSpPr>
          <p:cNvPr id="63" name="Freeform 121"/>
          <p:cNvSpPr/>
          <p:nvPr/>
        </p:nvSpPr>
        <p:spPr>
          <a:xfrm flipH="1">
            <a:off x="6998970" y="6216015"/>
            <a:ext cx="1598930" cy="488950"/>
          </a:xfrm>
          <a:custGeom>
            <a:avLst/>
            <a:gdLst/>
            <a:ahLst/>
            <a:cxnLst/>
            <a:rect l="l" t="t" r="r" b="b"/>
            <a:pathLst>
              <a:path w="5168798" h="809017">
                <a:moveTo>
                  <a:pt x="0" y="0"/>
                </a:moveTo>
                <a:quadBezTo>
                  <a:pt x="1374130" y="1023164"/>
                  <a:pt x="5168799" y="752333"/>
                </a:quadBezTo>
              </a:path>
            </a:pathLst>
          </a:custGeom>
          <a:ln w="38100" cap="flat">
            <a:solidFill>
              <a:srgbClr val="97815B">
                <a:alpha val="51765"/>
              </a:srgbClr>
            </a:solidFill>
            <a:prstDash val="lgDash"/>
            <a:headEnd type="arrow" w="med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288512">
            <a:off x="-607911" y="-829151"/>
            <a:ext cx="1658302" cy="1658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3134487">
            <a:off x="547797" y="396813"/>
            <a:ext cx="409655" cy="40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84200" y="-156210"/>
            <a:ext cx="11407140" cy="1473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核心创新一：</a:t>
            </a:r>
            <a:r>
              <a:rPr lang="zh-CN" alt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听澜知心——对话式情绪感知与长期状态洞察</a:t>
            </a:r>
          </a:p>
        </p:txBody>
      </p:sp>
      <p:sp>
        <p:nvSpPr>
          <p:cNvPr id="27" name="AutoShape 27"/>
          <p:cNvSpPr/>
          <p:nvPr/>
        </p:nvSpPr>
        <p:spPr>
          <a:xfrm>
            <a:off x="573079" y="835334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pic>
        <p:nvPicPr>
          <p:cNvPr id="99" name="图片 98"/>
          <p:cNvPicPr/>
          <p:nvPr/>
        </p:nvPicPr>
        <p:blipFill>
          <a:blip r:embed="rId2"/>
          <a:stretch>
            <a:fillRect/>
          </a:stretch>
        </p:blipFill>
        <p:spPr>
          <a:xfrm>
            <a:off x="635" y="1249680"/>
            <a:ext cx="12191365" cy="560832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3134487">
            <a:off x="-640192" y="397244"/>
            <a:ext cx="983512" cy="98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100" name="TextBox 28"/>
          <p:cNvSpPr txBox="1"/>
          <p:nvPr/>
        </p:nvSpPr>
        <p:spPr>
          <a:xfrm>
            <a:off x="584200" y="662305"/>
            <a:ext cx="11565255" cy="6553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215"/>
              </a:lnSpc>
            </a:pPr>
            <a:r>
              <a:rPr lang="zh-CN" altLang="en-US" sz="2000" b="1" spc="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在自然对话中听见细微变化，为认知状态提供</a:t>
            </a:r>
            <a:r>
              <a:rPr lang="zh-CN" altLang="en-US" sz="2000" b="1" spc="3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长期、个体化</a:t>
            </a:r>
            <a:r>
              <a:rPr lang="zh-CN" altLang="en-US" sz="2000" b="1" spc="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的风险提示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1206500" y="1417320"/>
            <a:ext cx="245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对话轨迹 + 记忆提取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5141595" y="1416685"/>
            <a:ext cx="2450465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情绪三档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周心情天气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9076690" y="1417320"/>
            <a:ext cx="2450465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周报 + 家属提示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492125" y="1836420"/>
            <a:ext cx="2032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不增加额外负担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492125" y="2106930"/>
            <a:ext cx="342328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老人无需额外操作，系统在日常对话中自动记录交互轨迹，并从中提取人物、爱好、生活习惯等记忆信息。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4482465" y="1824355"/>
            <a:ext cx="3274695" cy="306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不只判断一次异常，更关注长期变化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4314190" y="2106295"/>
            <a:ext cx="3553460" cy="40576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000"/>
              <a:t>系统从老人对话中识别情绪倾向，按“晴朗 / 平静 / 低落”三档自动记录，并汇总为一周“心情天气”，呈现长期变化。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8434070" y="1828165"/>
            <a:ext cx="3274695" cy="318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从发现变化到提供支持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8188325" y="2130425"/>
            <a:ext cx="3803015" cy="38163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000"/>
              <a:t>系统不凭单次对话直接判断，而是将每日情绪汇总为周趋势；当出现持续低落等变化时，向家属端生成状态提示。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810895" y="2463800"/>
            <a:ext cx="702310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>
                <a:latin typeface="黑体" panose="02010609060101010101" charset="-122"/>
                <a:ea typeface="黑体" panose="02010609060101010101" charset="-122"/>
              </a:rPr>
              <a:t>对话轨迹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2524760" y="2868295"/>
            <a:ext cx="701675" cy="133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>
                <a:latin typeface="黑体" panose="02010609060101010101" charset="-122"/>
                <a:ea typeface="黑体" panose="02010609060101010101" charset="-122"/>
              </a:rPr>
              <a:t>状态留存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810260" y="2860675"/>
            <a:ext cx="829945" cy="140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>
                <a:latin typeface="黑体" panose="02010609060101010101" charset="-122"/>
                <a:ea typeface="黑体" panose="02010609060101010101" charset="-122"/>
              </a:rPr>
              <a:t>情绪识别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2523490" y="2468880"/>
            <a:ext cx="702945" cy="121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>
                <a:latin typeface="黑体" panose="02010609060101010101" charset="-122"/>
                <a:ea typeface="黑体" panose="02010609060101010101" charset="-122"/>
              </a:rPr>
              <a:t>记忆提取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861695" y="2611755"/>
            <a:ext cx="1108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16" name="文本框 115"/>
          <p:cNvSpPr txBox="1"/>
          <p:nvPr/>
        </p:nvSpPr>
        <p:spPr>
          <a:xfrm>
            <a:off x="687705" y="2662555"/>
            <a:ext cx="1506855" cy="1981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700"/>
              <a:t>交互内容、轮次与时长记录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2333625" y="2661920"/>
            <a:ext cx="1581785" cy="1981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700"/>
              <a:t>家人关系、爱好与生活事实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687705" y="3051810"/>
            <a:ext cx="1574165" cy="1409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700"/>
              <a:t>晴/平/低 三档情绪判断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2332990" y="3064510"/>
            <a:ext cx="1634490" cy="1600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700"/>
              <a:t>当日情绪与周趋势入库</a:t>
            </a:r>
          </a:p>
        </p:txBody>
      </p:sp>
      <p:sp>
        <p:nvSpPr>
          <p:cNvPr id="120" name="流程图: 终止 119"/>
          <p:cNvSpPr/>
          <p:nvPr/>
        </p:nvSpPr>
        <p:spPr>
          <a:xfrm>
            <a:off x="442595" y="4916170"/>
            <a:ext cx="960755" cy="270510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A68A6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流程图: 终止 120"/>
          <p:cNvSpPr/>
          <p:nvPr/>
        </p:nvSpPr>
        <p:spPr>
          <a:xfrm>
            <a:off x="1639570" y="4902200"/>
            <a:ext cx="1019810" cy="284480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A68A6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流程图: 终止 121"/>
          <p:cNvSpPr/>
          <p:nvPr/>
        </p:nvSpPr>
        <p:spPr>
          <a:xfrm>
            <a:off x="3004185" y="4897120"/>
            <a:ext cx="911225" cy="283845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A68A6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/>
          <p:cNvSpPr txBox="1"/>
          <p:nvPr/>
        </p:nvSpPr>
        <p:spPr>
          <a:xfrm>
            <a:off x="404495" y="4916170"/>
            <a:ext cx="1108710" cy="27368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200"/>
              <a:t>日常自然对话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1639570" y="4926965"/>
            <a:ext cx="1097280" cy="25336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200"/>
              <a:t>记忆自动提取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3004185" y="4896485"/>
            <a:ext cx="950595" cy="2933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200"/>
              <a:t>适老化交互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4525010" y="2778125"/>
            <a:ext cx="1064895" cy="27305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0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对话情绪识别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5572760" y="2778760"/>
            <a:ext cx="1064895" cy="22288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10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三档情绪记录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6738620" y="2778760"/>
            <a:ext cx="1064895" cy="20066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10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周心情天气</a:t>
            </a:r>
          </a:p>
        </p:txBody>
      </p:sp>
      <p:sp>
        <p:nvSpPr>
          <p:cNvPr id="136" name="流程图: 终止 135"/>
          <p:cNvSpPr/>
          <p:nvPr/>
        </p:nvSpPr>
        <p:spPr>
          <a:xfrm>
            <a:off x="4313555" y="4927600"/>
            <a:ext cx="1120140" cy="271145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A68A6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4286250" y="4927600"/>
            <a:ext cx="1303655" cy="259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200"/>
              <a:t>无感情绪记录</a:t>
            </a:r>
          </a:p>
        </p:txBody>
      </p:sp>
      <p:sp>
        <p:nvSpPr>
          <p:cNvPr id="138" name="流程图: 终止 137"/>
          <p:cNvSpPr/>
          <p:nvPr/>
        </p:nvSpPr>
        <p:spPr>
          <a:xfrm>
            <a:off x="6738620" y="4927600"/>
            <a:ext cx="1064895" cy="271145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A68A6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流程图: 终止 138"/>
          <p:cNvSpPr/>
          <p:nvPr/>
        </p:nvSpPr>
        <p:spPr>
          <a:xfrm>
            <a:off x="5589905" y="4927600"/>
            <a:ext cx="960755" cy="270510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A68A6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/>
          <p:cNvSpPr txBox="1"/>
          <p:nvPr/>
        </p:nvSpPr>
        <p:spPr>
          <a:xfrm>
            <a:off x="6738620" y="4927600"/>
            <a:ext cx="1099185" cy="27114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200"/>
              <a:t>周趋势汇总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5572125" y="4927600"/>
            <a:ext cx="1166495" cy="25908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1200"/>
              <a:t>LLM</a:t>
            </a:r>
            <a:r>
              <a:rPr lang="zh-CN" altLang="en-US" sz="1200"/>
              <a:t>对话理解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8225790" y="2857500"/>
            <a:ext cx="701675" cy="288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自然对话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8927465" y="2857500"/>
            <a:ext cx="702310" cy="300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情绪识别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9526905" y="2857500"/>
            <a:ext cx="701675" cy="288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心情记录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10124440" y="2857500"/>
            <a:ext cx="829310" cy="367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000"/>
              <a:t>周趋势汇总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10825480" y="2870200"/>
            <a:ext cx="701675" cy="288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家属提示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8520430" y="3157220"/>
            <a:ext cx="1515745" cy="271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100"/>
              <a:t>自动推荐疗愈活动</a:t>
            </a:r>
          </a:p>
        </p:txBody>
      </p:sp>
      <p:sp>
        <p:nvSpPr>
          <p:cNvPr id="148" name="文本框 147"/>
          <p:cNvSpPr txBox="1"/>
          <p:nvPr/>
        </p:nvSpPr>
        <p:spPr>
          <a:xfrm>
            <a:off x="10228580" y="3145155"/>
            <a:ext cx="1470025" cy="283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100"/>
              <a:t>家属周报与状态提示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8564245" y="4902835"/>
            <a:ext cx="327406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 b="1" spc="-100">
                <a:solidFill>
                  <a:schemeClr val="bg1"/>
                </a:solidFill>
                <a:uFillTx/>
              </a:rPr>
              <a:t>隐私原则：只共享必要的趋势结论，不默认开放完整私人对话。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2179320" y="5629275"/>
            <a:ext cx="9076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暖伴将传统的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“一次性主动测评”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，转化为融入日常陪伴的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 长期情绪趋势观察 ”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2559685" y="6096000"/>
            <a:ext cx="950595" cy="3187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100" b="1">
                <a:solidFill>
                  <a:srgbClr val="7F6447"/>
                </a:solidFill>
              </a:rPr>
              <a:t>无感记录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2523490" y="6276340"/>
            <a:ext cx="1877060" cy="28829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900"/>
              <a:t>无需额外测试，融入自然对话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6917055" y="6096000"/>
            <a:ext cx="950595" cy="3187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100" b="1">
                <a:solidFill>
                  <a:srgbClr val="7F6447"/>
                </a:solidFill>
              </a:rPr>
              <a:t>闭环关怀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4746625" y="6096000"/>
            <a:ext cx="950595" cy="3187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100" b="1">
                <a:solidFill>
                  <a:srgbClr val="7F6447"/>
                </a:solidFill>
              </a:rPr>
              <a:t>情绪洞察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4673600" y="6276340"/>
            <a:ext cx="1877060" cy="28829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900"/>
              <a:t>三档情绪识别，汇成周心情天气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6916420" y="6276975"/>
            <a:ext cx="1647190" cy="28765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900"/>
              <a:t>周报与提示，联动家属支持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8804275" y="6276340"/>
            <a:ext cx="3187065" cy="28765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900"/>
              <a:t>仅用于情绪状态观察 与趋势辅助，不替代专业医疗诊断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8804910" y="6096635"/>
            <a:ext cx="1810385" cy="180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100" b="1">
                <a:solidFill>
                  <a:srgbClr val="7F6447"/>
                </a:solidFill>
              </a:rPr>
              <a:t>使用边界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" y="3280410"/>
            <a:ext cx="3423285" cy="15716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915" y="3145790"/>
            <a:ext cx="3403600" cy="17062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6280" y="3509010"/>
            <a:ext cx="3362960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288512">
            <a:off x="-607911" y="-829151"/>
            <a:ext cx="1658302" cy="1658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3134487">
            <a:off x="-640192" y="397244"/>
            <a:ext cx="983512" cy="98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3134487">
            <a:off x="547797" y="396813"/>
            <a:ext cx="409655" cy="40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84200" y="-154305"/>
            <a:ext cx="11472545" cy="14712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核心创新</a:t>
            </a:r>
            <a:r>
              <a:rPr lang="zh-CN" alt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二</a:t>
            </a:r>
            <a:r>
              <a:rPr 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：</a:t>
            </a:r>
            <a:r>
              <a:rPr lang="zh-CN" alt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忆藏于心——</a:t>
            </a:r>
            <a:r>
              <a:rPr lang="en-US" altLang="zh-CN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LLM</a:t>
            </a:r>
            <a:r>
              <a:rPr lang="zh-CN" alt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记忆抽取与上下文增强</a:t>
            </a:r>
          </a:p>
        </p:txBody>
      </p:sp>
      <p:sp>
        <p:nvSpPr>
          <p:cNvPr id="27" name="AutoShape 27"/>
          <p:cNvSpPr/>
          <p:nvPr/>
        </p:nvSpPr>
        <p:spPr>
          <a:xfrm>
            <a:off x="585779" y="835334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541655" y="670560"/>
            <a:ext cx="11472545" cy="6464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215"/>
              </a:lnSpc>
            </a:pPr>
            <a:r>
              <a:rPr lang="zh-CN" altLang="en-US" sz="2000" b="1" spc="4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1 Bold" panose="020B0800000000000000" charset="-122"/>
              </a:rPr>
              <a:t>为每位老人建立专属</a:t>
            </a:r>
            <a:r>
              <a:rPr lang="zh-CN" altLang="en-US" sz="2000" b="1" spc="465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1 Bold" panose="020B0800000000000000" charset="-122"/>
              </a:rPr>
              <a:t>“一生记忆库”</a:t>
            </a:r>
            <a:r>
              <a:rPr lang="zh-CN" altLang="en-US" sz="2000" b="1" spc="4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1 Bold" panose="020B0800000000000000" charset="-122"/>
              </a:rPr>
              <a:t>，让</a:t>
            </a:r>
            <a:r>
              <a:rPr lang="en-US" altLang="zh-CN" sz="2000" b="1" spc="4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1 Bold" panose="020B0800000000000000" charset="-122"/>
              </a:rPr>
              <a:t>AI</a:t>
            </a:r>
            <a:r>
              <a:rPr lang="zh-CN" altLang="en-US" sz="2000" b="1" spc="46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1 Bold" panose="020B0800000000000000" charset="-122"/>
              </a:rPr>
              <a:t>从记住信息走向理解人生。</a:t>
            </a:r>
          </a:p>
        </p:txBody>
      </p:sp>
      <p:pic>
        <p:nvPicPr>
          <p:cNvPr id="64" name="图片 6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16990"/>
            <a:ext cx="12193270" cy="554101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085" y="1449070"/>
            <a:ext cx="1651000" cy="314960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710" y="1449705"/>
            <a:ext cx="1651000" cy="315595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535" y="1447800"/>
            <a:ext cx="1651000" cy="32639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020" y="1818005"/>
            <a:ext cx="2127250" cy="25400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9285" y="1798955"/>
            <a:ext cx="2089150" cy="27305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975" y="1792605"/>
            <a:ext cx="2101850" cy="27940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377190" y="2049780"/>
            <a:ext cx="3436620" cy="430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000"/>
              <a:t>经老人或家属授权后，对话中提到的家人、爱好与经历会被自动整理入个人记忆库。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4358640" y="2049780"/>
            <a:ext cx="3257550" cy="388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000"/>
              <a:t>从对话中提取的家人关系与生活事实，按人物与主题组织存放，可随时查看、持续更新。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8235315" y="2072005"/>
            <a:ext cx="3348990" cy="389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000"/>
              <a:t>每次回应前先检索相关记忆并注入提示词，让回复贴合老人的真实经历与称呼习惯。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915" y="2440305"/>
            <a:ext cx="698500" cy="16510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2985" y="2421890"/>
            <a:ext cx="546100" cy="184150"/>
          </a:xfrm>
          <a:prstGeom prst="rect">
            <a:avLst/>
          </a:prstGeom>
        </p:spPr>
      </p:pic>
      <p:sp>
        <p:nvSpPr>
          <p:cNvPr id="78" name="文本框 77"/>
          <p:cNvSpPr txBox="1"/>
          <p:nvPr/>
        </p:nvSpPr>
        <p:spPr>
          <a:xfrm>
            <a:off x="1470660" y="2416810"/>
            <a:ext cx="739775" cy="189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75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语音 / 照片</a:t>
            </a: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1360" y="2421890"/>
            <a:ext cx="641350" cy="18478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3160" y="2422525"/>
            <a:ext cx="590550" cy="184150"/>
          </a:xfrm>
          <a:prstGeom prst="rect">
            <a:avLst/>
          </a:prstGeom>
        </p:spPr>
      </p:pic>
      <p:sp>
        <p:nvSpPr>
          <p:cNvPr id="81" name="文本框 80"/>
          <p:cNvSpPr txBox="1"/>
          <p:nvPr/>
        </p:nvSpPr>
        <p:spPr>
          <a:xfrm>
            <a:off x="5319395" y="2411730"/>
            <a:ext cx="766445" cy="193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75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记忆自动提取</a:t>
            </a: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6590" y="2438400"/>
            <a:ext cx="641350" cy="152400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8235315" y="2422525"/>
            <a:ext cx="589915" cy="200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75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记忆检索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8791575" y="2421890"/>
            <a:ext cx="702945" cy="200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75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上下文注入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10387965" y="2422525"/>
            <a:ext cx="765810" cy="200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75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语音播报</a:t>
            </a:r>
            <a:r>
              <a:rPr lang="en-US" altLang="zh-CN" sz="75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TTS</a:t>
            </a: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49220" y="6194425"/>
            <a:ext cx="1164590" cy="278765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2175" y="6187440"/>
            <a:ext cx="1105535" cy="28575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5445" y="6173470"/>
            <a:ext cx="1105535" cy="299720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2980" y="6197600"/>
            <a:ext cx="2603500" cy="286385"/>
          </a:xfrm>
          <a:prstGeom prst="rect">
            <a:avLst/>
          </a:prstGeom>
        </p:spPr>
      </p:pic>
      <p:sp>
        <p:nvSpPr>
          <p:cNvPr id="92" name="文本框 91"/>
          <p:cNvSpPr txBox="1"/>
          <p:nvPr/>
        </p:nvSpPr>
        <p:spPr>
          <a:xfrm>
            <a:off x="2099310" y="5681345"/>
            <a:ext cx="971359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暖伴将传统的“短期上下文记忆”，升级为</a:t>
            </a:r>
            <a:r>
              <a:rPr lang="zh-CN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授权可控、持续更新、可追溯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的个人生命记忆系统。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9565" y="3259455"/>
            <a:ext cx="4250055" cy="20116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9565" y="2952115"/>
            <a:ext cx="3851275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400" b="1">
                <a:solidFill>
                  <a:srgbClr val="7F6447"/>
                </a:solidFill>
              </a:rPr>
              <a:t>自动抽取并沉淀的个人记忆标签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9"/>
          <a:srcRect l="1410"/>
          <a:stretch>
            <a:fillRect/>
          </a:stretch>
        </p:blipFill>
        <p:spPr>
          <a:xfrm>
            <a:off x="4786630" y="3255010"/>
            <a:ext cx="7026275" cy="20415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786630" y="2957195"/>
            <a:ext cx="1540510" cy="289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400" b="1">
                <a:solidFill>
                  <a:srgbClr val="7F644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带着记忆的对话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288512">
            <a:off x="-607911" y="-829151"/>
            <a:ext cx="1658302" cy="1658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3134487">
            <a:off x="-640192" y="397244"/>
            <a:ext cx="983512" cy="98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3134487">
            <a:off x="547797" y="396813"/>
            <a:ext cx="409655" cy="40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628959" y="835334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1" name="TextBox 51"/>
          <p:cNvSpPr txBox="1"/>
          <p:nvPr/>
        </p:nvSpPr>
        <p:spPr>
          <a:xfrm>
            <a:off x="584200" y="-168910"/>
            <a:ext cx="11266805" cy="9556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核心创新三：</a:t>
            </a:r>
            <a:r>
              <a:rPr lang="zh-CN" altLang="en-US" sz="3200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旧声重唤——多模态怀旧疗愈与声音陪伴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84200" y="708025"/>
            <a:ext cx="11512550" cy="8712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215"/>
              </a:lnSpc>
            </a:pPr>
            <a:r>
              <a:rPr lang="zh-CN" altLang="en-US" sz="2000" b="1" spc="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让老照片成为记忆入口，将照片、口述与年代声音转化为</a:t>
            </a:r>
            <a:r>
              <a:rPr lang="zh-CN" altLang="en-US" sz="2000" b="1" spc="3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可回看、可分享</a:t>
            </a:r>
            <a:r>
              <a:rPr lang="zh-CN" altLang="en-US" sz="2000" b="1" spc="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的个人记忆影像</a:t>
            </a:r>
            <a:r>
              <a:rPr lang="zh-CN" altLang="en-US" sz="2000" b="1" spc="3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思源黑体 1 Bold" panose="020B0800000000000000" charset="-122"/>
                <a:sym typeface="思源黑体 1 Bold" panose="020B0800000000000000" charset="-122"/>
              </a:rPr>
              <a:t>。</a:t>
            </a: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10005"/>
            <a:ext cx="12192635" cy="55479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825" y="1425575"/>
            <a:ext cx="1581150" cy="2921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1425575"/>
            <a:ext cx="1638300" cy="2921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966835" y="1449070"/>
            <a:ext cx="1860550" cy="268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3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怀旧疗愈 · 声音回放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rcRect b="57895"/>
          <a:stretch>
            <a:fillRect/>
          </a:stretch>
        </p:blipFill>
        <p:spPr>
          <a:xfrm>
            <a:off x="541655" y="1774825"/>
            <a:ext cx="2252345" cy="254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222500" y="2400935"/>
            <a:ext cx="702945" cy="208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配文回忆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84200" y="2391410"/>
            <a:ext cx="703580" cy="219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照片上传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454150" y="2406015"/>
            <a:ext cx="702945" cy="219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相册整理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5" y="1774825"/>
            <a:ext cx="2025650" cy="2540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4384675" y="2028825"/>
            <a:ext cx="2529205" cy="365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老人对着照片口述往事，系统实时转写文字，并提取人物、地点与情绪线索存入记忆库。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19430" y="2028825"/>
            <a:ext cx="2328545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老人与家属上传老照片并配一句说明，照片成为打开话匣子的回忆入口。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413750" y="2069465"/>
            <a:ext cx="2660650" cy="321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按心情和年代为老人播放契合的老歌与往事话题，低落时自动推荐疗愈内容。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413115" y="1814830"/>
            <a:ext cx="1675130" cy="254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用年代之声唤起温暖回忆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769350" y="2400935"/>
            <a:ext cx="702945" cy="208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年代老歌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545320" y="2413635"/>
            <a:ext cx="702945" cy="208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心情推荐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0420350" y="2407285"/>
            <a:ext cx="702945" cy="208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主动关怀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8387715" y="2520315"/>
            <a:ext cx="234950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600" y="2419350"/>
            <a:ext cx="584200" cy="1778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7665" y="2419350"/>
            <a:ext cx="433705" cy="1873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198235" y="2394585"/>
            <a:ext cx="702945" cy="208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9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记忆入库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0330" y="6182995"/>
            <a:ext cx="826770" cy="28765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775" y="6182995"/>
            <a:ext cx="928370" cy="292735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9570" y="6188710"/>
            <a:ext cx="871855" cy="28702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2975" y="6188710"/>
            <a:ext cx="2362200" cy="27305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015490" y="5614035"/>
            <a:ext cx="9834880" cy="574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17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暖伴将老照片从“静态资料”转化为“记忆入口”，帮助老人</a:t>
            </a:r>
            <a:r>
              <a:rPr lang="zh-CN" altLang="en-US" sz="17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表达、整理和保存</a:t>
            </a:r>
            <a:r>
              <a:rPr lang="zh-CN" altLang="en-US" sz="17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属于自己的生命故事。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3300" y="2987040"/>
            <a:ext cx="6993890" cy="229806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3B3A0717-3D70-EB4A-B79F-F4F423F46C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19" y="3010544"/>
            <a:ext cx="4022983" cy="23164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971" y="6268307"/>
            <a:ext cx="777579" cy="101256"/>
            <a:chOff x="0" y="0"/>
            <a:chExt cx="1555157" cy="20251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2512" cy="2025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70529" y="0"/>
              <a:ext cx="202512" cy="2025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41058" y="0"/>
              <a:ext cx="202512" cy="2025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1587" y="0"/>
              <a:ext cx="202512" cy="2025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82116" y="0"/>
              <a:ext cx="202512" cy="2025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52644" y="0"/>
              <a:ext cx="202512" cy="2025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 rot="10510853">
            <a:off x="-1194047" y="2645061"/>
            <a:ext cx="6336215" cy="633621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 rot="10510853">
            <a:off x="-1504257" y="998011"/>
            <a:ext cx="3757908" cy="375790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7" name="Group 27"/>
          <p:cNvGrpSpPr/>
          <p:nvPr/>
        </p:nvGrpSpPr>
        <p:grpSpPr>
          <a:xfrm rot="10510853">
            <a:off x="2950442" y="2453089"/>
            <a:ext cx="1565252" cy="156525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672965" y="2908935"/>
            <a:ext cx="7124700" cy="1400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5515" b="1">
                <a:solidFill>
                  <a:srgbClr val="100F0D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系统架构与实现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99027" y="1712873"/>
            <a:ext cx="1079571" cy="107957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55230" y="1483360"/>
            <a:ext cx="1355090" cy="15989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521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03</a:t>
            </a:r>
          </a:p>
        </p:txBody>
      </p:sp>
      <p:grpSp>
        <p:nvGrpSpPr>
          <p:cNvPr id="35" name="Group 35"/>
          <p:cNvGrpSpPr/>
          <p:nvPr/>
        </p:nvGrpSpPr>
        <p:grpSpPr>
          <a:xfrm rot="10510853">
            <a:off x="10462058" y="-1878954"/>
            <a:ext cx="3757908" cy="3757908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3D3D3">
                <a:alpha val="100000"/>
              </a:srgbClr>
            </a:gs>
            <a:gs pos="33333">
              <a:srgbClr val="FFFEFF">
                <a:alpha val="100000"/>
              </a:srgbClr>
            </a:gs>
            <a:gs pos="66667">
              <a:srgbClr val="FFFEFF">
                <a:alpha val="100000"/>
              </a:srgbClr>
            </a:gs>
            <a:gs pos="100000">
              <a:srgbClr val="D3D3D3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5144" y="856289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584509" y="1634947"/>
            <a:ext cx="2485178" cy="2692919"/>
            <a:chOff x="0" y="0"/>
            <a:chExt cx="937819" cy="10162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7819" cy="1016213"/>
            </a:xfrm>
            <a:custGeom>
              <a:avLst/>
              <a:gdLst/>
              <a:ahLst/>
              <a:cxnLst/>
              <a:rect l="l" t="t" r="r" b="b"/>
              <a:pathLst>
                <a:path w="937819" h="1016213">
                  <a:moveTo>
                    <a:pt x="16615" y="0"/>
                  </a:moveTo>
                  <a:lnTo>
                    <a:pt x="921204" y="0"/>
                  </a:lnTo>
                  <a:cubicBezTo>
                    <a:pt x="925611" y="0"/>
                    <a:pt x="929837" y="1750"/>
                    <a:pt x="932953" y="4866"/>
                  </a:cubicBezTo>
                  <a:cubicBezTo>
                    <a:pt x="936069" y="7982"/>
                    <a:pt x="937819" y="12208"/>
                    <a:pt x="937819" y="16615"/>
                  </a:cubicBezTo>
                  <a:lnTo>
                    <a:pt x="937819" y="999599"/>
                  </a:lnTo>
                  <a:cubicBezTo>
                    <a:pt x="937819" y="1004005"/>
                    <a:pt x="936069" y="1008231"/>
                    <a:pt x="932953" y="1011347"/>
                  </a:cubicBezTo>
                  <a:cubicBezTo>
                    <a:pt x="929837" y="1014463"/>
                    <a:pt x="925611" y="1016213"/>
                    <a:pt x="921204" y="1016213"/>
                  </a:cubicBezTo>
                  <a:lnTo>
                    <a:pt x="16615" y="1016213"/>
                  </a:lnTo>
                  <a:cubicBezTo>
                    <a:pt x="12208" y="1016213"/>
                    <a:pt x="7982" y="1014463"/>
                    <a:pt x="4866" y="1011347"/>
                  </a:cubicBezTo>
                  <a:cubicBezTo>
                    <a:pt x="1750" y="1008231"/>
                    <a:pt x="0" y="1004005"/>
                    <a:pt x="0" y="999599"/>
                  </a:cubicBezTo>
                  <a:lnTo>
                    <a:pt x="0" y="16615"/>
                  </a:lnTo>
                  <a:cubicBezTo>
                    <a:pt x="0" y="12208"/>
                    <a:pt x="1750" y="7982"/>
                    <a:pt x="4866" y="4866"/>
                  </a:cubicBezTo>
                  <a:cubicBezTo>
                    <a:pt x="7982" y="1750"/>
                    <a:pt x="12208" y="0"/>
                    <a:pt x="166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4000"/>
                  </a:srgbClr>
                </a:gs>
                <a:gs pos="50000">
                  <a:srgbClr val="C0AE8F">
                    <a:alpha val="14000"/>
                  </a:srgbClr>
                </a:gs>
                <a:gs pos="100000">
                  <a:srgbClr val="D8D4CF">
                    <a:alpha val="1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37819" cy="1054313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12776" y="1673250"/>
            <a:ext cx="2243303" cy="635187"/>
            <a:chOff x="0" y="0"/>
            <a:chExt cx="846544" cy="239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6544" cy="239697"/>
            </a:xfrm>
            <a:custGeom>
              <a:avLst/>
              <a:gdLst/>
              <a:ahLst/>
              <a:cxnLst/>
              <a:rect l="l" t="t" r="r" b="b"/>
              <a:pathLst>
                <a:path w="846544" h="239697">
                  <a:moveTo>
                    <a:pt x="18406" y="0"/>
                  </a:moveTo>
                  <a:lnTo>
                    <a:pt x="828138" y="0"/>
                  </a:lnTo>
                  <a:cubicBezTo>
                    <a:pt x="838303" y="0"/>
                    <a:pt x="846544" y="8241"/>
                    <a:pt x="846544" y="18406"/>
                  </a:cubicBezTo>
                  <a:lnTo>
                    <a:pt x="846544" y="221291"/>
                  </a:lnTo>
                  <a:cubicBezTo>
                    <a:pt x="846544" y="231457"/>
                    <a:pt x="838303" y="239697"/>
                    <a:pt x="828138" y="239697"/>
                  </a:cubicBezTo>
                  <a:lnTo>
                    <a:pt x="18406" y="239697"/>
                  </a:lnTo>
                  <a:cubicBezTo>
                    <a:pt x="8241" y="239697"/>
                    <a:pt x="0" y="231457"/>
                    <a:pt x="0" y="221291"/>
                  </a:cubicBezTo>
                  <a:lnTo>
                    <a:pt x="0" y="18406"/>
                  </a:lnTo>
                  <a:cubicBezTo>
                    <a:pt x="0" y="8241"/>
                    <a:pt x="8241" y="0"/>
                    <a:pt x="184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46544" cy="277797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>
            <a:off x="2429011" y="1805545"/>
            <a:ext cx="324817" cy="370641"/>
          </a:xfrm>
          <a:custGeom>
            <a:avLst/>
            <a:gdLst/>
            <a:ahLst/>
            <a:cxnLst/>
            <a:rect l="l" t="t" r="r" b="b"/>
            <a:pathLst>
              <a:path w="487225" h="555962">
                <a:moveTo>
                  <a:pt x="0" y="0"/>
                </a:moveTo>
                <a:lnTo>
                  <a:pt x="487225" y="0"/>
                </a:lnTo>
                <a:lnTo>
                  <a:pt x="487225" y="555962"/>
                </a:lnTo>
                <a:lnTo>
                  <a:pt x="0" y="55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70" y="3931009"/>
            <a:ext cx="2691963" cy="493527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3410021" y="1634947"/>
            <a:ext cx="2262626" cy="2692919"/>
            <a:chOff x="0" y="0"/>
            <a:chExt cx="853836" cy="10162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836" cy="1016213"/>
            </a:xfrm>
            <a:custGeom>
              <a:avLst/>
              <a:gdLst/>
              <a:ahLst/>
              <a:cxnLst/>
              <a:rect l="l" t="t" r="r" b="b"/>
              <a:pathLst>
                <a:path w="853836" h="1016213">
                  <a:moveTo>
                    <a:pt x="18249" y="0"/>
                  </a:moveTo>
                  <a:lnTo>
                    <a:pt x="835587" y="0"/>
                  </a:lnTo>
                  <a:cubicBezTo>
                    <a:pt x="845666" y="0"/>
                    <a:pt x="853836" y="8170"/>
                    <a:pt x="853836" y="18249"/>
                  </a:cubicBezTo>
                  <a:lnTo>
                    <a:pt x="853836" y="997965"/>
                  </a:lnTo>
                  <a:cubicBezTo>
                    <a:pt x="853836" y="1008043"/>
                    <a:pt x="845666" y="1016213"/>
                    <a:pt x="835587" y="1016213"/>
                  </a:cubicBezTo>
                  <a:lnTo>
                    <a:pt x="18249" y="1016213"/>
                  </a:lnTo>
                  <a:cubicBezTo>
                    <a:pt x="8170" y="1016213"/>
                    <a:pt x="0" y="1008043"/>
                    <a:pt x="0" y="997965"/>
                  </a:cubicBezTo>
                  <a:lnTo>
                    <a:pt x="0" y="18249"/>
                  </a:lnTo>
                  <a:cubicBezTo>
                    <a:pt x="0" y="8170"/>
                    <a:pt x="8170" y="0"/>
                    <a:pt x="182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4000"/>
                  </a:srgbClr>
                </a:gs>
                <a:gs pos="50000">
                  <a:srgbClr val="C0AE8F">
                    <a:alpha val="14000"/>
                  </a:srgbClr>
                </a:gs>
                <a:gs pos="100000">
                  <a:srgbClr val="D8D4CF">
                    <a:alpha val="1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53836" cy="1054313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29345" y="1673250"/>
            <a:ext cx="2243303" cy="635187"/>
            <a:chOff x="0" y="0"/>
            <a:chExt cx="846544" cy="2396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6544" cy="239697"/>
            </a:xfrm>
            <a:custGeom>
              <a:avLst/>
              <a:gdLst/>
              <a:ahLst/>
              <a:cxnLst/>
              <a:rect l="l" t="t" r="r" b="b"/>
              <a:pathLst>
                <a:path w="846544" h="239697">
                  <a:moveTo>
                    <a:pt x="18406" y="0"/>
                  </a:moveTo>
                  <a:lnTo>
                    <a:pt x="828138" y="0"/>
                  </a:lnTo>
                  <a:cubicBezTo>
                    <a:pt x="838303" y="0"/>
                    <a:pt x="846544" y="8241"/>
                    <a:pt x="846544" y="18406"/>
                  </a:cubicBezTo>
                  <a:lnTo>
                    <a:pt x="846544" y="221291"/>
                  </a:lnTo>
                  <a:cubicBezTo>
                    <a:pt x="846544" y="231457"/>
                    <a:pt x="838303" y="239697"/>
                    <a:pt x="828138" y="239697"/>
                  </a:cubicBezTo>
                  <a:lnTo>
                    <a:pt x="18406" y="239697"/>
                  </a:lnTo>
                  <a:cubicBezTo>
                    <a:pt x="8241" y="239697"/>
                    <a:pt x="0" y="231457"/>
                    <a:pt x="0" y="221291"/>
                  </a:cubicBezTo>
                  <a:lnTo>
                    <a:pt x="0" y="18406"/>
                  </a:lnTo>
                  <a:cubicBezTo>
                    <a:pt x="0" y="8241"/>
                    <a:pt x="8241" y="0"/>
                    <a:pt x="184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46544" cy="277797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5347831" y="1805545"/>
            <a:ext cx="324817" cy="370641"/>
          </a:xfrm>
          <a:custGeom>
            <a:avLst/>
            <a:gdLst/>
            <a:ahLst/>
            <a:cxnLst/>
            <a:rect l="l" t="t" r="r" b="b"/>
            <a:pathLst>
              <a:path w="487225" h="555962">
                <a:moveTo>
                  <a:pt x="0" y="0"/>
                </a:moveTo>
                <a:lnTo>
                  <a:pt x="487224" y="0"/>
                </a:lnTo>
                <a:lnTo>
                  <a:pt x="487224" y="555962"/>
                </a:lnTo>
                <a:lnTo>
                  <a:pt x="0" y="55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317" y="3953442"/>
            <a:ext cx="2691963" cy="493527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6014779" y="1634947"/>
            <a:ext cx="2243623" cy="2692919"/>
            <a:chOff x="0" y="0"/>
            <a:chExt cx="846664" cy="10162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6664" cy="1016213"/>
            </a:xfrm>
            <a:custGeom>
              <a:avLst/>
              <a:gdLst/>
              <a:ahLst/>
              <a:cxnLst/>
              <a:rect l="l" t="t" r="r" b="b"/>
              <a:pathLst>
                <a:path w="846664" h="1016213">
                  <a:moveTo>
                    <a:pt x="18403" y="0"/>
                  </a:moveTo>
                  <a:lnTo>
                    <a:pt x="828261" y="0"/>
                  </a:lnTo>
                  <a:cubicBezTo>
                    <a:pt x="833142" y="0"/>
                    <a:pt x="837823" y="1939"/>
                    <a:pt x="841274" y="5390"/>
                  </a:cubicBezTo>
                  <a:cubicBezTo>
                    <a:pt x="844725" y="8842"/>
                    <a:pt x="846664" y="13523"/>
                    <a:pt x="846664" y="18403"/>
                  </a:cubicBezTo>
                  <a:lnTo>
                    <a:pt x="846664" y="997810"/>
                  </a:lnTo>
                  <a:cubicBezTo>
                    <a:pt x="846664" y="1002691"/>
                    <a:pt x="844725" y="1007372"/>
                    <a:pt x="841274" y="1010823"/>
                  </a:cubicBezTo>
                  <a:cubicBezTo>
                    <a:pt x="837823" y="1014274"/>
                    <a:pt x="833142" y="1016213"/>
                    <a:pt x="828261" y="1016213"/>
                  </a:cubicBezTo>
                  <a:lnTo>
                    <a:pt x="18403" y="1016213"/>
                  </a:lnTo>
                  <a:cubicBezTo>
                    <a:pt x="8239" y="1016213"/>
                    <a:pt x="0" y="1007974"/>
                    <a:pt x="0" y="997810"/>
                  </a:cubicBezTo>
                  <a:lnTo>
                    <a:pt x="0" y="18403"/>
                  </a:lnTo>
                  <a:cubicBezTo>
                    <a:pt x="0" y="13523"/>
                    <a:pt x="1939" y="8842"/>
                    <a:pt x="5390" y="5390"/>
                  </a:cubicBezTo>
                  <a:cubicBezTo>
                    <a:pt x="8842" y="1939"/>
                    <a:pt x="13523" y="0"/>
                    <a:pt x="184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4000"/>
                  </a:srgbClr>
                </a:gs>
                <a:gs pos="50000">
                  <a:srgbClr val="C0AE8F">
                    <a:alpha val="14000"/>
                  </a:srgbClr>
                </a:gs>
                <a:gs pos="100000">
                  <a:srgbClr val="D8D4CF">
                    <a:alpha val="1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46664" cy="1054313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15099" y="1673272"/>
            <a:ext cx="2243303" cy="635187"/>
            <a:chOff x="0" y="0"/>
            <a:chExt cx="846544" cy="2396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46544" cy="239697"/>
            </a:xfrm>
            <a:custGeom>
              <a:avLst/>
              <a:gdLst/>
              <a:ahLst/>
              <a:cxnLst/>
              <a:rect l="l" t="t" r="r" b="b"/>
              <a:pathLst>
                <a:path w="846544" h="239697">
                  <a:moveTo>
                    <a:pt x="18406" y="0"/>
                  </a:moveTo>
                  <a:lnTo>
                    <a:pt x="828138" y="0"/>
                  </a:lnTo>
                  <a:cubicBezTo>
                    <a:pt x="838303" y="0"/>
                    <a:pt x="846544" y="8241"/>
                    <a:pt x="846544" y="18406"/>
                  </a:cubicBezTo>
                  <a:lnTo>
                    <a:pt x="846544" y="221291"/>
                  </a:lnTo>
                  <a:cubicBezTo>
                    <a:pt x="846544" y="231457"/>
                    <a:pt x="838303" y="239697"/>
                    <a:pt x="828138" y="239697"/>
                  </a:cubicBezTo>
                  <a:lnTo>
                    <a:pt x="18406" y="239697"/>
                  </a:lnTo>
                  <a:cubicBezTo>
                    <a:pt x="8241" y="239697"/>
                    <a:pt x="0" y="231457"/>
                    <a:pt x="0" y="221291"/>
                  </a:cubicBezTo>
                  <a:lnTo>
                    <a:pt x="0" y="18406"/>
                  </a:lnTo>
                  <a:cubicBezTo>
                    <a:pt x="0" y="8241"/>
                    <a:pt x="8241" y="0"/>
                    <a:pt x="184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46544" cy="277797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5" name="Freeform 25"/>
          <p:cNvSpPr/>
          <p:nvPr/>
        </p:nvSpPr>
        <p:spPr>
          <a:xfrm>
            <a:off x="7812740" y="1805545"/>
            <a:ext cx="324817" cy="370641"/>
          </a:xfrm>
          <a:custGeom>
            <a:avLst/>
            <a:gdLst/>
            <a:ahLst/>
            <a:cxnLst/>
            <a:rect l="l" t="t" r="r" b="b"/>
            <a:pathLst>
              <a:path w="487225" h="555962">
                <a:moveTo>
                  <a:pt x="0" y="0"/>
                </a:moveTo>
                <a:lnTo>
                  <a:pt x="487225" y="0"/>
                </a:lnTo>
                <a:lnTo>
                  <a:pt x="487225" y="555962"/>
                </a:lnTo>
                <a:lnTo>
                  <a:pt x="0" y="55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17" y="3931009"/>
            <a:ext cx="2691963" cy="493527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8654664" y="1634947"/>
            <a:ext cx="2485178" cy="2692919"/>
            <a:chOff x="0" y="0"/>
            <a:chExt cx="937819" cy="10162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7819" cy="1016213"/>
            </a:xfrm>
            <a:custGeom>
              <a:avLst/>
              <a:gdLst/>
              <a:ahLst/>
              <a:cxnLst/>
              <a:rect l="l" t="t" r="r" b="b"/>
              <a:pathLst>
                <a:path w="937819" h="1016213">
                  <a:moveTo>
                    <a:pt x="16615" y="0"/>
                  </a:moveTo>
                  <a:lnTo>
                    <a:pt x="921204" y="0"/>
                  </a:lnTo>
                  <a:cubicBezTo>
                    <a:pt x="925611" y="0"/>
                    <a:pt x="929837" y="1750"/>
                    <a:pt x="932953" y="4866"/>
                  </a:cubicBezTo>
                  <a:cubicBezTo>
                    <a:pt x="936069" y="7982"/>
                    <a:pt x="937819" y="12208"/>
                    <a:pt x="937819" y="16615"/>
                  </a:cubicBezTo>
                  <a:lnTo>
                    <a:pt x="937819" y="999599"/>
                  </a:lnTo>
                  <a:cubicBezTo>
                    <a:pt x="937819" y="1004005"/>
                    <a:pt x="936069" y="1008231"/>
                    <a:pt x="932953" y="1011347"/>
                  </a:cubicBezTo>
                  <a:cubicBezTo>
                    <a:pt x="929837" y="1014463"/>
                    <a:pt x="925611" y="1016213"/>
                    <a:pt x="921204" y="1016213"/>
                  </a:cubicBezTo>
                  <a:lnTo>
                    <a:pt x="16615" y="1016213"/>
                  </a:lnTo>
                  <a:cubicBezTo>
                    <a:pt x="12208" y="1016213"/>
                    <a:pt x="7982" y="1014463"/>
                    <a:pt x="4866" y="1011347"/>
                  </a:cubicBezTo>
                  <a:cubicBezTo>
                    <a:pt x="1750" y="1008231"/>
                    <a:pt x="0" y="1004005"/>
                    <a:pt x="0" y="999599"/>
                  </a:cubicBezTo>
                  <a:lnTo>
                    <a:pt x="0" y="16615"/>
                  </a:lnTo>
                  <a:cubicBezTo>
                    <a:pt x="0" y="12208"/>
                    <a:pt x="1750" y="7982"/>
                    <a:pt x="4866" y="4866"/>
                  </a:cubicBezTo>
                  <a:cubicBezTo>
                    <a:pt x="7982" y="1750"/>
                    <a:pt x="12208" y="0"/>
                    <a:pt x="166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4000"/>
                  </a:srgbClr>
                </a:gs>
                <a:gs pos="50000">
                  <a:srgbClr val="C0AE8F">
                    <a:alpha val="14000"/>
                  </a:srgbClr>
                </a:gs>
                <a:gs pos="100000">
                  <a:srgbClr val="D8D4CF">
                    <a:alpha val="1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937819" cy="1054313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683852" y="1673272"/>
            <a:ext cx="2243303" cy="635187"/>
            <a:chOff x="0" y="0"/>
            <a:chExt cx="846544" cy="2396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46544" cy="239697"/>
            </a:xfrm>
            <a:custGeom>
              <a:avLst/>
              <a:gdLst/>
              <a:ahLst/>
              <a:cxnLst/>
              <a:rect l="l" t="t" r="r" b="b"/>
              <a:pathLst>
                <a:path w="846544" h="239697">
                  <a:moveTo>
                    <a:pt x="18406" y="0"/>
                  </a:moveTo>
                  <a:lnTo>
                    <a:pt x="828138" y="0"/>
                  </a:lnTo>
                  <a:cubicBezTo>
                    <a:pt x="838303" y="0"/>
                    <a:pt x="846544" y="8241"/>
                    <a:pt x="846544" y="18406"/>
                  </a:cubicBezTo>
                  <a:lnTo>
                    <a:pt x="846544" y="221291"/>
                  </a:lnTo>
                  <a:cubicBezTo>
                    <a:pt x="846544" y="231457"/>
                    <a:pt x="838303" y="239697"/>
                    <a:pt x="828138" y="239697"/>
                  </a:cubicBezTo>
                  <a:lnTo>
                    <a:pt x="18406" y="239697"/>
                  </a:lnTo>
                  <a:cubicBezTo>
                    <a:pt x="8241" y="239697"/>
                    <a:pt x="0" y="231457"/>
                    <a:pt x="0" y="221291"/>
                  </a:cubicBezTo>
                  <a:lnTo>
                    <a:pt x="0" y="18406"/>
                  </a:lnTo>
                  <a:cubicBezTo>
                    <a:pt x="0" y="8241"/>
                    <a:pt x="8241" y="0"/>
                    <a:pt x="184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46544" cy="277797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33" name="Freeform 33"/>
          <p:cNvSpPr/>
          <p:nvPr/>
        </p:nvSpPr>
        <p:spPr>
          <a:xfrm>
            <a:off x="10502127" y="1805545"/>
            <a:ext cx="324817" cy="370641"/>
          </a:xfrm>
          <a:custGeom>
            <a:avLst/>
            <a:gdLst/>
            <a:ahLst/>
            <a:cxnLst/>
            <a:rect l="l" t="t" r="r" b="b"/>
            <a:pathLst>
              <a:path w="487225" h="555962">
                <a:moveTo>
                  <a:pt x="0" y="0"/>
                </a:moveTo>
                <a:lnTo>
                  <a:pt x="487225" y="0"/>
                </a:lnTo>
                <a:lnTo>
                  <a:pt x="487225" y="555962"/>
                </a:lnTo>
                <a:lnTo>
                  <a:pt x="0" y="555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205" y="3931009"/>
            <a:ext cx="2691963" cy="493527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622935" y="4447540"/>
            <a:ext cx="5216525" cy="1920875"/>
            <a:chOff x="0" y="0"/>
            <a:chExt cx="1968507" cy="64805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68507" cy="648057"/>
            </a:xfrm>
            <a:custGeom>
              <a:avLst/>
              <a:gdLst/>
              <a:ahLst/>
              <a:cxnLst/>
              <a:rect l="l" t="t" r="r" b="b"/>
              <a:pathLst>
                <a:path w="1968507" h="648057">
                  <a:moveTo>
                    <a:pt x="7915" y="0"/>
                  </a:moveTo>
                  <a:lnTo>
                    <a:pt x="1960591" y="0"/>
                  </a:lnTo>
                  <a:cubicBezTo>
                    <a:pt x="1962691" y="0"/>
                    <a:pt x="1964704" y="834"/>
                    <a:pt x="1966189" y="2318"/>
                  </a:cubicBezTo>
                  <a:cubicBezTo>
                    <a:pt x="1967673" y="3803"/>
                    <a:pt x="1968507" y="5816"/>
                    <a:pt x="1968507" y="7915"/>
                  </a:cubicBezTo>
                  <a:lnTo>
                    <a:pt x="1968507" y="640142"/>
                  </a:lnTo>
                  <a:cubicBezTo>
                    <a:pt x="1968507" y="644513"/>
                    <a:pt x="1964963" y="648057"/>
                    <a:pt x="1960591" y="648057"/>
                  </a:cubicBezTo>
                  <a:lnTo>
                    <a:pt x="7915" y="648057"/>
                  </a:lnTo>
                  <a:cubicBezTo>
                    <a:pt x="3544" y="648057"/>
                    <a:pt x="0" y="644513"/>
                    <a:pt x="0" y="640142"/>
                  </a:cubicBezTo>
                  <a:lnTo>
                    <a:pt x="0" y="7915"/>
                  </a:lnTo>
                  <a:cubicBezTo>
                    <a:pt x="0" y="3544"/>
                    <a:pt x="3544" y="0"/>
                    <a:pt x="79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AE8F">
                    <a:alpha val="57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968507" cy="686157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201545" y="5068570"/>
            <a:ext cx="1122045" cy="372745"/>
            <a:chOff x="0" y="0"/>
            <a:chExt cx="299371" cy="8521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99371" cy="85210"/>
            </a:xfrm>
            <a:custGeom>
              <a:avLst/>
              <a:gdLst/>
              <a:ahLst/>
              <a:cxnLst/>
              <a:rect l="l" t="t" r="r" b="b"/>
              <a:pathLst>
                <a:path w="299371" h="85210">
                  <a:moveTo>
                    <a:pt x="42605" y="0"/>
                  </a:moveTo>
                  <a:lnTo>
                    <a:pt x="256766" y="0"/>
                  </a:lnTo>
                  <a:cubicBezTo>
                    <a:pt x="268065" y="0"/>
                    <a:pt x="278902" y="4489"/>
                    <a:pt x="286892" y="12479"/>
                  </a:cubicBezTo>
                  <a:cubicBezTo>
                    <a:pt x="294882" y="20469"/>
                    <a:pt x="299371" y="31306"/>
                    <a:pt x="299371" y="42605"/>
                  </a:cubicBezTo>
                  <a:lnTo>
                    <a:pt x="299371" y="42605"/>
                  </a:lnTo>
                  <a:cubicBezTo>
                    <a:pt x="299371" y="66135"/>
                    <a:pt x="280296" y="85210"/>
                    <a:pt x="256766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99371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047240" y="5772150"/>
            <a:ext cx="1283970" cy="353060"/>
            <a:chOff x="0" y="0"/>
            <a:chExt cx="299371" cy="8521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9371" cy="85210"/>
            </a:xfrm>
            <a:custGeom>
              <a:avLst/>
              <a:gdLst/>
              <a:ahLst/>
              <a:cxnLst/>
              <a:rect l="l" t="t" r="r" b="b"/>
              <a:pathLst>
                <a:path w="299371" h="85210">
                  <a:moveTo>
                    <a:pt x="42605" y="0"/>
                  </a:moveTo>
                  <a:lnTo>
                    <a:pt x="256766" y="0"/>
                  </a:lnTo>
                  <a:cubicBezTo>
                    <a:pt x="268065" y="0"/>
                    <a:pt x="278902" y="4489"/>
                    <a:pt x="286892" y="12479"/>
                  </a:cubicBezTo>
                  <a:cubicBezTo>
                    <a:pt x="294882" y="20469"/>
                    <a:pt x="299371" y="31306"/>
                    <a:pt x="299371" y="42605"/>
                  </a:cubicBezTo>
                  <a:lnTo>
                    <a:pt x="299371" y="42605"/>
                  </a:lnTo>
                  <a:cubicBezTo>
                    <a:pt x="299371" y="66135"/>
                    <a:pt x="280296" y="85210"/>
                    <a:pt x="256766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ln w="9525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99371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699000" y="5074920"/>
            <a:ext cx="1179195" cy="366395"/>
            <a:chOff x="0" y="0"/>
            <a:chExt cx="439523" cy="7964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39523" cy="79645"/>
            </a:xfrm>
            <a:custGeom>
              <a:avLst/>
              <a:gdLst/>
              <a:ahLst/>
              <a:cxnLst/>
              <a:rect l="l" t="t" r="r" b="b"/>
              <a:pathLst>
                <a:path w="439523" h="79645">
                  <a:moveTo>
                    <a:pt x="39822" y="0"/>
                  </a:moveTo>
                  <a:lnTo>
                    <a:pt x="399700" y="0"/>
                  </a:lnTo>
                  <a:cubicBezTo>
                    <a:pt x="421693" y="0"/>
                    <a:pt x="439523" y="17829"/>
                    <a:pt x="439523" y="39822"/>
                  </a:cubicBezTo>
                  <a:lnTo>
                    <a:pt x="439523" y="39822"/>
                  </a:lnTo>
                  <a:cubicBezTo>
                    <a:pt x="439523" y="61816"/>
                    <a:pt x="421693" y="79645"/>
                    <a:pt x="399700" y="79645"/>
                  </a:cubicBezTo>
                  <a:lnTo>
                    <a:pt x="39822" y="79645"/>
                  </a:lnTo>
                  <a:cubicBezTo>
                    <a:pt x="17829" y="79645"/>
                    <a:pt x="0" y="61816"/>
                    <a:pt x="0" y="39822"/>
                  </a:cubicBezTo>
                  <a:lnTo>
                    <a:pt x="0" y="39822"/>
                  </a:lnTo>
                  <a:cubicBezTo>
                    <a:pt x="0" y="17829"/>
                    <a:pt x="17829" y="0"/>
                    <a:pt x="398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39523" cy="11774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429635" y="5074920"/>
            <a:ext cx="1177290" cy="366395"/>
            <a:chOff x="0" y="0"/>
            <a:chExt cx="365605" cy="8521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5605" cy="85210"/>
            </a:xfrm>
            <a:custGeom>
              <a:avLst/>
              <a:gdLst/>
              <a:ahLst/>
              <a:cxnLst/>
              <a:rect l="l" t="t" r="r" b="b"/>
              <a:pathLst>
                <a:path w="365605" h="85210">
                  <a:moveTo>
                    <a:pt x="42605" y="0"/>
                  </a:moveTo>
                  <a:lnTo>
                    <a:pt x="323000" y="0"/>
                  </a:lnTo>
                  <a:cubicBezTo>
                    <a:pt x="346530" y="0"/>
                    <a:pt x="365605" y="19075"/>
                    <a:pt x="365605" y="42605"/>
                  </a:cubicBezTo>
                  <a:lnTo>
                    <a:pt x="365605" y="42605"/>
                  </a:lnTo>
                  <a:cubicBezTo>
                    <a:pt x="365605" y="66135"/>
                    <a:pt x="346530" y="85210"/>
                    <a:pt x="323000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ln w="9525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365605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19190" y="4446905"/>
            <a:ext cx="5216525" cy="1920875"/>
            <a:chOff x="0" y="0"/>
            <a:chExt cx="1968507" cy="64805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968507" cy="648057"/>
            </a:xfrm>
            <a:custGeom>
              <a:avLst/>
              <a:gdLst/>
              <a:ahLst/>
              <a:cxnLst/>
              <a:rect l="l" t="t" r="r" b="b"/>
              <a:pathLst>
                <a:path w="1968507" h="648057">
                  <a:moveTo>
                    <a:pt x="7915" y="0"/>
                  </a:moveTo>
                  <a:lnTo>
                    <a:pt x="1960591" y="0"/>
                  </a:lnTo>
                  <a:cubicBezTo>
                    <a:pt x="1962691" y="0"/>
                    <a:pt x="1964704" y="834"/>
                    <a:pt x="1966189" y="2318"/>
                  </a:cubicBezTo>
                  <a:cubicBezTo>
                    <a:pt x="1967673" y="3803"/>
                    <a:pt x="1968507" y="5816"/>
                    <a:pt x="1968507" y="7915"/>
                  </a:cubicBezTo>
                  <a:lnTo>
                    <a:pt x="1968507" y="640142"/>
                  </a:lnTo>
                  <a:cubicBezTo>
                    <a:pt x="1968507" y="644513"/>
                    <a:pt x="1964963" y="648057"/>
                    <a:pt x="1960591" y="648057"/>
                  </a:cubicBezTo>
                  <a:lnTo>
                    <a:pt x="7915" y="648057"/>
                  </a:lnTo>
                  <a:cubicBezTo>
                    <a:pt x="3544" y="648057"/>
                    <a:pt x="0" y="644513"/>
                    <a:pt x="0" y="640142"/>
                  </a:cubicBezTo>
                  <a:lnTo>
                    <a:pt x="0" y="7915"/>
                  </a:lnTo>
                  <a:cubicBezTo>
                    <a:pt x="0" y="3544"/>
                    <a:pt x="3544" y="0"/>
                    <a:pt x="79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AE8F">
                    <a:alpha val="57000"/>
                  </a:srgbClr>
                </a:gs>
                <a:gs pos="100000">
                  <a:srgbClr val="FFFFFF">
                    <a:alpha val="57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968507" cy="686157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924165" y="5078095"/>
            <a:ext cx="1122045" cy="363220"/>
            <a:chOff x="0" y="0"/>
            <a:chExt cx="299371" cy="8521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99371" cy="85210"/>
            </a:xfrm>
            <a:custGeom>
              <a:avLst/>
              <a:gdLst/>
              <a:ahLst/>
              <a:cxnLst/>
              <a:rect l="l" t="t" r="r" b="b"/>
              <a:pathLst>
                <a:path w="299371" h="85210">
                  <a:moveTo>
                    <a:pt x="42605" y="0"/>
                  </a:moveTo>
                  <a:lnTo>
                    <a:pt x="256766" y="0"/>
                  </a:lnTo>
                  <a:cubicBezTo>
                    <a:pt x="268065" y="0"/>
                    <a:pt x="278902" y="4489"/>
                    <a:pt x="286892" y="12479"/>
                  </a:cubicBezTo>
                  <a:cubicBezTo>
                    <a:pt x="294882" y="20469"/>
                    <a:pt x="299371" y="31306"/>
                    <a:pt x="299371" y="42605"/>
                  </a:cubicBezTo>
                  <a:lnTo>
                    <a:pt x="299371" y="42605"/>
                  </a:lnTo>
                  <a:cubicBezTo>
                    <a:pt x="299371" y="66135"/>
                    <a:pt x="280296" y="85210"/>
                    <a:pt x="256766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299371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159240" y="5078730"/>
            <a:ext cx="1017270" cy="362585"/>
            <a:chOff x="0" y="0"/>
            <a:chExt cx="299371" cy="8521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99371" cy="85210"/>
            </a:xfrm>
            <a:custGeom>
              <a:avLst/>
              <a:gdLst/>
              <a:ahLst/>
              <a:cxnLst/>
              <a:rect l="l" t="t" r="r" b="b"/>
              <a:pathLst>
                <a:path w="299371" h="85210">
                  <a:moveTo>
                    <a:pt x="42605" y="0"/>
                  </a:moveTo>
                  <a:lnTo>
                    <a:pt x="256766" y="0"/>
                  </a:lnTo>
                  <a:cubicBezTo>
                    <a:pt x="268065" y="0"/>
                    <a:pt x="278902" y="4489"/>
                    <a:pt x="286892" y="12479"/>
                  </a:cubicBezTo>
                  <a:cubicBezTo>
                    <a:pt x="294882" y="20469"/>
                    <a:pt x="299371" y="31306"/>
                    <a:pt x="299371" y="42605"/>
                  </a:cubicBezTo>
                  <a:lnTo>
                    <a:pt x="299371" y="42605"/>
                  </a:lnTo>
                  <a:cubicBezTo>
                    <a:pt x="299371" y="66135"/>
                    <a:pt x="280296" y="85210"/>
                    <a:pt x="256766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ln w="9525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299371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71760" y="5078730"/>
            <a:ext cx="1163955" cy="382270"/>
            <a:chOff x="0" y="0"/>
            <a:chExt cx="299371" cy="8521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99371" cy="85210"/>
            </a:xfrm>
            <a:custGeom>
              <a:avLst/>
              <a:gdLst/>
              <a:ahLst/>
              <a:cxnLst/>
              <a:rect l="l" t="t" r="r" b="b"/>
              <a:pathLst>
                <a:path w="299371" h="85210">
                  <a:moveTo>
                    <a:pt x="42605" y="0"/>
                  </a:moveTo>
                  <a:lnTo>
                    <a:pt x="256766" y="0"/>
                  </a:lnTo>
                  <a:cubicBezTo>
                    <a:pt x="268065" y="0"/>
                    <a:pt x="278902" y="4489"/>
                    <a:pt x="286892" y="12479"/>
                  </a:cubicBezTo>
                  <a:cubicBezTo>
                    <a:pt x="294882" y="20469"/>
                    <a:pt x="299371" y="31306"/>
                    <a:pt x="299371" y="42605"/>
                  </a:cubicBezTo>
                  <a:lnTo>
                    <a:pt x="299371" y="42605"/>
                  </a:lnTo>
                  <a:cubicBezTo>
                    <a:pt x="299371" y="66135"/>
                    <a:pt x="280296" y="85210"/>
                    <a:pt x="256766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299371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89850" y="5772150"/>
            <a:ext cx="1193165" cy="374015"/>
            <a:chOff x="0" y="0"/>
            <a:chExt cx="299371" cy="8521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99371" cy="85210"/>
            </a:xfrm>
            <a:custGeom>
              <a:avLst/>
              <a:gdLst/>
              <a:ahLst/>
              <a:cxnLst/>
              <a:rect l="l" t="t" r="r" b="b"/>
              <a:pathLst>
                <a:path w="299371" h="85210">
                  <a:moveTo>
                    <a:pt x="42605" y="0"/>
                  </a:moveTo>
                  <a:lnTo>
                    <a:pt x="256766" y="0"/>
                  </a:lnTo>
                  <a:cubicBezTo>
                    <a:pt x="268065" y="0"/>
                    <a:pt x="278902" y="4489"/>
                    <a:pt x="286892" y="12479"/>
                  </a:cubicBezTo>
                  <a:cubicBezTo>
                    <a:pt x="294882" y="20469"/>
                    <a:pt x="299371" y="31306"/>
                    <a:pt x="299371" y="42605"/>
                  </a:cubicBezTo>
                  <a:lnTo>
                    <a:pt x="299371" y="42605"/>
                  </a:lnTo>
                  <a:cubicBezTo>
                    <a:pt x="299371" y="66135"/>
                    <a:pt x="280296" y="85210"/>
                    <a:pt x="256766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ln w="9525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299371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584200" y="-187960"/>
            <a:ext cx="3064510" cy="11582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735" b="1" spc="207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整体架构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85800" y="1634490"/>
            <a:ext cx="1643380" cy="7258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2135" spc="435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用户交互层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16560" y="2308225"/>
            <a:ext cx="2299970" cy="18129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690880" lvl="1" indent="-345440" algn="just" fontAlgn="auto">
              <a:lnSpc>
                <a:spcPts val="3000"/>
              </a:lnSpc>
              <a:buFont typeface="Arial" panose="020B0604020202020204"/>
              <a:buChar char="•"/>
            </a:pPr>
            <a:endParaRPr lang="en-US" sz="2400" spc="476">
              <a:solidFill>
                <a:srgbClr val="737373"/>
              </a:solidFill>
              <a:latin typeface="黑体" panose="02010609060101010101" charset="-122"/>
              <a:ea typeface="黑体" panose="02010609060101010101" charset="-122"/>
              <a:cs typeface="可画耀动黑-简" panose="020B0500000000000000" charset="-122"/>
              <a:sym typeface="可画耀动黑-简" panose="020B0500000000000000" charset="-122"/>
            </a:endParaRPr>
          </a:p>
          <a:p>
            <a:pPr marL="690880" lvl="1" indent="-345440" algn="just" fontAlgn="auto">
              <a:lnSpc>
                <a:spcPts val="4500"/>
              </a:lnSpc>
              <a:buFont typeface="Arial" panose="020B0604020202020204"/>
              <a:buChar char="•"/>
            </a:pPr>
            <a:r>
              <a:rPr lang="en-US" sz="2400" spc="47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老人端；</a:t>
            </a:r>
          </a:p>
          <a:p>
            <a:pPr marL="690880" lvl="1" indent="-345440" algn="just" fontAlgn="auto">
              <a:lnSpc>
                <a:spcPts val="4500"/>
              </a:lnSpc>
              <a:buFont typeface="Arial" panose="020B0604020202020204"/>
              <a:buChar char="•"/>
            </a:pPr>
            <a:r>
              <a:rPr lang="en-US" sz="2400" spc="47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子女端；</a:t>
            </a:r>
          </a:p>
          <a:p>
            <a:pPr marL="0" lvl="0" indent="0" algn="just">
              <a:lnSpc>
                <a:spcPts val="5120"/>
              </a:lnSpc>
            </a:pPr>
            <a:endParaRPr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3484245" y="1633855"/>
            <a:ext cx="1965325" cy="7010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2135" spc="435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多模态接入层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096000" y="1633855"/>
            <a:ext cx="1828165" cy="7010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2135" spc="435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AI核心层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725535" y="1634490"/>
            <a:ext cx="1638935" cy="7258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2135" spc="435">
                <a:solidFill>
                  <a:srgbClr val="FFFFFF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安全与决策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461895" y="4327525"/>
            <a:ext cx="3335020" cy="6438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just">
              <a:lnSpc>
                <a:spcPts val="4480"/>
              </a:lnSpc>
              <a:spcBef>
                <a:spcPct val="0"/>
              </a:spcBef>
            </a:pPr>
            <a:r>
              <a:rPr lang="en-US" sz="2135" spc="476">
                <a:solidFill>
                  <a:srgbClr val="3E3939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数据</a:t>
            </a:r>
            <a:r>
              <a:rPr lang="zh-CN" altLang="en-US" sz="2135" spc="476">
                <a:solidFill>
                  <a:srgbClr val="3E3939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与记忆</a:t>
            </a:r>
            <a:r>
              <a:rPr lang="en-US" sz="2135" spc="476">
                <a:solidFill>
                  <a:srgbClr val="3E3939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服务层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409950" y="5074920"/>
            <a:ext cx="1196975" cy="3663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情绪</a:t>
            </a:r>
            <a:r>
              <a:rPr lang="zh-CN" alt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变化</a:t>
            </a:r>
            <a:r>
              <a:rPr 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记录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200910" y="5074285"/>
            <a:ext cx="1122680" cy="3670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用户</a:t>
            </a:r>
            <a:r>
              <a:rPr lang="zh-CN" alt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基础</a:t>
            </a:r>
            <a:r>
              <a:rPr 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数据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744085" y="5078095"/>
            <a:ext cx="1121410" cy="3632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对话历史数据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813040" y="4328160"/>
            <a:ext cx="3446145" cy="7956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2135" spc="476">
                <a:solidFill>
                  <a:srgbClr val="3E3939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应用</a:t>
            </a:r>
            <a:r>
              <a:rPr lang="zh-CN" altLang="en-US" sz="2135" spc="476">
                <a:solidFill>
                  <a:srgbClr val="3E3939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服务</a:t>
            </a:r>
            <a:r>
              <a:rPr lang="en-US" sz="2135" spc="476">
                <a:solidFill>
                  <a:srgbClr val="3E3939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层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924165" y="5078095"/>
            <a:ext cx="1179830" cy="3638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日常</a:t>
            </a:r>
            <a:r>
              <a:rPr 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情感陪伴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159240" y="5068570"/>
            <a:ext cx="1112520" cy="3981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个性化对话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316210" y="5078730"/>
            <a:ext cx="1099185" cy="4197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回忆影像生成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689850" y="5760720"/>
            <a:ext cx="1193165" cy="3854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认知训练辅助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84200" y="770890"/>
            <a:ext cx="8328025" cy="8648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215"/>
              </a:lnSpc>
            </a:pPr>
            <a:r>
              <a:rPr lang="en-US" sz="2485" b="1" spc="465">
                <a:gradFill>
                  <a:gsLst>
                    <a:gs pos="0">
                      <a:srgbClr val="000000">
                        <a:alpha val="69000"/>
                      </a:srgbClr>
                    </a:gs>
                    <a:gs pos="100000">
                      <a:srgbClr val="3533CD">
                        <a:alpha val="69000"/>
                      </a:srgbClr>
                    </a:gs>
                  </a:gsLst>
                  <a:lin ang="0"/>
                </a:gra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多模态感知、记忆增强与智能体协同的系统架构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214370" y="2247265"/>
            <a:ext cx="2458720" cy="26936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579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文字输入；</a:t>
            </a:r>
          </a:p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579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语音识别；</a:t>
            </a:r>
          </a:p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579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语音合成；</a:t>
            </a:r>
          </a:p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579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图像上传；</a:t>
            </a:r>
          </a:p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579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行为数据采集。</a:t>
            </a:r>
          </a:p>
          <a:p>
            <a:pPr marL="0" lvl="0" indent="0" algn="just">
              <a:lnSpc>
                <a:spcPts val="5120"/>
              </a:lnSpc>
            </a:pPr>
            <a:endParaRPr sz="1700"/>
          </a:p>
        </p:txBody>
      </p:sp>
      <p:sp>
        <p:nvSpPr>
          <p:cNvPr id="86" name="TextBox 86"/>
          <p:cNvSpPr txBox="1"/>
          <p:nvPr/>
        </p:nvSpPr>
        <p:spPr>
          <a:xfrm>
            <a:off x="5878195" y="2325370"/>
            <a:ext cx="2263775" cy="20929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539750" lvl="1" indent="-269875" algn="just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500" spc="67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老年专属大模型；</a:t>
            </a:r>
          </a:p>
          <a:p>
            <a:pPr marL="539750" lvl="1" indent="-269875" algn="just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500" spc="67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LoRA适配器；</a:t>
            </a:r>
          </a:p>
          <a:p>
            <a:pPr marL="539750" lvl="1" indent="-269875" algn="just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500" spc="67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文本情感分析；</a:t>
            </a:r>
          </a:p>
          <a:p>
            <a:pPr marL="539750" lvl="1" indent="-269875" algn="just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500" spc="67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多模态情绪融合；</a:t>
            </a:r>
          </a:p>
          <a:p>
            <a:pPr marL="539750" lvl="1" indent="-269875" algn="just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500" spc="67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RAG知识检索；</a:t>
            </a:r>
          </a:p>
          <a:p>
            <a:pPr marL="539750" lvl="1" indent="-269875" algn="just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500" spc="67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长期记忆；</a:t>
            </a:r>
          </a:p>
          <a:p>
            <a:pPr marL="539750" lvl="1" indent="-269875" algn="just" fontAlgn="auto">
              <a:lnSpc>
                <a:spcPts val="2000"/>
              </a:lnSpc>
              <a:buFont typeface="Arial" panose="020B0604020202020204"/>
              <a:buChar char="•"/>
            </a:pPr>
            <a:r>
              <a:rPr lang="en-US" sz="1500" spc="67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Agent任务调度。</a:t>
            </a:r>
          </a:p>
          <a:p>
            <a:pPr marL="0" lvl="0" indent="0" algn="just" fontAlgn="auto">
              <a:lnSpc>
                <a:spcPts val="1800"/>
              </a:lnSpc>
            </a:pPr>
            <a:endParaRPr sz="1500"/>
          </a:p>
        </p:txBody>
      </p:sp>
      <p:sp>
        <p:nvSpPr>
          <p:cNvPr id="87" name="TextBox 87"/>
          <p:cNvSpPr txBox="1"/>
          <p:nvPr/>
        </p:nvSpPr>
        <p:spPr>
          <a:xfrm>
            <a:off x="8501380" y="2449195"/>
            <a:ext cx="2293620" cy="16713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81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敏感信息脱敏；</a:t>
            </a:r>
          </a:p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81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内容安全检测；</a:t>
            </a:r>
          </a:p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81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医疗边界控制；</a:t>
            </a:r>
          </a:p>
          <a:p>
            <a:pPr marL="647700" lvl="1" indent="-323850" algn="just" fontAlgn="auto">
              <a:lnSpc>
                <a:spcPts val="3000"/>
              </a:lnSpc>
              <a:buFont typeface="Arial" panose="020B0604020202020204"/>
              <a:buChar char="•"/>
            </a:pPr>
            <a:r>
              <a:rPr lang="en-US" sz="1700" spc="81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权限管理；</a:t>
            </a:r>
            <a:endParaRPr sz="1200"/>
          </a:p>
        </p:txBody>
      </p:sp>
      <p:sp>
        <p:nvSpPr>
          <p:cNvPr id="88" name="TextBox 88"/>
          <p:cNvSpPr txBox="1"/>
          <p:nvPr/>
        </p:nvSpPr>
        <p:spPr>
          <a:xfrm>
            <a:off x="2041525" y="5791835"/>
            <a:ext cx="1282065" cy="3536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个人</a:t>
            </a:r>
            <a:r>
              <a:rPr 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向量记忆库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3409950" y="5770880"/>
            <a:ext cx="1380490" cy="354330"/>
            <a:chOff x="0" y="0"/>
            <a:chExt cx="355508" cy="8639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55508" cy="86397"/>
            </a:xfrm>
            <a:custGeom>
              <a:avLst/>
              <a:gdLst/>
              <a:ahLst/>
              <a:cxnLst/>
              <a:rect l="l" t="t" r="r" b="b"/>
              <a:pathLst>
                <a:path w="355508" h="86397">
                  <a:moveTo>
                    <a:pt x="43198" y="0"/>
                  </a:moveTo>
                  <a:lnTo>
                    <a:pt x="312309" y="0"/>
                  </a:lnTo>
                  <a:cubicBezTo>
                    <a:pt x="336167" y="0"/>
                    <a:pt x="355508" y="19341"/>
                    <a:pt x="355508" y="43198"/>
                  </a:cubicBezTo>
                  <a:lnTo>
                    <a:pt x="355508" y="43198"/>
                  </a:lnTo>
                  <a:cubicBezTo>
                    <a:pt x="355508" y="54655"/>
                    <a:pt x="350956" y="65643"/>
                    <a:pt x="342855" y="73744"/>
                  </a:cubicBezTo>
                  <a:cubicBezTo>
                    <a:pt x="334754" y="81846"/>
                    <a:pt x="323766" y="86397"/>
                    <a:pt x="312309" y="86397"/>
                  </a:cubicBezTo>
                  <a:lnTo>
                    <a:pt x="43198" y="86397"/>
                  </a:lnTo>
                  <a:cubicBezTo>
                    <a:pt x="31741" y="86397"/>
                    <a:pt x="20754" y="81846"/>
                    <a:pt x="12653" y="73744"/>
                  </a:cubicBezTo>
                  <a:cubicBezTo>
                    <a:pt x="4551" y="65643"/>
                    <a:pt x="0" y="54655"/>
                    <a:pt x="0" y="43198"/>
                  </a:cubicBezTo>
                  <a:lnTo>
                    <a:pt x="0" y="43198"/>
                  </a:lnTo>
                  <a:cubicBezTo>
                    <a:pt x="0" y="31741"/>
                    <a:pt x="4551" y="20754"/>
                    <a:pt x="12653" y="12653"/>
                  </a:cubicBezTo>
                  <a:cubicBezTo>
                    <a:pt x="20754" y="4551"/>
                    <a:pt x="31741" y="0"/>
                    <a:pt x="4319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355508" cy="12449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3429635" y="5770880"/>
            <a:ext cx="1360805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老人专属</a:t>
            </a:r>
            <a:r>
              <a:rPr 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知识库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4899025" y="5765165"/>
            <a:ext cx="1319530" cy="379730"/>
            <a:chOff x="0" y="0"/>
            <a:chExt cx="473638" cy="89248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73638" cy="89248"/>
            </a:xfrm>
            <a:custGeom>
              <a:avLst/>
              <a:gdLst/>
              <a:ahLst/>
              <a:cxnLst/>
              <a:rect l="l" t="t" r="r" b="b"/>
              <a:pathLst>
                <a:path w="473638" h="89248">
                  <a:moveTo>
                    <a:pt x="44624" y="0"/>
                  </a:moveTo>
                  <a:lnTo>
                    <a:pt x="429014" y="0"/>
                  </a:lnTo>
                  <a:cubicBezTo>
                    <a:pt x="440849" y="0"/>
                    <a:pt x="452200" y="4701"/>
                    <a:pt x="460568" y="13070"/>
                  </a:cubicBezTo>
                  <a:cubicBezTo>
                    <a:pt x="468937" y="21439"/>
                    <a:pt x="473638" y="32789"/>
                    <a:pt x="473638" y="44624"/>
                  </a:cubicBezTo>
                  <a:lnTo>
                    <a:pt x="473638" y="44624"/>
                  </a:lnTo>
                  <a:cubicBezTo>
                    <a:pt x="473638" y="56459"/>
                    <a:pt x="468937" y="67809"/>
                    <a:pt x="460568" y="76178"/>
                  </a:cubicBezTo>
                  <a:cubicBezTo>
                    <a:pt x="452200" y="84547"/>
                    <a:pt x="440849" y="89248"/>
                    <a:pt x="429014" y="89248"/>
                  </a:cubicBezTo>
                  <a:lnTo>
                    <a:pt x="44624" y="89248"/>
                  </a:lnTo>
                  <a:cubicBezTo>
                    <a:pt x="32789" y="89248"/>
                    <a:pt x="21439" y="84547"/>
                    <a:pt x="13070" y="76178"/>
                  </a:cubicBezTo>
                  <a:cubicBezTo>
                    <a:pt x="4701" y="67809"/>
                    <a:pt x="0" y="56459"/>
                    <a:pt x="0" y="44624"/>
                  </a:cubicBezTo>
                  <a:lnTo>
                    <a:pt x="0" y="44624"/>
                  </a:lnTo>
                  <a:cubicBezTo>
                    <a:pt x="0" y="32789"/>
                    <a:pt x="4701" y="21439"/>
                    <a:pt x="13070" y="13070"/>
                  </a:cubicBezTo>
                  <a:cubicBezTo>
                    <a:pt x="21439" y="4701"/>
                    <a:pt x="32789" y="0"/>
                    <a:pt x="44624" y="0"/>
                  </a:cubicBezTo>
                  <a:close/>
                </a:path>
              </a:pathLst>
            </a:custGeom>
            <a:ln w="9525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473638" cy="127348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4899025" y="5771515"/>
            <a:ext cx="1318895" cy="3746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200" spc="186">
                <a:solidFill>
                  <a:srgbClr val="737373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照片与音频存储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8953500" y="5760720"/>
            <a:ext cx="1223010" cy="364490"/>
            <a:chOff x="0" y="0"/>
            <a:chExt cx="323697" cy="80976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23697" cy="80976"/>
            </a:xfrm>
            <a:custGeom>
              <a:avLst/>
              <a:gdLst/>
              <a:ahLst/>
              <a:cxnLst/>
              <a:rect l="l" t="t" r="r" b="b"/>
              <a:pathLst>
                <a:path w="323697" h="80976">
                  <a:moveTo>
                    <a:pt x="40488" y="0"/>
                  </a:moveTo>
                  <a:lnTo>
                    <a:pt x="283209" y="0"/>
                  </a:lnTo>
                  <a:cubicBezTo>
                    <a:pt x="305570" y="0"/>
                    <a:pt x="323697" y="18127"/>
                    <a:pt x="323697" y="40488"/>
                  </a:cubicBezTo>
                  <a:lnTo>
                    <a:pt x="323697" y="40488"/>
                  </a:lnTo>
                  <a:cubicBezTo>
                    <a:pt x="323697" y="62849"/>
                    <a:pt x="305570" y="80976"/>
                    <a:pt x="283209" y="80976"/>
                  </a:cubicBezTo>
                  <a:lnTo>
                    <a:pt x="40488" y="80976"/>
                  </a:lnTo>
                  <a:cubicBezTo>
                    <a:pt x="18127" y="80976"/>
                    <a:pt x="0" y="62849"/>
                    <a:pt x="0" y="40488"/>
                  </a:cubicBezTo>
                  <a:lnTo>
                    <a:pt x="0" y="40488"/>
                  </a:lnTo>
                  <a:cubicBezTo>
                    <a:pt x="0" y="18127"/>
                    <a:pt x="18127" y="0"/>
                    <a:pt x="404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323697" cy="119076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8953500" y="5772150"/>
            <a:ext cx="1223010" cy="3333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家庭状态守护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0272395" y="5772150"/>
            <a:ext cx="1164590" cy="353060"/>
            <a:chOff x="0" y="0"/>
            <a:chExt cx="299371" cy="8521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99371" cy="85210"/>
            </a:xfrm>
            <a:custGeom>
              <a:avLst/>
              <a:gdLst/>
              <a:ahLst/>
              <a:cxnLst/>
              <a:rect l="l" t="t" r="r" b="b"/>
              <a:pathLst>
                <a:path w="299371" h="85210">
                  <a:moveTo>
                    <a:pt x="42605" y="0"/>
                  </a:moveTo>
                  <a:lnTo>
                    <a:pt x="256766" y="0"/>
                  </a:lnTo>
                  <a:cubicBezTo>
                    <a:pt x="268065" y="0"/>
                    <a:pt x="278902" y="4489"/>
                    <a:pt x="286892" y="12479"/>
                  </a:cubicBezTo>
                  <a:cubicBezTo>
                    <a:pt x="294882" y="20469"/>
                    <a:pt x="299371" y="31306"/>
                    <a:pt x="299371" y="42605"/>
                  </a:cubicBezTo>
                  <a:lnTo>
                    <a:pt x="299371" y="42605"/>
                  </a:lnTo>
                  <a:cubicBezTo>
                    <a:pt x="299371" y="66135"/>
                    <a:pt x="280296" y="85210"/>
                    <a:pt x="256766" y="85210"/>
                  </a:cubicBezTo>
                  <a:lnTo>
                    <a:pt x="42605" y="85210"/>
                  </a:lnTo>
                  <a:cubicBezTo>
                    <a:pt x="19075" y="85210"/>
                    <a:pt x="0" y="66135"/>
                    <a:pt x="0" y="42605"/>
                  </a:cubicBezTo>
                  <a:lnTo>
                    <a:pt x="0" y="42605"/>
                  </a:lnTo>
                  <a:cubicBezTo>
                    <a:pt x="0" y="19075"/>
                    <a:pt x="19075" y="0"/>
                    <a:pt x="42605" y="0"/>
                  </a:cubicBezTo>
                  <a:close/>
                </a:path>
              </a:pathLst>
            </a:custGeom>
            <a:ln w="9525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299371" cy="12331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10272395" y="5791835"/>
            <a:ext cx="1163955" cy="3333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zh-CN" altLang="en-US" sz="1200" spc="186">
                <a:solidFill>
                  <a:srgbClr val="737373"/>
                </a:solidFill>
                <a:latin typeface="黑体" panose="02010609060101010101" charset="-122"/>
                <a:ea typeface="黑体" panose="02010609060101010101" charset="-122"/>
                <a:cs typeface="可画耀动黑-简" panose="020B0500000000000000" charset="-122"/>
                <a:sym typeface="可画耀动黑-简" panose="020B0500000000000000" charset="-122"/>
              </a:rPr>
              <a:t>社区养老协同</a:t>
            </a: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7"/>
          <a:srcRect l="1015" t="1647" r="2431" b="2370"/>
          <a:stretch>
            <a:fillRect/>
          </a:stretch>
        </p:blipFill>
        <p:spPr>
          <a:xfrm>
            <a:off x="685800" y="4829175"/>
            <a:ext cx="1362075" cy="1361440"/>
          </a:xfrm>
          <a:prstGeom prst="ellipse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8"/>
          <a:srcRect t="1211" r="2331" b="1691"/>
          <a:stretch>
            <a:fillRect/>
          </a:stretch>
        </p:blipFill>
        <p:spPr>
          <a:xfrm>
            <a:off x="6329045" y="4829175"/>
            <a:ext cx="1360805" cy="137287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片 85"/>
          <p:cNvPicPr/>
          <p:nvPr/>
        </p:nvPicPr>
        <p:blipFill>
          <a:blip r:embed="rId29"/>
          <a:stretch>
            <a:fillRect/>
          </a:stretch>
        </p:blipFill>
        <p:spPr>
          <a:xfrm>
            <a:off x="134620" y="1163955"/>
            <a:ext cx="2156460" cy="376428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288512">
            <a:off x="-607911" y="-829151"/>
            <a:ext cx="1658302" cy="1658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 rot="3134487">
            <a:off x="-640192" y="397244"/>
            <a:ext cx="983512" cy="98351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 rot="3134487">
            <a:off x="547797" y="396813"/>
            <a:ext cx="409655" cy="40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14" name="Group 14"/>
          <p:cNvGrpSpPr/>
          <p:nvPr>
            <p:custDataLst>
              <p:tags r:id="rId1"/>
            </p:custDataLst>
          </p:nvPr>
        </p:nvGrpSpPr>
        <p:grpSpPr>
          <a:xfrm>
            <a:off x="126365" y="3319145"/>
            <a:ext cx="748030" cy="269240"/>
            <a:chOff x="0" y="0"/>
            <a:chExt cx="761358" cy="207963"/>
          </a:xfrm>
        </p:grpSpPr>
        <p:sp>
          <p:nvSpPr>
            <p:cNvPr id="15" name="Freeform 15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761358" cy="207963"/>
            </a:xfrm>
            <a:custGeom>
              <a:avLst/>
              <a:gdLst/>
              <a:ahLst/>
              <a:cxnLst/>
              <a:rect l="l" t="t" r="r" b="b"/>
              <a:pathLst>
                <a:path w="761358" h="207963">
                  <a:moveTo>
                    <a:pt x="103981" y="0"/>
                  </a:moveTo>
                  <a:lnTo>
                    <a:pt x="657377" y="0"/>
                  </a:lnTo>
                  <a:cubicBezTo>
                    <a:pt x="714804" y="0"/>
                    <a:pt x="761358" y="46554"/>
                    <a:pt x="761358" y="103981"/>
                  </a:cubicBezTo>
                  <a:lnTo>
                    <a:pt x="761358" y="103981"/>
                  </a:lnTo>
                  <a:cubicBezTo>
                    <a:pt x="761358" y="161409"/>
                    <a:pt x="714804" y="207963"/>
                    <a:pt x="657377" y="207963"/>
                  </a:cubicBezTo>
                  <a:lnTo>
                    <a:pt x="103981" y="207963"/>
                  </a:lnTo>
                  <a:cubicBezTo>
                    <a:pt x="46554" y="207963"/>
                    <a:pt x="0" y="161409"/>
                    <a:pt x="0" y="103981"/>
                  </a:cubicBezTo>
                  <a:lnTo>
                    <a:pt x="0" y="103981"/>
                  </a:lnTo>
                  <a:cubicBezTo>
                    <a:pt x="0" y="46554"/>
                    <a:pt x="46554" y="0"/>
                    <a:pt x="103981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61358" cy="246063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7" name="TextBox 17"/>
          <p:cNvSpPr txBox="1"/>
          <p:nvPr>
            <p:custDataLst>
              <p:tags r:id="rId2"/>
            </p:custDataLst>
          </p:nvPr>
        </p:nvSpPr>
        <p:spPr>
          <a:xfrm>
            <a:off x="-170815" y="2825115"/>
            <a:ext cx="1343025" cy="8528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020"/>
              </a:lnSpc>
            </a:pPr>
            <a:r>
              <a:rPr lang="en-US" sz="1400" b="1">
                <a:solidFill>
                  <a:schemeClr val="bg1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前端</a:t>
            </a:r>
          </a:p>
        </p:txBody>
      </p:sp>
      <p:grpSp>
        <p:nvGrpSpPr>
          <p:cNvPr id="21" name="Group 21"/>
          <p:cNvGrpSpPr/>
          <p:nvPr>
            <p:custDataLst>
              <p:tags r:id="rId3"/>
            </p:custDataLst>
          </p:nvPr>
        </p:nvGrpSpPr>
        <p:grpSpPr>
          <a:xfrm>
            <a:off x="126365" y="3875405"/>
            <a:ext cx="748030" cy="269240"/>
            <a:chOff x="0" y="0"/>
            <a:chExt cx="761358" cy="213847"/>
          </a:xfrm>
        </p:grpSpPr>
        <p:sp>
          <p:nvSpPr>
            <p:cNvPr id="22" name="Freeform 22"/>
            <p:cNvSpPr/>
            <p:nvPr>
              <p:custDataLst>
                <p:tags r:id="rId26"/>
              </p:custDataLst>
            </p:nvPr>
          </p:nvSpPr>
          <p:spPr>
            <a:xfrm>
              <a:off x="0" y="0"/>
              <a:ext cx="761358" cy="213847"/>
            </a:xfrm>
            <a:custGeom>
              <a:avLst/>
              <a:gdLst/>
              <a:ahLst/>
              <a:cxnLst/>
              <a:rect l="l" t="t" r="r" b="b"/>
              <a:pathLst>
                <a:path w="761358" h="213847">
                  <a:moveTo>
                    <a:pt x="106924" y="0"/>
                  </a:moveTo>
                  <a:lnTo>
                    <a:pt x="654434" y="0"/>
                  </a:lnTo>
                  <a:cubicBezTo>
                    <a:pt x="682792" y="0"/>
                    <a:pt x="709989" y="11265"/>
                    <a:pt x="730041" y="31317"/>
                  </a:cubicBezTo>
                  <a:cubicBezTo>
                    <a:pt x="750093" y="51369"/>
                    <a:pt x="761358" y="78566"/>
                    <a:pt x="761358" y="106924"/>
                  </a:cubicBezTo>
                  <a:lnTo>
                    <a:pt x="761358" y="106924"/>
                  </a:lnTo>
                  <a:cubicBezTo>
                    <a:pt x="761358" y="165976"/>
                    <a:pt x="713487" y="213847"/>
                    <a:pt x="654434" y="213847"/>
                  </a:cubicBezTo>
                  <a:lnTo>
                    <a:pt x="106924" y="213847"/>
                  </a:lnTo>
                  <a:cubicBezTo>
                    <a:pt x="47871" y="213847"/>
                    <a:pt x="0" y="165976"/>
                    <a:pt x="0" y="106924"/>
                  </a:cubicBezTo>
                  <a:lnTo>
                    <a:pt x="0" y="106924"/>
                  </a:lnTo>
                  <a:cubicBezTo>
                    <a:pt x="0" y="47871"/>
                    <a:pt x="47871" y="0"/>
                    <a:pt x="106924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61358" cy="25194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84200" y="-184785"/>
            <a:ext cx="3064510" cy="15017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735" b="1" spc="207" dirty="0" err="1">
                <a:solidFill>
                  <a:srgbClr val="100F0D"/>
                </a:solidFill>
                <a:latin typeface="黑体" panose="02010609060101010101" pitchFamily="49" charset="-122"/>
                <a:ea typeface="黑体" panose="02010609060101010101" pitchFamily="49" charset="-122"/>
                <a:cs typeface="思源黑体 1 Bold" panose="020B0800000000000000" charset="-122"/>
                <a:sym typeface="思源黑体 1 Bold" panose="020B0800000000000000" charset="-122"/>
              </a:rPr>
              <a:t>核心技术架构</a:t>
            </a:r>
            <a:endParaRPr lang="en-US" sz="3735" b="1" spc="207" dirty="0">
              <a:solidFill>
                <a:srgbClr val="100F0D"/>
              </a:solidFill>
              <a:latin typeface="黑体" panose="02010609060101010101" pitchFamily="49" charset="-122"/>
              <a:ea typeface="黑体" panose="02010609060101010101" pitchFamily="49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57" name="TextBox 57"/>
          <p:cNvSpPr txBox="1"/>
          <p:nvPr>
            <p:custDataLst>
              <p:tags r:id="rId4"/>
            </p:custDataLst>
          </p:nvPr>
        </p:nvSpPr>
        <p:spPr>
          <a:xfrm>
            <a:off x="-509270" y="3319780"/>
            <a:ext cx="1987550" cy="5619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020"/>
              </a:lnSpc>
            </a:pPr>
            <a:r>
              <a:rPr lang="en-US" sz="1400" b="1" dirty="0" err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语音</a:t>
            </a:r>
            <a:endParaRPr lang="en-US" sz="1400" b="1" dirty="0">
              <a:solidFill>
                <a:srgbClr val="FFFFFF"/>
              </a:solidFill>
              <a:latin typeface="思源黑体 1 Bold" panose="020B0800000000000000" charset="-122"/>
              <a:ea typeface="思源黑体 1 Bold" panose="020B0800000000000000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58" name="TextBox 58"/>
          <p:cNvSpPr txBox="1"/>
          <p:nvPr>
            <p:custDataLst>
              <p:tags r:id="rId5"/>
            </p:custDataLst>
          </p:nvPr>
        </p:nvSpPr>
        <p:spPr>
          <a:xfrm>
            <a:off x="-407035" y="3827145"/>
            <a:ext cx="254762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思源黑体 1 Bold" panose="020B0800000000000000" charset="-122"/>
                <a:sym typeface="思源黑体 1 Bold" panose="020B0800000000000000" charset="-122"/>
              </a:rPr>
              <a:t>Web Speech API</a:t>
            </a:r>
          </a:p>
        </p:txBody>
      </p:sp>
      <p:sp>
        <p:nvSpPr>
          <p:cNvPr id="66" name="流程图: 终止 65"/>
          <p:cNvSpPr/>
          <p:nvPr/>
        </p:nvSpPr>
        <p:spPr>
          <a:xfrm>
            <a:off x="4763135" y="611505"/>
            <a:ext cx="2321560" cy="445135"/>
          </a:xfrm>
          <a:prstGeom prst="flowChartTerminator">
            <a:avLst/>
          </a:prstGeom>
          <a:solidFill>
            <a:srgbClr val="E8DFD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4956175" y="611505"/>
            <a:ext cx="1975485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2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技术实现路径</a:t>
            </a:r>
          </a:p>
        </p:txBody>
      </p:sp>
      <p:cxnSp>
        <p:nvCxnSpPr>
          <p:cNvPr id="68" name="直接连接符 67"/>
          <p:cNvCxnSpPr/>
          <p:nvPr/>
        </p:nvCxnSpPr>
        <p:spPr>
          <a:xfrm flipV="1">
            <a:off x="7075805" y="806450"/>
            <a:ext cx="2096135" cy="1143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2667000" y="835025"/>
            <a:ext cx="2096135" cy="1143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 flipV="1">
            <a:off x="4112260" y="302895"/>
            <a:ext cx="7178040" cy="1143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78300" y="168275"/>
            <a:ext cx="257175" cy="26924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89920" y="149225"/>
            <a:ext cx="500380" cy="288290"/>
          </a:xfrm>
          <a:prstGeom prst="rect">
            <a:avLst/>
          </a:prstGeom>
        </p:spPr>
      </p:pic>
      <p:pic>
        <p:nvPicPr>
          <p:cNvPr id="87" name="图片 86"/>
          <p:cNvPicPr/>
          <p:nvPr/>
        </p:nvPicPr>
        <p:blipFill>
          <a:blip r:embed="rId32"/>
          <a:stretch>
            <a:fillRect/>
          </a:stretch>
        </p:blipFill>
        <p:spPr>
          <a:xfrm>
            <a:off x="4810760" y="1164590"/>
            <a:ext cx="2265045" cy="3764280"/>
          </a:xfrm>
          <a:prstGeom prst="rect">
            <a:avLst/>
          </a:prstGeom>
        </p:spPr>
      </p:pic>
      <p:pic>
        <p:nvPicPr>
          <p:cNvPr id="89" name="图片 88"/>
          <p:cNvPicPr/>
          <p:nvPr/>
        </p:nvPicPr>
        <p:blipFill>
          <a:blip r:embed="rId29"/>
          <a:stretch>
            <a:fillRect/>
          </a:stretch>
        </p:blipFill>
        <p:spPr>
          <a:xfrm>
            <a:off x="2431415" y="1163955"/>
            <a:ext cx="2218690" cy="3764280"/>
          </a:xfrm>
          <a:prstGeom prst="rect">
            <a:avLst/>
          </a:prstGeom>
        </p:spPr>
      </p:pic>
      <p:pic>
        <p:nvPicPr>
          <p:cNvPr id="90" name="图片 89"/>
          <p:cNvPicPr/>
          <p:nvPr/>
        </p:nvPicPr>
        <p:blipFill>
          <a:blip r:embed="rId29"/>
          <a:stretch>
            <a:fillRect/>
          </a:stretch>
        </p:blipFill>
        <p:spPr>
          <a:xfrm>
            <a:off x="9690100" y="1164590"/>
            <a:ext cx="2218055" cy="3764280"/>
          </a:xfrm>
          <a:prstGeom prst="rect">
            <a:avLst/>
          </a:prstGeom>
        </p:spPr>
      </p:pic>
      <p:pic>
        <p:nvPicPr>
          <p:cNvPr id="91" name="图片 90"/>
          <p:cNvPicPr/>
          <p:nvPr/>
        </p:nvPicPr>
        <p:blipFill>
          <a:blip r:embed="rId32"/>
          <a:stretch>
            <a:fillRect/>
          </a:stretch>
        </p:blipFill>
        <p:spPr>
          <a:xfrm>
            <a:off x="7240905" y="1163955"/>
            <a:ext cx="2296795" cy="3764280"/>
          </a:xfrm>
          <a:prstGeom prst="rect">
            <a:avLst/>
          </a:prstGeom>
        </p:spPr>
      </p:pic>
      <p:grpSp>
        <p:nvGrpSpPr>
          <p:cNvPr id="92" name="Group 30"/>
          <p:cNvGrpSpPr/>
          <p:nvPr/>
        </p:nvGrpSpPr>
        <p:grpSpPr>
          <a:xfrm>
            <a:off x="245745" y="1449705"/>
            <a:ext cx="501015" cy="494030"/>
            <a:chOff x="0" y="0"/>
            <a:chExt cx="812800" cy="812800"/>
          </a:xfrm>
        </p:grpSpPr>
        <p:sp>
          <p:nvSpPr>
            <p:cNvPr id="93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94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95" name="TextBox 33"/>
          <p:cNvSpPr txBox="1"/>
          <p:nvPr/>
        </p:nvSpPr>
        <p:spPr>
          <a:xfrm>
            <a:off x="127000" y="846455"/>
            <a:ext cx="747395" cy="11322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01</a:t>
            </a:r>
          </a:p>
        </p:txBody>
      </p:sp>
      <p:grpSp>
        <p:nvGrpSpPr>
          <p:cNvPr id="99" name="Group 30"/>
          <p:cNvGrpSpPr/>
          <p:nvPr/>
        </p:nvGrpSpPr>
        <p:grpSpPr>
          <a:xfrm>
            <a:off x="9768840" y="1449705"/>
            <a:ext cx="501015" cy="494030"/>
            <a:chOff x="0" y="0"/>
            <a:chExt cx="812800" cy="812800"/>
          </a:xfrm>
        </p:grpSpPr>
        <p:sp>
          <p:nvSpPr>
            <p:cNvPr id="100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01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grpSp>
        <p:nvGrpSpPr>
          <p:cNvPr id="102" name="Group 30"/>
          <p:cNvGrpSpPr/>
          <p:nvPr/>
        </p:nvGrpSpPr>
        <p:grpSpPr>
          <a:xfrm>
            <a:off x="7331710" y="1449070"/>
            <a:ext cx="501015" cy="494030"/>
            <a:chOff x="0" y="0"/>
            <a:chExt cx="812800" cy="812800"/>
          </a:xfrm>
        </p:grpSpPr>
        <p:sp>
          <p:nvSpPr>
            <p:cNvPr id="103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04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grpSp>
        <p:nvGrpSpPr>
          <p:cNvPr id="105" name="Group 30"/>
          <p:cNvGrpSpPr/>
          <p:nvPr/>
        </p:nvGrpSpPr>
        <p:grpSpPr>
          <a:xfrm>
            <a:off x="4888230" y="1450975"/>
            <a:ext cx="501015" cy="494030"/>
            <a:chOff x="0" y="0"/>
            <a:chExt cx="812800" cy="812800"/>
          </a:xfrm>
        </p:grpSpPr>
        <p:sp>
          <p:nvSpPr>
            <p:cNvPr id="106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07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grpSp>
        <p:nvGrpSpPr>
          <p:cNvPr id="108" name="Group 30"/>
          <p:cNvGrpSpPr/>
          <p:nvPr/>
        </p:nvGrpSpPr>
        <p:grpSpPr>
          <a:xfrm>
            <a:off x="2545080" y="1484630"/>
            <a:ext cx="501015" cy="494030"/>
            <a:chOff x="0" y="0"/>
            <a:chExt cx="812800" cy="812800"/>
          </a:xfrm>
        </p:grpSpPr>
        <p:sp>
          <p:nvSpPr>
            <p:cNvPr id="109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10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111" name="TextBox 33"/>
          <p:cNvSpPr txBox="1"/>
          <p:nvPr/>
        </p:nvSpPr>
        <p:spPr>
          <a:xfrm>
            <a:off x="7331710" y="869950"/>
            <a:ext cx="489585" cy="10985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04</a:t>
            </a:r>
          </a:p>
          <a:p>
            <a:pPr algn="ctr">
              <a:lnSpc>
                <a:spcPts val="9385"/>
              </a:lnSpc>
            </a:pPr>
            <a:endParaRPr lang="en-US" sz="3000">
              <a:solidFill>
                <a:srgbClr val="FFFFFF"/>
              </a:solidFill>
              <a:latin typeface="Brown Sugar" panose="02000506000000020004"/>
              <a:ea typeface="Brown Sugar" panose="02000506000000020004"/>
              <a:cs typeface="Brown Sugar" panose="02000506000000020004"/>
              <a:sym typeface="Brown Sugar" panose="02000506000000020004"/>
            </a:endParaRPr>
          </a:p>
        </p:txBody>
      </p:sp>
      <p:sp>
        <p:nvSpPr>
          <p:cNvPr id="112" name="TextBox 33"/>
          <p:cNvSpPr txBox="1"/>
          <p:nvPr/>
        </p:nvSpPr>
        <p:spPr>
          <a:xfrm>
            <a:off x="4763135" y="869950"/>
            <a:ext cx="747395" cy="11087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03</a:t>
            </a:r>
          </a:p>
        </p:txBody>
      </p:sp>
      <p:sp>
        <p:nvSpPr>
          <p:cNvPr id="113" name="TextBox 33"/>
          <p:cNvSpPr txBox="1"/>
          <p:nvPr/>
        </p:nvSpPr>
        <p:spPr>
          <a:xfrm>
            <a:off x="2431415" y="889000"/>
            <a:ext cx="747395" cy="11322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02</a:t>
            </a:r>
          </a:p>
        </p:txBody>
      </p:sp>
      <p:sp>
        <p:nvSpPr>
          <p:cNvPr id="114" name="TextBox 33"/>
          <p:cNvSpPr txBox="1"/>
          <p:nvPr/>
        </p:nvSpPr>
        <p:spPr>
          <a:xfrm>
            <a:off x="9768840" y="869950"/>
            <a:ext cx="501015" cy="10985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05</a:t>
            </a:r>
          </a:p>
          <a:p>
            <a:pPr algn="ctr">
              <a:lnSpc>
                <a:spcPts val="9385"/>
              </a:lnSpc>
            </a:pPr>
            <a:endParaRPr lang="en-US" sz="3000">
              <a:solidFill>
                <a:srgbClr val="FFFFFF"/>
              </a:solidFill>
              <a:latin typeface="Brown Sugar" panose="02000506000000020004"/>
              <a:ea typeface="Brown Sugar" panose="02000506000000020004"/>
              <a:cs typeface="Brown Sugar" panose="02000506000000020004"/>
              <a:sym typeface="Brown Sugar" panose="02000506000000020004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808990" y="1524000"/>
            <a:ext cx="139382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多模态接入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494030" y="1945005"/>
            <a:ext cx="1708785" cy="266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rgbClr val="A68A64"/>
                </a:solidFill>
              </a:rPr>
              <a:t>获取老人自然交互信息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7922895" y="1523365"/>
            <a:ext cx="153670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私人记忆检索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5276215" y="1523365"/>
            <a:ext cx="1808480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模型推理与情绪理解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3046095" y="1523365"/>
            <a:ext cx="163830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b="1">
                <a:latin typeface="黑体" panose="02010609060101010101" charset="-122"/>
                <a:ea typeface="黑体" panose="02010609060101010101" charset="-122"/>
              </a:rPr>
              <a:t>API</a:t>
            </a:r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与任务编排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2831465" y="1943100"/>
            <a:ext cx="1604010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rgbClr val="A68A64"/>
                </a:solidFill>
              </a:rPr>
              <a:t>统一处理并分发任务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5029200" y="1943735"/>
            <a:ext cx="192722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rgbClr val="A68A64"/>
                </a:solidFill>
              </a:rPr>
              <a:t>理解当前表达与情绪状态</a:t>
            </a:r>
          </a:p>
        </p:txBody>
      </p:sp>
      <p:sp>
        <p:nvSpPr>
          <p:cNvPr id="122" name="文本框 121"/>
          <p:cNvSpPr txBox="1"/>
          <p:nvPr/>
        </p:nvSpPr>
        <p:spPr>
          <a:xfrm>
            <a:off x="7651750" y="1943100"/>
            <a:ext cx="1926590" cy="193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rgbClr val="A68A64"/>
                </a:solidFill>
              </a:rPr>
              <a:t>调用属于老人的个人记忆</a:t>
            </a:r>
          </a:p>
        </p:txBody>
      </p:sp>
      <p:sp>
        <p:nvSpPr>
          <p:cNvPr id="123" name="文本框 122"/>
          <p:cNvSpPr txBox="1"/>
          <p:nvPr/>
        </p:nvSpPr>
        <p:spPr>
          <a:xfrm>
            <a:off x="10269855" y="1524000"/>
            <a:ext cx="1788795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个性化内容生成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10059035" y="1945005"/>
            <a:ext cx="1999615" cy="266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rgbClr val="A68A64"/>
                </a:solidFill>
              </a:rPr>
              <a:t>输出有记忆有温度的内容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135255" y="2226310"/>
            <a:ext cx="2155825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文本输入与对话请求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语音识别与语音合成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老照片及影像上传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输入格式校验与预处理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126365" y="3588385"/>
            <a:ext cx="2304415" cy="28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/>
              <a:t>HTML / CSS / JavaScript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135255" y="4434205"/>
            <a:ext cx="2130425" cy="4940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300">
                <a:solidFill>
                  <a:schemeClr val="bg2">
                    <a:lumMod val="25000"/>
                  </a:schemeClr>
                </a:solidFill>
              </a:rPr>
              <a:t>将文本、语音和图像统一转换为标准化请求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2430145" y="2225675"/>
            <a:ext cx="2254885" cy="1296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RESTful API</a:t>
            </a:r>
            <a:r>
              <a:rPr lang="zh-CN" altLang="en-US" sz="1400"/>
              <a:t>接口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会话状态与上下文管理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用户身份及权限校验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Agent</a:t>
            </a:r>
            <a:r>
              <a:rPr lang="zh-CN" altLang="en-US" sz="1400"/>
              <a:t>任务路由与服务调用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4765675" y="2226310"/>
            <a:ext cx="2165350" cy="11677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对话意图与情绪识别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老年场景提示词适配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安全边界与回复策略控制</a:t>
            </a:r>
          </a:p>
        </p:txBody>
      </p:sp>
      <p:grpSp>
        <p:nvGrpSpPr>
          <p:cNvPr id="39" name="Group 39"/>
          <p:cNvGrpSpPr/>
          <p:nvPr>
            <p:custDataLst>
              <p:tags r:id="rId6"/>
            </p:custDataLst>
          </p:nvPr>
        </p:nvGrpSpPr>
        <p:grpSpPr>
          <a:xfrm>
            <a:off x="4765675" y="3374390"/>
            <a:ext cx="748030" cy="303530"/>
            <a:chOff x="0" y="0"/>
            <a:chExt cx="761358" cy="213847"/>
          </a:xfrm>
        </p:grpSpPr>
        <p:sp>
          <p:nvSpPr>
            <p:cNvPr id="40" name="Freeform 40"/>
            <p:cNvSpPr/>
            <p:nvPr>
              <p:custDataLst>
                <p:tags r:id="rId25"/>
              </p:custDataLst>
            </p:nvPr>
          </p:nvSpPr>
          <p:spPr>
            <a:xfrm>
              <a:off x="0" y="0"/>
              <a:ext cx="761358" cy="213847"/>
            </a:xfrm>
            <a:custGeom>
              <a:avLst/>
              <a:gdLst/>
              <a:ahLst/>
              <a:cxnLst/>
              <a:rect l="l" t="t" r="r" b="b"/>
              <a:pathLst>
                <a:path w="761358" h="213847">
                  <a:moveTo>
                    <a:pt x="106924" y="0"/>
                  </a:moveTo>
                  <a:lnTo>
                    <a:pt x="654434" y="0"/>
                  </a:lnTo>
                  <a:cubicBezTo>
                    <a:pt x="682792" y="0"/>
                    <a:pt x="709989" y="11265"/>
                    <a:pt x="730041" y="31317"/>
                  </a:cubicBezTo>
                  <a:cubicBezTo>
                    <a:pt x="750093" y="51369"/>
                    <a:pt x="761358" y="78566"/>
                    <a:pt x="761358" y="106924"/>
                  </a:cubicBezTo>
                  <a:lnTo>
                    <a:pt x="761358" y="106924"/>
                  </a:lnTo>
                  <a:cubicBezTo>
                    <a:pt x="761358" y="165976"/>
                    <a:pt x="713487" y="213847"/>
                    <a:pt x="654434" y="213847"/>
                  </a:cubicBezTo>
                  <a:lnTo>
                    <a:pt x="106924" y="213847"/>
                  </a:lnTo>
                  <a:cubicBezTo>
                    <a:pt x="47871" y="213847"/>
                    <a:pt x="0" y="165976"/>
                    <a:pt x="0" y="106924"/>
                  </a:cubicBezTo>
                  <a:lnTo>
                    <a:pt x="0" y="106924"/>
                  </a:lnTo>
                  <a:cubicBezTo>
                    <a:pt x="0" y="47871"/>
                    <a:pt x="47871" y="0"/>
                    <a:pt x="106924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61358" cy="25194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30" name="Group 39"/>
          <p:cNvGrpSpPr/>
          <p:nvPr>
            <p:custDataLst>
              <p:tags r:id="rId7"/>
            </p:custDataLst>
          </p:nvPr>
        </p:nvGrpSpPr>
        <p:grpSpPr>
          <a:xfrm>
            <a:off x="4762500" y="3928110"/>
            <a:ext cx="748030" cy="262890"/>
            <a:chOff x="0" y="0"/>
            <a:chExt cx="761358" cy="213847"/>
          </a:xfrm>
        </p:grpSpPr>
        <p:sp>
          <p:nvSpPr>
            <p:cNvPr id="131" name="Freeform 40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761358" cy="213847"/>
            </a:xfrm>
            <a:custGeom>
              <a:avLst/>
              <a:gdLst/>
              <a:ahLst/>
              <a:cxnLst/>
              <a:rect l="l" t="t" r="r" b="b"/>
              <a:pathLst>
                <a:path w="761358" h="213847">
                  <a:moveTo>
                    <a:pt x="106924" y="0"/>
                  </a:moveTo>
                  <a:lnTo>
                    <a:pt x="654434" y="0"/>
                  </a:lnTo>
                  <a:cubicBezTo>
                    <a:pt x="682792" y="0"/>
                    <a:pt x="709989" y="11265"/>
                    <a:pt x="730041" y="31317"/>
                  </a:cubicBezTo>
                  <a:cubicBezTo>
                    <a:pt x="750093" y="51369"/>
                    <a:pt x="761358" y="78566"/>
                    <a:pt x="761358" y="106924"/>
                  </a:cubicBezTo>
                  <a:lnTo>
                    <a:pt x="761358" y="106924"/>
                  </a:lnTo>
                  <a:cubicBezTo>
                    <a:pt x="761358" y="165976"/>
                    <a:pt x="713487" y="213847"/>
                    <a:pt x="654434" y="213847"/>
                  </a:cubicBezTo>
                  <a:lnTo>
                    <a:pt x="106924" y="213847"/>
                  </a:lnTo>
                  <a:cubicBezTo>
                    <a:pt x="47871" y="213847"/>
                    <a:pt x="0" y="165976"/>
                    <a:pt x="0" y="106924"/>
                  </a:cubicBezTo>
                  <a:lnTo>
                    <a:pt x="0" y="106924"/>
                  </a:lnTo>
                  <a:cubicBezTo>
                    <a:pt x="0" y="47871"/>
                    <a:pt x="47871" y="0"/>
                    <a:pt x="106924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132" name="TextBox 41"/>
            <p:cNvSpPr txBox="1"/>
            <p:nvPr/>
          </p:nvSpPr>
          <p:spPr>
            <a:xfrm>
              <a:off x="0" y="-38100"/>
              <a:ext cx="761358" cy="25194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2" name="TextBox 42"/>
          <p:cNvSpPr txBox="1"/>
          <p:nvPr>
            <p:custDataLst>
              <p:tags r:id="rId8"/>
            </p:custDataLst>
          </p:nvPr>
        </p:nvSpPr>
        <p:spPr>
          <a:xfrm>
            <a:off x="4538345" y="2854960"/>
            <a:ext cx="1203325" cy="10204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020"/>
              </a:lnSpc>
            </a:pPr>
            <a:r>
              <a:rPr lang="en-US" sz="14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模型</a:t>
            </a:r>
          </a:p>
        </p:txBody>
      </p:sp>
      <p:sp>
        <p:nvSpPr>
          <p:cNvPr id="43" name="TextBox 43"/>
          <p:cNvSpPr txBox="1"/>
          <p:nvPr>
            <p:custDataLst>
              <p:tags r:id="rId9"/>
            </p:custDataLst>
          </p:nvPr>
        </p:nvSpPr>
        <p:spPr>
          <a:xfrm>
            <a:off x="4312285" y="3320415"/>
            <a:ext cx="2889885" cy="6762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altLang="zh-CN" sz="1400" b="1">
                <a:solidFill>
                  <a:srgbClr val="000000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Qwen2.5-1.5B + LoRA</a:t>
            </a:r>
          </a:p>
        </p:txBody>
      </p:sp>
      <p:sp>
        <p:nvSpPr>
          <p:cNvPr id="47" name="TextBox 47"/>
          <p:cNvSpPr txBox="1"/>
          <p:nvPr>
            <p:custDataLst>
              <p:tags r:id="rId10"/>
            </p:custDataLst>
          </p:nvPr>
        </p:nvSpPr>
        <p:spPr>
          <a:xfrm>
            <a:off x="4537710" y="3393440"/>
            <a:ext cx="1203960" cy="9169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020"/>
              </a:lnSpc>
            </a:pPr>
            <a:r>
              <a:rPr lang="en-US" sz="14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微调</a:t>
            </a:r>
          </a:p>
        </p:txBody>
      </p:sp>
      <p:sp>
        <p:nvSpPr>
          <p:cNvPr id="49" name="TextBox 49"/>
          <p:cNvSpPr txBox="1"/>
          <p:nvPr>
            <p:custDataLst>
              <p:tags r:id="rId11"/>
            </p:custDataLst>
          </p:nvPr>
        </p:nvSpPr>
        <p:spPr>
          <a:xfrm>
            <a:off x="4888230" y="3928110"/>
            <a:ext cx="1532890" cy="7035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思源黑体 1 Bold" panose="020B0800000000000000" charset="-122"/>
                <a:sym typeface="思源黑体 1 Bold" panose="020B0800000000000000" charset="-122"/>
              </a:rPr>
              <a:t>PEFT + LoRA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4810760" y="4476750"/>
            <a:ext cx="2206625" cy="109791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300">
                <a:solidFill>
                  <a:schemeClr val="bg2">
                    <a:lumMod val="25000"/>
                  </a:schemeClr>
                </a:solidFill>
              </a:rPr>
              <a:t>不只生成回答，还要理解情绪状态与真实需求</a:t>
            </a:r>
          </a:p>
        </p:txBody>
      </p:sp>
      <p:grpSp>
        <p:nvGrpSpPr>
          <p:cNvPr id="44" name="Group 44"/>
          <p:cNvGrpSpPr/>
          <p:nvPr>
            <p:custDataLst>
              <p:tags r:id="rId12"/>
            </p:custDataLst>
          </p:nvPr>
        </p:nvGrpSpPr>
        <p:grpSpPr>
          <a:xfrm>
            <a:off x="2430145" y="3319780"/>
            <a:ext cx="748030" cy="283210"/>
            <a:chOff x="0" y="0"/>
            <a:chExt cx="761358" cy="213847"/>
          </a:xfrm>
        </p:grpSpPr>
        <p:sp>
          <p:nvSpPr>
            <p:cNvPr id="45" name="Freeform 45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761358" cy="213847"/>
            </a:xfrm>
            <a:custGeom>
              <a:avLst/>
              <a:gdLst/>
              <a:ahLst/>
              <a:cxnLst/>
              <a:rect l="l" t="t" r="r" b="b"/>
              <a:pathLst>
                <a:path w="761358" h="213847">
                  <a:moveTo>
                    <a:pt x="106924" y="0"/>
                  </a:moveTo>
                  <a:lnTo>
                    <a:pt x="654434" y="0"/>
                  </a:lnTo>
                  <a:cubicBezTo>
                    <a:pt x="682792" y="0"/>
                    <a:pt x="709989" y="11265"/>
                    <a:pt x="730041" y="31317"/>
                  </a:cubicBezTo>
                  <a:cubicBezTo>
                    <a:pt x="750093" y="51369"/>
                    <a:pt x="761358" y="78566"/>
                    <a:pt x="761358" y="106924"/>
                  </a:cubicBezTo>
                  <a:lnTo>
                    <a:pt x="761358" y="106924"/>
                  </a:lnTo>
                  <a:cubicBezTo>
                    <a:pt x="761358" y="165976"/>
                    <a:pt x="713487" y="213847"/>
                    <a:pt x="654434" y="213847"/>
                  </a:cubicBezTo>
                  <a:lnTo>
                    <a:pt x="106924" y="213847"/>
                  </a:lnTo>
                  <a:cubicBezTo>
                    <a:pt x="47871" y="213847"/>
                    <a:pt x="0" y="165976"/>
                    <a:pt x="0" y="106924"/>
                  </a:cubicBezTo>
                  <a:lnTo>
                    <a:pt x="0" y="106924"/>
                  </a:lnTo>
                  <a:cubicBezTo>
                    <a:pt x="0" y="47871"/>
                    <a:pt x="47871" y="0"/>
                    <a:pt x="106924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61358" cy="25194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6" name="TextBox 26"/>
          <p:cNvSpPr txBox="1"/>
          <p:nvPr>
            <p:custDataLst>
              <p:tags r:id="rId13"/>
            </p:custDataLst>
          </p:nvPr>
        </p:nvSpPr>
        <p:spPr>
          <a:xfrm>
            <a:off x="2430145" y="2824480"/>
            <a:ext cx="748030" cy="8534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020"/>
              </a:lnSpc>
            </a:pPr>
            <a:r>
              <a:rPr lang="en-US" sz="1400" b="1">
                <a:solidFill>
                  <a:schemeClr val="bg1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后端</a:t>
            </a:r>
          </a:p>
        </p:txBody>
      </p:sp>
      <p:sp>
        <p:nvSpPr>
          <p:cNvPr id="27" name="TextBox 27"/>
          <p:cNvSpPr txBox="1"/>
          <p:nvPr>
            <p:custDataLst>
              <p:tags r:id="rId14"/>
            </p:custDataLst>
          </p:nvPr>
        </p:nvSpPr>
        <p:spPr>
          <a:xfrm>
            <a:off x="2291715" y="3731895"/>
            <a:ext cx="1113790" cy="5543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思源黑体 1 Bold" panose="020B0800000000000000" charset="-122"/>
                <a:sym typeface="思源黑体 1 Bold" panose="020B0800000000000000" charset="-122"/>
              </a:rPr>
              <a:t>FastAPI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1600" b="1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思源黑体 1 Bold" panose="020B0800000000000000" charset="-122"/>
              <a:sym typeface="思源黑体 1 Bold" panose="020B0800000000000000" charset="-122"/>
            </a:endParaRP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1600" b="1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思源黑体 1 Bold" panose="020B0800000000000000" charset="-122"/>
              <a:sym typeface="思源黑体 1 Bold" panose="020B0800000000000000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2430145" y="3827145"/>
            <a:ext cx="2030730" cy="239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>
                <a:latin typeface="黑体" panose="02010609060101010101" charset="-122"/>
                <a:ea typeface="黑体" panose="02010609060101010101" charset="-122"/>
              </a:rPr>
              <a:t>Session Context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2430780" y="3602355"/>
            <a:ext cx="2030095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>
                <a:latin typeface="黑体" panose="02010609060101010101" charset="-122"/>
                <a:ea typeface="黑体" panose="02010609060101010101" charset="-122"/>
              </a:rPr>
              <a:t>Agent Router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2363470" y="4298950"/>
            <a:ext cx="2321560" cy="6299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/>
            <a:r>
              <a:rPr lang="zh-CN" altLang="en-US" sz="1300" b="0" i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意图路由至对话陪伴/安全守护/疗愈互动；记忆由上下文统一检索注入。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7201535" y="2237740"/>
            <a:ext cx="2488565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老人档案与家庭关系查询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人生经历及历史对话检索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相关记忆片段召回与排序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记忆内容拼接至模型上下文</a:t>
            </a:r>
          </a:p>
        </p:txBody>
      </p:sp>
      <p:grpSp>
        <p:nvGrpSpPr>
          <p:cNvPr id="28" name="Group 28"/>
          <p:cNvGrpSpPr/>
          <p:nvPr>
            <p:custDataLst>
              <p:tags r:id="rId15"/>
            </p:custDataLst>
          </p:nvPr>
        </p:nvGrpSpPr>
        <p:grpSpPr>
          <a:xfrm>
            <a:off x="7201535" y="3374390"/>
            <a:ext cx="748665" cy="303530"/>
            <a:chOff x="0" y="0"/>
            <a:chExt cx="761358" cy="213847"/>
          </a:xfrm>
        </p:grpSpPr>
        <p:sp>
          <p:nvSpPr>
            <p:cNvPr id="29" name="Freeform 29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761358" cy="213847"/>
            </a:xfrm>
            <a:custGeom>
              <a:avLst/>
              <a:gdLst/>
              <a:ahLst/>
              <a:cxnLst/>
              <a:rect l="l" t="t" r="r" b="b"/>
              <a:pathLst>
                <a:path w="761358" h="213847">
                  <a:moveTo>
                    <a:pt x="106924" y="0"/>
                  </a:moveTo>
                  <a:lnTo>
                    <a:pt x="654434" y="0"/>
                  </a:lnTo>
                  <a:cubicBezTo>
                    <a:pt x="682792" y="0"/>
                    <a:pt x="709989" y="11265"/>
                    <a:pt x="730041" y="31317"/>
                  </a:cubicBezTo>
                  <a:cubicBezTo>
                    <a:pt x="750093" y="51369"/>
                    <a:pt x="761358" y="78566"/>
                    <a:pt x="761358" y="106924"/>
                  </a:cubicBezTo>
                  <a:lnTo>
                    <a:pt x="761358" y="106924"/>
                  </a:lnTo>
                  <a:cubicBezTo>
                    <a:pt x="761358" y="165976"/>
                    <a:pt x="713487" y="213847"/>
                    <a:pt x="654434" y="213847"/>
                  </a:cubicBezTo>
                  <a:lnTo>
                    <a:pt x="106924" y="213847"/>
                  </a:lnTo>
                  <a:cubicBezTo>
                    <a:pt x="47871" y="213847"/>
                    <a:pt x="0" y="165976"/>
                    <a:pt x="0" y="106924"/>
                  </a:cubicBezTo>
                  <a:lnTo>
                    <a:pt x="0" y="106924"/>
                  </a:lnTo>
                  <a:cubicBezTo>
                    <a:pt x="0" y="47871"/>
                    <a:pt x="47871" y="0"/>
                    <a:pt x="106924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761358" cy="25194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31" name="TextBox 31"/>
          <p:cNvSpPr txBox="1"/>
          <p:nvPr>
            <p:custDataLst>
              <p:tags r:id="rId16"/>
            </p:custDataLst>
          </p:nvPr>
        </p:nvSpPr>
        <p:spPr>
          <a:xfrm>
            <a:off x="6904355" y="2854960"/>
            <a:ext cx="1343025" cy="11328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020"/>
              </a:lnSpc>
            </a:pPr>
            <a:r>
              <a:rPr lang="en-US"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思源黑体 1 Bold" panose="020B0800000000000000" charset="-122"/>
                <a:sym typeface="思源黑体 1 Bold" panose="020B0800000000000000" charset="-122"/>
              </a:rPr>
              <a:t>数据库</a:t>
            </a:r>
          </a:p>
        </p:txBody>
      </p:sp>
      <p:sp>
        <p:nvSpPr>
          <p:cNvPr id="35" name="TextBox 35"/>
          <p:cNvSpPr txBox="1"/>
          <p:nvPr>
            <p:custDataLst>
              <p:tags r:id="rId17"/>
            </p:custDataLst>
          </p:nvPr>
        </p:nvSpPr>
        <p:spPr>
          <a:xfrm>
            <a:off x="6932295" y="3393440"/>
            <a:ext cx="1611630" cy="673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思源黑体 1 Bold" panose="020B0800000000000000" charset="-122"/>
                <a:sym typeface="思源黑体 1 Bold" panose="020B0800000000000000" charset="-122"/>
              </a:rPr>
              <a:t>SQL Server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7201535" y="3875405"/>
            <a:ext cx="1697355" cy="696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RAG</a:t>
            </a:r>
          </a:p>
          <a:p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语义检索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7241540" y="4435475"/>
            <a:ext cx="2175510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让生成结果建立在老人真实经历之上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9690100" y="2237740"/>
            <a:ext cx="2369185" cy="12839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生成个性化对话回复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调用语音合成进行播报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生成老照片回忆影像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输出陪伴建议与分级提醒</a:t>
            </a:r>
          </a:p>
        </p:txBody>
      </p:sp>
      <p:grpSp>
        <p:nvGrpSpPr>
          <p:cNvPr id="59" name="Group 59"/>
          <p:cNvGrpSpPr/>
          <p:nvPr>
            <p:custDataLst>
              <p:tags r:id="rId18"/>
            </p:custDataLst>
          </p:nvPr>
        </p:nvGrpSpPr>
        <p:grpSpPr>
          <a:xfrm>
            <a:off x="9690100" y="3731895"/>
            <a:ext cx="748030" cy="264795"/>
            <a:chOff x="0" y="0"/>
            <a:chExt cx="761358" cy="213847"/>
          </a:xfrm>
        </p:grpSpPr>
        <p:sp>
          <p:nvSpPr>
            <p:cNvPr id="60" name="Freeform 60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761358" cy="213847"/>
            </a:xfrm>
            <a:custGeom>
              <a:avLst/>
              <a:gdLst/>
              <a:ahLst/>
              <a:cxnLst/>
              <a:rect l="l" t="t" r="r" b="b"/>
              <a:pathLst>
                <a:path w="761358" h="213847">
                  <a:moveTo>
                    <a:pt x="106924" y="0"/>
                  </a:moveTo>
                  <a:lnTo>
                    <a:pt x="654434" y="0"/>
                  </a:lnTo>
                  <a:cubicBezTo>
                    <a:pt x="682792" y="0"/>
                    <a:pt x="709989" y="11265"/>
                    <a:pt x="730041" y="31317"/>
                  </a:cubicBezTo>
                  <a:cubicBezTo>
                    <a:pt x="750093" y="51369"/>
                    <a:pt x="761358" y="78566"/>
                    <a:pt x="761358" y="106924"/>
                  </a:cubicBezTo>
                  <a:lnTo>
                    <a:pt x="761358" y="106924"/>
                  </a:lnTo>
                  <a:cubicBezTo>
                    <a:pt x="761358" y="165976"/>
                    <a:pt x="713487" y="213847"/>
                    <a:pt x="654434" y="213847"/>
                  </a:cubicBezTo>
                  <a:lnTo>
                    <a:pt x="106924" y="213847"/>
                  </a:lnTo>
                  <a:cubicBezTo>
                    <a:pt x="47871" y="213847"/>
                    <a:pt x="0" y="165976"/>
                    <a:pt x="0" y="106924"/>
                  </a:cubicBezTo>
                  <a:lnTo>
                    <a:pt x="0" y="106924"/>
                  </a:lnTo>
                  <a:cubicBezTo>
                    <a:pt x="0" y="47871"/>
                    <a:pt x="47871" y="0"/>
                    <a:pt x="106924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761358" cy="25194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62" name="TextBox 62"/>
          <p:cNvSpPr txBox="1"/>
          <p:nvPr>
            <p:custDataLst>
              <p:tags r:id="rId19"/>
            </p:custDataLst>
          </p:nvPr>
        </p:nvSpPr>
        <p:spPr>
          <a:xfrm>
            <a:off x="9689465" y="3233420"/>
            <a:ext cx="748030" cy="8331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020"/>
              </a:lnSpc>
            </a:pPr>
            <a:r>
              <a:rPr lang="en-US" sz="1400" b="1">
                <a:solidFill>
                  <a:srgbClr val="FFFFFF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图画</a:t>
            </a:r>
          </a:p>
        </p:txBody>
      </p:sp>
      <p:sp>
        <p:nvSpPr>
          <p:cNvPr id="63" name="文本框 62"/>
          <p:cNvSpPr txBox="1"/>
          <p:nvPr>
            <p:custDataLst>
              <p:tags r:id="rId20"/>
            </p:custDataLst>
          </p:nvPr>
        </p:nvSpPr>
        <p:spPr>
          <a:xfrm>
            <a:off x="9689465" y="3996690"/>
            <a:ext cx="1600835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>
                <a:latin typeface="思源黑体 1 Bold" charset="0"/>
                <a:cs typeface="思源黑体 1 Bold" charset="0"/>
              </a:rPr>
              <a:t>Z-Image-Turbo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9690100" y="4191000"/>
            <a:ext cx="1911985" cy="381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1400" b="1">
                <a:latin typeface="黑体" panose="02010609060101010101" charset="-122"/>
                <a:ea typeface="黑体" panose="02010609060101010101" charset="-122"/>
              </a:rPr>
              <a:t>Web Speech API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9690100" y="4436110"/>
            <a:ext cx="2217420" cy="516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</a:rPr>
              <a:t>支持文字、语音和回忆影像等多种输出形式</a:t>
            </a:r>
          </a:p>
        </p:txBody>
      </p:sp>
      <p:sp>
        <p:nvSpPr>
          <p:cNvPr id="145" name="流程图: 终止 144"/>
          <p:cNvSpPr/>
          <p:nvPr/>
        </p:nvSpPr>
        <p:spPr>
          <a:xfrm>
            <a:off x="8450580" y="5172075"/>
            <a:ext cx="1987550" cy="514985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文本框 145"/>
          <p:cNvSpPr txBox="1"/>
          <p:nvPr/>
        </p:nvSpPr>
        <p:spPr>
          <a:xfrm>
            <a:off x="8543290" y="5171440"/>
            <a:ext cx="172593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500" b="1">
                <a:latin typeface="黑体" panose="02010609060101010101" charset="-122"/>
                <a:ea typeface="黑体" panose="02010609060101010101" charset="-122"/>
              </a:rPr>
              <a:t>授权反馈更新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8543290" y="5400675"/>
            <a:ext cx="2904490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筛选后写入长期记忆</a:t>
            </a:r>
          </a:p>
        </p:txBody>
      </p:sp>
      <p:cxnSp>
        <p:nvCxnSpPr>
          <p:cNvPr id="148" name="直接连接符 147"/>
          <p:cNvCxnSpPr/>
          <p:nvPr/>
        </p:nvCxnSpPr>
        <p:spPr>
          <a:xfrm>
            <a:off x="10805795" y="4928235"/>
            <a:ext cx="6985" cy="443865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 flipH="1">
            <a:off x="10445115" y="5372100"/>
            <a:ext cx="367665" cy="13335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flipH="1" flipV="1">
            <a:off x="8112760" y="5396865"/>
            <a:ext cx="337820" cy="3810"/>
          </a:xfrm>
          <a:prstGeom prst="line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 flipH="1" flipV="1">
            <a:off x="8089900" y="4923155"/>
            <a:ext cx="22860" cy="473710"/>
          </a:xfrm>
          <a:prstGeom prst="straightConnector1">
            <a:avLst/>
          </a:prstGeom>
          <a:ln w="9525" cap="flat" cmpd="sng" algn="ctr">
            <a:solidFill>
              <a:schemeClr val="bg2">
                <a:lumMod val="50000"/>
              </a:schemeClr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2" name="文本框 151"/>
          <p:cNvSpPr txBox="1"/>
          <p:nvPr/>
        </p:nvSpPr>
        <p:spPr>
          <a:xfrm>
            <a:off x="6508750" y="5080635"/>
            <a:ext cx="150876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/>
              <a:t>用户反馈与新对话</a:t>
            </a:r>
          </a:p>
        </p:txBody>
      </p:sp>
      <p:pic>
        <p:nvPicPr>
          <p:cNvPr id="153" name="图片 152" descr="{231E260D-F7ED-4226-B801-160831FACFAF}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5" y="5687060"/>
            <a:ext cx="12191365" cy="1170940"/>
          </a:xfrm>
          <a:prstGeom prst="rect">
            <a:avLst/>
          </a:prstGeom>
        </p:spPr>
      </p:pic>
      <p:sp>
        <p:nvSpPr>
          <p:cNvPr id="154" name="文本框 153"/>
          <p:cNvSpPr txBox="1"/>
          <p:nvPr/>
        </p:nvSpPr>
        <p:spPr>
          <a:xfrm>
            <a:off x="874395" y="6060440"/>
            <a:ext cx="167068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7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工程与部署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873760" y="6367780"/>
            <a:ext cx="323850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前端：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HTML / CSS / JavaScript</a:t>
            </a:r>
          </a:p>
          <a:p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后端：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FastAPI  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部署：腾讯云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+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sym typeface="+mn-ea"/>
              </a:rPr>
              <a:t>Nginx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8774430" y="6060440"/>
            <a:ext cx="167068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7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运行与治理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4750435" y="6060440"/>
            <a:ext cx="1670685" cy="493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7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数据与安全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4750435" y="6367780"/>
            <a:ext cx="323850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业务数据：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sym typeface="+mn-ea"/>
              </a:rPr>
              <a:t>SQL Server -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传输与存储加密</a:t>
            </a:r>
          </a:p>
          <a:p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身份权限控制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sym typeface="+mn-ea"/>
              </a:rPr>
              <a:t> -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敏感信息脱敏处理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sym typeface="+mn-ea"/>
              </a:rPr>
              <a:t> -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分级共享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8774430" y="6367780"/>
            <a:ext cx="323850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请求日志与异常监控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sym typeface="+mn-ea"/>
              </a:rPr>
              <a:t> -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模型与提示词管理</a:t>
            </a:r>
          </a:p>
          <a:p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内容安全检测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sym typeface="+mn-ea"/>
              </a:rPr>
              <a:t> - 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sym typeface="+mn-ea"/>
              </a:rPr>
              <a:t>高风险场景人工转介</a:t>
            </a:r>
          </a:p>
        </p:txBody>
      </p:sp>
      <p:sp>
        <p:nvSpPr>
          <p:cNvPr id="160" name="流程图: 终止 159"/>
          <p:cNvSpPr/>
          <p:nvPr/>
        </p:nvSpPr>
        <p:spPr>
          <a:xfrm>
            <a:off x="2031365" y="5830570"/>
            <a:ext cx="993140" cy="283210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流程图: 终止 160"/>
          <p:cNvSpPr/>
          <p:nvPr/>
        </p:nvSpPr>
        <p:spPr>
          <a:xfrm>
            <a:off x="2814955" y="6221095"/>
            <a:ext cx="993140" cy="262255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流程图: 终止 161"/>
          <p:cNvSpPr/>
          <p:nvPr/>
        </p:nvSpPr>
        <p:spPr>
          <a:xfrm>
            <a:off x="3178810" y="5830570"/>
            <a:ext cx="1000125" cy="283210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文本框 162"/>
          <p:cNvSpPr txBox="1"/>
          <p:nvPr/>
        </p:nvSpPr>
        <p:spPr>
          <a:xfrm>
            <a:off x="2009775" y="5830570"/>
            <a:ext cx="1014730" cy="282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前后端分离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3178175" y="5830570"/>
            <a:ext cx="1134745" cy="282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模块化接口</a:t>
            </a:r>
          </a:p>
        </p:txBody>
      </p:sp>
      <p:sp>
        <p:nvSpPr>
          <p:cNvPr id="165" name="文本框 164"/>
          <p:cNvSpPr txBox="1"/>
          <p:nvPr/>
        </p:nvSpPr>
        <p:spPr>
          <a:xfrm>
            <a:off x="2874010" y="6221095"/>
            <a:ext cx="933450" cy="262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云端部署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6202680" y="6061075"/>
            <a:ext cx="998855" cy="282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授权访问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7241540" y="6060440"/>
            <a:ext cx="870585" cy="283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隐私保护</a:t>
            </a:r>
          </a:p>
        </p:txBody>
      </p:sp>
      <p:sp>
        <p:nvSpPr>
          <p:cNvPr id="169" name="流程图: 终止 168"/>
          <p:cNvSpPr/>
          <p:nvPr/>
        </p:nvSpPr>
        <p:spPr>
          <a:xfrm>
            <a:off x="10059035" y="6059805"/>
            <a:ext cx="934085" cy="283210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流程图: 终止 169"/>
          <p:cNvSpPr/>
          <p:nvPr/>
        </p:nvSpPr>
        <p:spPr>
          <a:xfrm>
            <a:off x="6210300" y="6059805"/>
            <a:ext cx="865505" cy="283845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流程图: 终止 170"/>
          <p:cNvSpPr/>
          <p:nvPr/>
        </p:nvSpPr>
        <p:spPr>
          <a:xfrm>
            <a:off x="7241540" y="6060440"/>
            <a:ext cx="782320" cy="283210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文本框 172"/>
          <p:cNvSpPr txBox="1"/>
          <p:nvPr/>
        </p:nvSpPr>
        <p:spPr>
          <a:xfrm>
            <a:off x="10059035" y="6059805"/>
            <a:ext cx="1014095" cy="282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全程追踪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11125835" y="6061075"/>
            <a:ext cx="933450" cy="262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300"/>
              <a:t>边界控制</a:t>
            </a:r>
          </a:p>
        </p:txBody>
      </p:sp>
      <p:sp>
        <p:nvSpPr>
          <p:cNvPr id="176" name="流程图: 终止 175"/>
          <p:cNvSpPr/>
          <p:nvPr/>
        </p:nvSpPr>
        <p:spPr>
          <a:xfrm>
            <a:off x="11154410" y="6049645"/>
            <a:ext cx="858520" cy="318135"/>
          </a:xfrm>
          <a:prstGeom prst="flowChartTerminator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utoShape 42"/>
          <p:cNvSpPr/>
          <p:nvPr/>
        </p:nvSpPr>
        <p:spPr>
          <a:xfrm>
            <a:off x="573079" y="945896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4200" y="-158115"/>
            <a:ext cx="4503420" cy="10407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735" b="1" spc="207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核心功能与Demo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22399" y="3596941"/>
            <a:ext cx="11091564" cy="36641"/>
            <a:chOff x="0" y="0"/>
            <a:chExt cx="15256800" cy="50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56765" cy="50419"/>
            </a:xfrm>
            <a:custGeom>
              <a:avLst/>
              <a:gdLst/>
              <a:ahLst/>
              <a:cxnLst/>
              <a:rect l="l" t="t" r="r" b="b"/>
              <a:pathLst>
                <a:path w="15256765" h="50419">
                  <a:moveTo>
                    <a:pt x="0" y="42037"/>
                  </a:moveTo>
                  <a:cubicBezTo>
                    <a:pt x="0" y="46736"/>
                    <a:pt x="3810" y="50419"/>
                    <a:pt x="8382" y="50419"/>
                  </a:cubicBezTo>
                  <a:lnTo>
                    <a:pt x="15248382" y="50419"/>
                  </a:lnTo>
                  <a:cubicBezTo>
                    <a:pt x="15253081" y="50419"/>
                    <a:pt x="15256765" y="46609"/>
                    <a:pt x="15256765" y="42037"/>
                  </a:cubicBezTo>
                  <a:lnTo>
                    <a:pt x="15256765" y="8382"/>
                  </a:lnTo>
                  <a:cubicBezTo>
                    <a:pt x="15256765" y="3683"/>
                    <a:pt x="15252954" y="0"/>
                    <a:pt x="15248382" y="0"/>
                  </a:cubicBezTo>
                  <a:lnTo>
                    <a:pt x="8382" y="0"/>
                  </a:lnTo>
                  <a:cubicBezTo>
                    <a:pt x="3810" y="0"/>
                    <a:pt x="0" y="3810"/>
                    <a:pt x="0" y="8382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627734" y="3569141"/>
            <a:ext cx="116132" cy="116132"/>
            <a:chOff x="0" y="0"/>
            <a:chExt cx="232264" cy="2322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2156" cy="232156"/>
            </a:xfrm>
            <a:custGeom>
              <a:avLst/>
              <a:gdLst/>
              <a:ahLst/>
              <a:cxnLst/>
              <a:rect l="l" t="t" r="r" b="b"/>
              <a:pathLst>
                <a:path w="232156" h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gradFill rotWithShape="1">
              <a:gsLst>
                <a:gs pos="0">
                  <a:srgbClr val="0636EA">
                    <a:alpha val="100000"/>
                  </a:srgbClr>
                </a:gs>
                <a:gs pos="50000">
                  <a:srgbClr val="0636EA">
                    <a:alpha val="100000"/>
                  </a:srgbClr>
                </a:gs>
                <a:gs pos="100000">
                  <a:srgbClr val="C0D2FF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869775" y="2916274"/>
            <a:ext cx="1966503" cy="422794"/>
            <a:chOff x="0" y="0"/>
            <a:chExt cx="3933006" cy="845588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3907663" cy="820166"/>
            </a:xfrm>
            <a:custGeom>
              <a:avLst/>
              <a:gdLst/>
              <a:ahLst/>
              <a:cxnLst/>
              <a:rect l="l" t="t" r="r" b="b"/>
              <a:pathLst>
                <a:path w="3907663" h="820166">
                  <a:moveTo>
                    <a:pt x="0" y="410083"/>
                  </a:moveTo>
                  <a:cubicBezTo>
                    <a:pt x="0" y="183642"/>
                    <a:pt x="188087" y="0"/>
                    <a:pt x="420116" y="0"/>
                  </a:cubicBezTo>
                  <a:lnTo>
                    <a:pt x="3487547" y="0"/>
                  </a:lnTo>
                  <a:cubicBezTo>
                    <a:pt x="3719576" y="0"/>
                    <a:pt x="3907663" y="183642"/>
                    <a:pt x="3907663" y="410083"/>
                  </a:cubicBezTo>
                  <a:cubicBezTo>
                    <a:pt x="3907663" y="636524"/>
                    <a:pt x="3719576" y="820166"/>
                    <a:pt x="3487547" y="820166"/>
                  </a:cubicBezTo>
                  <a:lnTo>
                    <a:pt x="420116" y="820166"/>
                  </a:lnTo>
                  <a:cubicBezTo>
                    <a:pt x="188087" y="820166"/>
                    <a:pt x="0" y="636524"/>
                    <a:pt x="0" y="410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933063" cy="845566"/>
            </a:xfrm>
            <a:custGeom>
              <a:avLst/>
              <a:gdLst/>
              <a:ahLst/>
              <a:cxnLst/>
              <a:rect l="l" t="t" r="r" b="b"/>
              <a:pathLst>
                <a:path w="3933063" h="845566">
                  <a:moveTo>
                    <a:pt x="0" y="422783"/>
                  </a:moveTo>
                  <a:cubicBezTo>
                    <a:pt x="0" y="188976"/>
                    <a:pt x="194056" y="0"/>
                    <a:pt x="432816" y="0"/>
                  </a:cubicBezTo>
                  <a:lnTo>
                    <a:pt x="3500247" y="0"/>
                  </a:lnTo>
                  <a:lnTo>
                    <a:pt x="3500247" y="12700"/>
                  </a:lnTo>
                  <a:lnTo>
                    <a:pt x="3500247" y="0"/>
                  </a:lnTo>
                  <a:cubicBezTo>
                    <a:pt x="3739007" y="0"/>
                    <a:pt x="3933063" y="188976"/>
                    <a:pt x="3933063" y="422783"/>
                  </a:cubicBezTo>
                  <a:lnTo>
                    <a:pt x="3920363" y="422783"/>
                  </a:lnTo>
                  <a:lnTo>
                    <a:pt x="3933063" y="422783"/>
                  </a:lnTo>
                  <a:lnTo>
                    <a:pt x="3920363" y="422783"/>
                  </a:lnTo>
                  <a:lnTo>
                    <a:pt x="3933063" y="422783"/>
                  </a:lnTo>
                  <a:cubicBezTo>
                    <a:pt x="3933063" y="656590"/>
                    <a:pt x="3739007" y="845566"/>
                    <a:pt x="3500247" y="845566"/>
                  </a:cubicBezTo>
                  <a:lnTo>
                    <a:pt x="3500247" y="832866"/>
                  </a:lnTo>
                  <a:lnTo>
                    <a:pt x="3500247" y="845566"/>
                  </a:lnTo>
                  <a:lnTo>
                    <a:pt x="432816" y="845566"/>
                  </a:lnTo>
                  <a:lnTo>
                    <a:pt x="432816" y="832866"/>
                  </a:lnTo>
                  <a:lnTo>
                    <a:pt x="432816" y="845566"/>
                  </a:lnTo>
                  <a:cubicBezTo>
                    <a:pt x="194056" y="845566"/>
                    <a:pt x="0" y="656590"/>
                    <a:pt x="0" y="422783"/>
                  </a:cubicBezTo>
                  <a:moveTo>
                    <a:pt x="25400" y="422783"/>
                  </a:moveTo>
                  <a:lnTo>
                    <a:pt x="12700" y="422783"/>
                  </a:lnTo>
                  <a:lnTo>
                    <a:pt x="25400" y="422783"/>
                  </a:lnTo>
                  <a:cubicBezTo>
                    <a:pt x="25400" y="641985"/>
                    <a:pt x="207518" y="820166"/>
                    <a:pt x="432816" y="820166"/>
                  </a:cubicBezTo>
                  <a:lnTo>
                    <a:pt x="3500247" y="820166"/>
                  </a:lnTo>
                  <a:cubicBezTo>
                    <a:pt x="3725545" y="820166"/>
                    <a:pt x="3907663" y="641985"/>
                    <a:pt x="3907663" y="422783"/>
                  </a:cubicBezTo>
                  <a:cubicBezTo>
                    <a:pt x="3907663" y="203581"/>
                    <a:pt x="3725545" y="25400"/>
                    <a:pt x="3500247" y="25400"/>
                  </a:cubicBezTo>
                  <a:lnTo>
                    <a:pt x="432816" y="25400"/>
                  </a:lnTo>
                  <a:lnTo>
                    <a:pt x="432816" y="12700"/>
                  </a:lnTo>
                  <a:lnTo>
                    <a:pt x="432816" y="25400"/>
                  </a:lnTo>
                  <a:cubicBezTo>
                    <a:pt x="207518" y="25400"/>
                    <a:pt x="25400" y="203581"/>
                    <a:pt x="25400" y="422783"/>
                  </a:cubicBezTo>
                  <a:close/>
                </a:path>
              </a:pathLst>
            </a:custGeom>
            <a:solidFill>
              <a:srgbClr val="36407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82475" y="3887557"/>
            <a:ext cx="1953803" cy="1826621"/>
            <a:chOff x="0" y="0"/>
            <a:chExt cx="3907606" cy="36532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7663" cy="3653282"/>
            </a:xfrm>
            <a:custGeom>
              <a:avLst/>
              <a:gdLst/>
              <a:ahLst/>
              <a:cxnLst/>
              <a:rect l="l" t="t" r="r" b="b"/>
              <a:pathLst>
                <a:path w="3907663" h="3653282">
                  <a:moveTo>
                    <a:pt x="0" y="105664"/>
                  </a:moveTo>
                  <a:cubicBezTo>
                    <a:pt x="0" y="47244"/>
                    <a:pt x="47244" y="0"/>
                    <a:pt x="105664" y="0"/>
                  </a:cubicBezTo>
                  <a:lnTo>
                    <a:pt x="3801999" y="0"/>
                  </a:lnTo>
                  <a:cubicBezTo>
                    <a:pt x="3860292" y="0"/>
                    <a:pt x="3907663" y="47244"/>
                    <a:pt x="3907663" y="105664"/>
                  </a:cubicBezTo>
                  <a:lnTo>
                    <a:pt x="3907663" y="3547618"/>
                  </a:lnTo>
                  <a:cubicBezTo>
                    <a:pt x="3907663" y="3605911"/>
                    <a:pt x="3860419" y="3653282"/>
                    <a:pt x="3801999" y="3653282"/>
                  </a:cubicBezTo>
                  <a:lnTo>
                    <a:pt x="105664" y="3653282"/>
                  </a:lnTo>
                  <a:cubicBezTo>
                    <a:pt x="47371" y="3653282"/>
                    <a:pt x="0" y="3606038"/>
                    <a:pt x="0" y="354761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3000"/>
                  </a:srgbClr>
                </a:gs>
                <a:gs pos="100000">
                  <a:srgbClr val="C0AE8F">
                    <a:alpha val="43000"/>
                  </a:srgbClr>
                </a:gs>
              </a:gsLst>
              <a:lin ang="2700000"/>
            </a:gradFill>
          </p:spPr>
        </p:sp>
      </p:grpSp>
      <p:grpSp>
        <p:nvGrpSpPr>
          <p:cNvPr id="13" name="Group 13"/>
          <p:cNvGrpSpPr/>
          <p:nvPr/>
        </p:nvGrpSpPr>
        <p:grpSpPr>
          <a:xfrm>
            <a:off x="3286350" y="1542275"/>
            <a:ext cx="1953803" cy="1826621"/>
            <a:chOff x="0" y="0"/>
            <a:chExt cx="3907606" cy="36532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07663" cy="3653282"/>
            </a:xfrm>
            <a:custGeom>
              <a:avLst/>
              <a:gdLst/>
              <a:ahLst/>
              <a:cxnLst/>
              <a:rect l="l" t="t" r="r" b="b"/>
              <a:pathLst>
                <a:path w="3907663" h="3653282">
                  <a:moveTo>
                    <a:pt x="0" y="105664"/>
                  </a:moveTo>
                  <a:cubicBezTo>
                    <a:pt x="0" y="47244"/>
                    <a:pt x="47244" y="0"/>
                    <a:pt x="105664" y="0"/>
                  </a:cubicBezTo>
                  <a:lnTo>
                    <a:pt x="3801999" y="0"/>
                  </a:lnTo>
                  <a:cubicBezTo>
                    <a:pt x="3860292" y="0"/>
                    <a:pt x="3907663" y="47244"/>
                    <a:pt x="3907663" y="105664"/>
                  </a:cubicBezTo>
                  <a:lnTo>
                    <a:pt x="3907663" y="3547618"/>
                  </a:lnTo>
                  <a:cubicBezTo>
                    <a:pt x="3907663" y="3605911"/>
                    <a:pt x="3860419" y="3653282"/>
                    <a:pt x="3801999" y="3653282"/>
                  </a:cubicBezTo>
                  <a:lnTo>
                    <a:pt x="105664" y="3653282"/>
                  </a:lnTo>
                  <a:cubicBezTo>
                    <a:pt x="47371" y="3653282"/>
                    <a:pt x="0" y="3606038"/>
                    <a:pt x="0" y="354761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3000"/>
                  </a:srgbClr>
                </a:gs>
                <a:gs pos="100000">
                  <a:srgbClr val="C0AE8F">
                    <a:alpha val="43000"/>
                  </a:srgbClr>
                </a:gs>
              </a:gsLst>
              <a:lin ang="2700000"/>
            </a:gradFill>
          </p:spPr>
        </p:sp>
      </p:grpSp>
      <p:grpSp>
        <p:nvGrpSpPr>
          <p:cNvPr id="15" name="Group 15"/>
          <p:cNvGrpSpPr/>
          <p:nvPr/>
        </p:nvGrpSpPr>
        <p:grpSpPr>
          <a:xfrm>
            <a:off x="3125681" y="3864161"/>
            <a:ext cx="1966503" cy="422794"/>
            <a:chOff x="0" y="0"/>
            <a:chExt cx="3933006" cy="845588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3907663" cy="820166"/>
            </a:xfrm>
            <a:custGeom>
              <a:avLst/>
              <a:gdLst/>
              <a:ahLst/>
              <a:cxnLst/>
              <a:rect l="l" t="t" r="r" b="b"/>
              <a:pathLst>
                <a:path w="3907663" h="820166">
                  <a:moveTo>
                    <a:pt x="0" y="410083"/>
                  </a:moveTo>
                  <a:cubicBezTo>
                    <a:pt x="0" y="183642"/>
                    <a:pt x="188087" y="0"/>
                    <a:pt x="420116" y="0"/>
                  </a:cubicBezTo>
                  <a:lnTo>
                    <a:pt x="3487547" y="0"/>
                  </a:lnTo>
                  <a:cubicBezTo>
                    <a:pt x="3719576" y="0"/>
                    <a:pt x="3907663" y="183642"/>
                    <a:pt x="3907663" y="410083"/>
                  </a:cubicBezTo>
                  <a:cubicBezTo>
                    <a:pt x="3907663" y="636524"/>
                    <a:pt x="3719576" y="820166"/>
                    <a:pt x="3487547" y="820166"/>
                  </a:cubicBezTo>
                  <a:lnTo>
                    <a:pt x="420116" y="820166"/>
                  </a:lnTo>
                  <a:cubicBezTo>
                    <a:pt x="188087" y="820166"/>
                    <a:pt x="0" y="636524"/>
                    <a:pt x="0" y="410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3933063" cy="845566"/>
            </a:xfrm>
            <a:custGeom>
              <a:avLst/>
              <a:gdLst/>
              <a:ahLst/>
              <a:cxnLst/>
              <a:rect l="l" t="t" r="r" b="b"/>
              <a:pathLst>
                <a:path w="3933063" h="845566">
                  <a:moveTo>
                    <a:pt x="0" y="422783"/>
                  </a:moveTo>
                  <a:cubicBezTo>
                    <a:pt x="0" y="188976"/>
                    <a:pt x="194056" y="0"/>
                    <a:pt x="432816" y="0"/>
                  </a:cubicBezTo>
                  <a:lnTo>
                    <a:pt x="3500247" y="0"/>
                  </a:lnTo>
                  <a:lnTo>
                    <a:pt x="3500247" y="12700"/>
                  </a:lnTo>
                  <a:lnTo>
                    <a:pt x="3500247" y="0"/>
                  </a:lnTo>
                  <a:cubicBezTo>
                    <a:pt x="3739007" y="0"/>
                    <a:pt x="3933063" y="188976"/>
                    <a:pt x="3933063" y="422783"/>
                  </a:cubicBezTo>
                  <a:lnTo>
                    <a:pt x="3920363" y="422783"/>
                  </a:lnTo>
                  <a:lnTo>
                    <a:pt x="3933063" y="422783"/>
                  </a:lnTo>
                  <a:lnTo>
                    <a:pt x="3920363" y="422783"/>
                  </a:lnTo>
                  <a:lnTo>
                    <a:pt x="3933063" y="422783"/>
                  </a:lnTo>
                  <a:cubicBezTo>
                    <a:pt x="3933063" y="656590"/>
                    <a:pt x="3739007" y="845566"/>
                    <a:pt x="3500247" y="845566"/>
                  </a:cubicBezTo>
                  <a:lnTo>
                    <a:pt x="3500247" y="832866"/>
                  </a:lnTo>
                  <a:lnTo>
                    <a:pt x="3500247" y="845566"/>
                  </a:lnTo>
                  <a:lnTo>
                    <a:pt x="432816" y="845566"/>
                  </a:lnTo>
                  <a:lnTo>
                    <a:pt x="432816" y="832866"/>
                  </a:lnTo>
                  <a:lnTo>
                    <a:pt x="432816" y="845566"/>
                  </a:lnTo>
                  <a:cubicBezTo>
                    <a:pt x="194056" y="845566"/>
                    <a:pt x="0" y="656590"/>
                    <a:pt x="0" y="422783"/>
                  </a:cubicBezTo>
                  <a:moveTo>
                    <a:pt x="25400" y="422783"/>
                  </a:moveTo>
                  <a:lnTo>
                    <a:pt x="12700" y="422783"/>
                  </a:lnTo>
                  <a:lnTo>
                    <a:pt x="25400" y="422783"/>
                  </a:lnTo>
                  <a:cubicBezTo>
                    <a:pt x="25400" y="641985"/>
                    <a:pt x="207518" y="820166"/>
                    <a:pt x="432816" y="820166"/>
                  </a:cubicBezTo>
                  <a:lnTo>
                    <a:pt x="3500247" y="820166"/>
                  </a:lnTo>
                  <a:cubicBezTo>
                    <a:pt x="3725545" y="820166"/>
                    <a:pt x="3907663" y="641985"/>
                    <a:pt x="3907663" y="422783"/>
                  </a:cubicBezTo>
                  <a:cubicBezTo>
                    <a:pt x="3907663" y="203581"/>
                    <a:pt x="3725545" y="25400"/>
                    <a:pt x="3500247" y="25400"/>
                  </a:cubicBezTo>
                  <a:lnTo>
                    <a:pt x="432816" y="25400"/>
                  </a:lnTo>
                  <a:lnTo>
                    <a:pt x="432816" y="12700"/>
                  </a:lnTo>
                  <a:lnTo>
                    <a:pt x="432816" y="25400"/>
                  </a:lnTo>
                  <a:cubicBezTo>
                    <a:pt x="207518" y="25400"/>
                    <a:pt x="25400" y="203581"/>
                    <a:pt x="25400" y="422783"/>
                  </a:cubicBezTo>
                  <a:close/>
                </a:path>
              </a:pathLst>
            </a:custGeom>
            <a:solidFill>
              <a:srgbClr val="36407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009549" y="3556541"/>
            <a:ext cx="116132" cy="116132"/>
            <a:chOff x="0" y="0"/>
            <a:chExt cx="232264" cy="2322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2156" cy="232156"/>
            </a:xfrm>
            <a:custGeom>
              <a:avLst/>
              <a:gdLst/>
              <a:ahLst/>
              <a:cxnLst/>
              <a:rect l="l" t="t" r="r" b="b"/>
              <a:pathLst>
                <a:path w="232156" h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gradFill rotWithShape="1">
              <a:gsLst>
                <a:gs pos="0">
                  <a:srgbClr val="0636EA">
                    <a:alpha val="100000"/>
                  </a:srgbClr>
                </a:gs>
                <a:gs pos="50000">
                  <a:srgbClr val="0636EA">
                    <a:alpha val="100000"/>
                  </a:srgbClr>
                </a:gs>
                <a:gs pos="100000">
                  <a:srgbClr val="C0D2FF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id="20" name="Group 20"/>
          <p:cNvGrpSpPr/>
          <p:nvPr/>
        </p:nvGrpSpPr>
        <p:grpSpPr>
          <a:xfrm>
            <a:off x="5240153" y="3556541"/>
            <a:ext cx="116132" cy="116132"/>
            <a:chOff x="0" y="0"/>
            <a:chExt cx="232264" cy="2322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2156" cy="232156"/>
            </a:xfrm>
            <a:custGeom>
              <a:avLst/>
              <a:gdLst/>
              <a:ahLst/>
              <a:cxnLst/>
              <a:rect l="l" t="t" r="r" b="b"/>
              <a:pathLst>
                <a:path w="232156" h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8DA2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401044" y="2894747"/>
            <a:ext cx="1966503" cy="422794"/>
            <a:chOff x="0" y="0"/>
            <a:chExt cx="3933006" cy="845588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3907663" cy="820166"/>
            </a:xfrm>
            <a:custGeom>
              <a:avLst/>
              <a:gdLst/>
              <a:ahLst/>
              <a:cxnLst/>
              <a:rect l="l" t="t" r="r" b="b"/>
              <a:pathLst>
                <a:path w="3907663" h="820166">
                  <a:moveTo>
                    <a:pt x="0" y="410083"/>
                  </a:moveTo>
                  <a:cubicBezTo>
                    <a:pt x="0" y="183642"/>
                    <a:pt x="188087" y="0"/>
                    <a:pt x="420116" y="0"/>
                  </a:cubicBezTo>
                  <a:lnTo>
                    <a:pt x="3487547" y="0"/>
                  </a:lnTo>
                  <a:cubicBezTo>
                    <a:pt x="3719576" y="0"/>
                    <a:pt x="3907663" y="183642"/>
                    <a:pt x="3907663" y="410083"/>
                  </a:cubicBezTo>
                  <a:cubicBezTo>
                    <a:pt x="3907663" y="636524"/>
                    <a:pt x="3719576" y="820166"/>
                    <a:pt x="3487547" y="820166"/>
                  </a:cubicBezTo>
                  <a:lnTo>
                    <a:pt x="420116" y="820166"/>
                  </a:lnTo>
                  <a:cubicBezTo>
                    <a:pt x="188087" y="820166"/>
                    <a:pt x="0" y="636524"/>
                    <a:pt x="0" y="410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3933063" cy="845566"/>
            </a:xfrm>
            <a:custGeom>
              <a:avLst/>
              <a:gdLst/>
              <a:ahLst/>
              <a:cxnLst/>
              <a:rect l="l" t="t" r="r" b="b"/>
              <a:pathLst>
                <a:path w="3933063" h="845566">
                  <a:moveTo>
                    <a:pt x="0" y="422783"/>
                  </a:moveTo>
                  <a:cubicBezTo>
                    <a:pt x="0" y="188976"/>
                    <a:pt x="194056" y="0"/>
                    <a:pt x="432816" y="0"/>
                  </a:cubicBezTo>
                  <a:lnTo>
                    <a:pt x="3500247" y="0"/>
                  </a:lnTo>
                  <a:lnTo>
                    <a:pt x="3500247" y="12700"/>
                  </a:lnTo>
                  <a:lnTo>
                    <a:pt x="3500247" y="0"/>
                  </a:lnTo>
                  <a:cubicBezTo>
                    <a:pt x="3739007" y="0"/>
                    <a:pt x="3933063" y="188976"/>
                    <a:pt x="3933063" y="422783"/>
                  </a:cubicBezTo>
                  <a:lnTo>
                    <a:pt x="3920363" y="422783"/>
                  </a:lnTo>
                  <a:lnTo>
                    <a:pt x="3933063" y="422783"/>
                  </a:lnTo>
                  <a:lnTo>
                    <a:pt x="3920363" y="422783"/>
                  </a:lnTo>
                  <a:lnTo>
                    <a:pt x="3933063" y="422783"/>
                  </a:lnTo>
                  <a:cubicBezTo>
                    <a:pt x="3933063" y="656590"/>
                    <a:pt x="3739007" y="845566"/>
                    <a:pt x="3500247" y="845566"/>
                  </a:cubicBezTo>
                  <a:lnTo>
                    <a:pt x="3500247" y="832866"/>
                  </a:lnTo>
                  <a:lnTo>
                    <a:pt x="3500247" y="845566"/>
                  </a:lnTo>
                  <a:lnTo>
                    <a:pt x="432816" y="845566"/>
                  </a:lnTo>
                  <a:lnTo>
                    <a:pt x="432816" y="832866"/>
                  </a:lnTo>
                  <a:lnTo>
                    <a:pt x="432816" y="845566"/>
                  </a:lnTo>
                  <a:cubicBezTo>
                    <a:pt x="194056" y="845566"/>
                    <a:pt x="0" y="656590"/>
                    <a:pt x="0" y="422783"/>
                  </a:cubicBezTo>
                  <a:moveTo>
                    <a:pt x="25400" y="422783"/>
                  </a:moveTo>
                  <a:lnTo>
                    <a:pt x="12700" y="422783"/>
                  </a:lnTo>
                  <a:lnTo>
                    <a:pt x="25400" y="422783"/>
                  </a:lnTo>
                  <a:cubicBezTo>
                    <a:pt x="25400" y="641985"/>
                    <a:pt x="207518" y="820166"/>
                    <a:pt x="432816" y="820166"/>
                  </a:cubicBezTo>
                  <a:lnTo>
                    <a:pt x="3500247" y="820166"/>
                  </a:lnTo>
                  <a:cubicBezTo>
                    <a:pt x="3725545" y="820166"/>
                    <a:pt x="3907663" y="641985"/>
                    <a:pt x="3907663" y="422783"/>
                  </a:cubicBezTo>
                  <a:cubicBezTo>
                    <a:pt x="3907663" y="203581"/>
                    <a:pt x="3725545" y="25400"/>
                    <a:pt x="3500247" y="25400"/>
                  </a:cubicBezTo>
                  <a:lnTo>
                    <a:pt x="432816" y="25400"/>
                  </a:lnTo>
                  <a:lnTo>
                    <a:pt x="432816" y="12700"/>
                  </a:lnTo>
                  <a:lnTo>
                    <a:pt x="432816" y="25400"/>
                  </a:lnTo>
                  <a:cubicBezTo>
                    <a:pt x="207518" y="25400"/>
                    <a:pt x="25400" y="203581"/>
                    <a:pt x="25400" y="422783"/>
                  </a:cubicBezTo>
                  <a:close/>
                </a:path>
              </a:pathLst>
            </a:custGeom>
            <a:solidFill>
              <a:srgbClr val="364076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460365" y="3944620"/>
            <a:ext cx="1953895" cy="1770380"/>
            <a:chOff x="0" y="0"/>
            <a:chExt cx="3907606" cy="365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07663" cy="3653282"/>
            </a:xfrm>
            <a:custGeom>
              <a:avLst/>
              <a:gdLst/>
              <a:ahLst/>
              <a:cxnLst/>
              <a:rect l="l" t="t" r="r" b="b"/>
              <a:pathLst>
                <a:path w="3907663" h="3653282">
                  <a:moveTo>
                    <a:pt x="0" y="105664"/>
                  </a:moveTo>
                  <a:cubicBezTo>
                    <a:pt x="0" y="47244"/>
                    <a:pt x="47244" y="0"/>
                    <a:pt x="105664" y="0"/>
                  </a:cubicBezTo>
                  <a:lnTo>
                    <a:pt x="3801999" y="0"/>
                  </a:lnTo>
                  <a:cubicBezTo>
                    <a:pt x="3860292" y="0"/>
                    <a:pt x="3907663" y="47244"/>
                    <a:pt x="3907663" y="105664"/>
                  </a:cubicBezTo>
                  <a:lnTo>
                    <a:pt x="3907663" y="3547618"/>
                  </a:lnTo>
                  <a:cubicBezTo>
                    <a:pt x="3907663" y="3605911"/>
                    <a:pt x="3860419" y="3653282"/>
                    <a:pt x="3801999" y="3653282"/>
                  </a:cubicBezTo>
                  <a:lnTo>
                    <a:pt x="105664" y="3653282"/>
                  </a:lnTo>
                  <a:cubicBezTo>
                    <a:pt x="47371" y="3653282"/>
                    <a:pt x="0" y="3606038"/>
                    <a:pt x="0" y="354761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3000"/>
                  </a:srgbClr>
                </a:gs>
                <a:gs pos="100000">
                  <a:srgbClr val="C0AE8F">
                    <a:alpha val="43000"/>
                  </a:srgbClr>
                </a:gs>
              </a:gsLst>
              <a:lin ang="2700000"/>
            </a:gradFill>
          </p:spPr>
        </p:sp>
      </p:grpSp>
      <p:grpSp>
        <p:nvGrpSpPr>
          <p:cNvPr id="27" name="Group 27"/>
          <p:cNvGrpSpPr/>
          <p:nvPr/>
        </p:nvGrpSpPr>
        <p:grpSpPr>
          <a:xfrm>
            <a:off x="7655587" y="1542275"/>
            <a:ext cx="1953803" cy="1826621"/>
            <a:chOff x="0" y="0"/>
            <a:chExt cx="3907606" cy="36532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07663" cy="3653282"/>
            </a:xfrm>
            <a:custGeom>
              <a:avLst/>
              <a:gdLst/>
              <a:ahLst/>
              <a:cxnLst/>
              <a:rect l="l" t="t" r="r" b="b"/>
              <a:pathLst>
                <a:path w="3907663" h="3653282">
                  <a:moveTo>
                    <a:pt x="0" y="105664"/>
                  </a:moveTo>
                  <a:cubicBezTo>
                    <a:pt x="0" y="47244"/>
                    <a:pt x="47244" y="0"/>
                    <a:pt x="105664" y="0"/>
                  </a:cubicBezTo>
                  <a:lnTo>
                    <a:pt x="3801999" y="0"/>
                  </a:lnTo>
                  <a:cubicBezTo>
                    <a:pt x="3860292" y="0"/>
                    <a:pt x="3907663" y="47244"/>
                    <a:pt x="3907663" y="105664"/>
                  </a:cubicBezTo>
                  <a:lnTo>
                    <a:pt x="3907663" y="3547618"/>
                  </a:lnTo>
                  <a:cubicBezTo>
                    <a:pt x="3907663" y="3605911"/>
                    <a:pt x="3860419" y="3653282"/>
                    <a:pt x="3801999" y="3653282"/>
                  </a:cubicBezTo>
                  <a:lnTo>
                    <a:pt x="105664" y="3653282"/>
                  </a:lnTo>
                  <a:cubicBezTo>
                    <a:pt x="47371" y="3653282"/>
                    <a:pt x="0" y="3606038"/>
                    <a:pt x="0" y="354761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3000"/>
                  </a:srgbClr>
                </a:gs>
                <a:gs pos="100000">
                  <a:srgbClr val="C0AE8F">
                    <a:alpha val="43000"/>
                  </a:srgbClr>
                </a:gs>
              </a:gsLst>
              <a:lin ang="2700000"/>
            </a:gradFill>
          </p:spPr>
        </p:sp>
      </p:grpSp>
      <p:grpSp>
        <p:nvGrpSpPr>
          <p:cNvPr id="29" name="Group 29"/>
          <p:cNvGrpSpPr/>
          <p:nvPr/>
        </p:nvGrpSpPr>
        <p:grpSpPr>
          <a:xfrm>
            <a:off x="7642887" y="3944707"/>
            <a:ext cx="1966503" cy="422794"/>
            <a:chOff x="0" y="0"/>
            <a:chExt cx="3933006" cy="845588"/>
          </a:xfrm>
        </p:grpSpPr>
        <p:sp>
          <p:nvSpPr>
            <p:cNvPr id="30" name="Freeform 30"/>
            <p:cNvSpPr/>
            <p:nvPr/>
          </p:nvSpPr>
          <p:spPr>
            <a:xfrm>
              <a:off x="12700" y="12700"/>
              <a:ext cx="3907663" cy="820166"/>
            </a:xfrm>
            <a:custGeom>
              <a:avLst/>
              <a:gdLst/>
              <a:ahLst/>
              <a:cxnLst/>
              <a:rect l="l" t="t" r="r" b="b"/>
              <a:pathLst>
                <a:path w="3907663" h="820166">
                  <a:moveTo>
                    <a:pt x="0" y="410083"/>
                  </a:moveTo>
                  <a:cubicBezTo>
                    <a:pt x="0" y="183642"/>
                    <a:pt x="188087" y="0"/>
                    <a:pt x="420116" y="0"/>
                  </a:cubicBezTo>
                  <a:lnTo>
                    <a:pt x="3487547" y="0"/>
                  </a:lnTo>
                  <a:cubicBezTo>
                    <a:pt x="3719576" y="0"/>
                    <a:pt x="3907663" y="183642"/>
                    <a:pt x="3907663" y="410083"/>
                  </a:cubicBezTo>
                  <a:cubicBezTo>
                    <a:pt x="3907663" y="636524"/>
                    <a:pt x="3719576" y="820166"/>
                    <a:pt x="3487547" y="820166"/>
                  </a:cubicBezTo>
                  <a:lnTo>
                    <a:pt x="420116" y="820166"/>
                  </a:lnTo>
                  <a:cubicBezTo>
                    <a:pt x="188087" y="820166"/>
                    <a:pt x="0" y="636524"/>
                    <a:pt x="0" y="410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3933063" cy="845566"/>
            </a:xfrm>
            <a:custGeom>
              <a:avLst/>
              <a:gdLst/>
              <a:ahLst/>
              <a:cxnLst/>
              <a:rect l="l" t="t" r="r" b="b"/>
              <a:pathLst>
                <a:path w="3933063" h="845566">
                  <a:moveTo>
                    <a:pt x="0" y="422783"/>
                  </a:moveTo>
                  <a:cubicBezTo>
                    <a:pt x="0" y="188976"/>
                    <a:pt x="194056" y="0"/>
                    <a:pt x="432816" y="0"/>
                  </a:cubicBezTo>
                  <a:lnTo>
                    <a:pt x="3500247" y="0"/>
                  </a:lnTo>
                  <a:lnTo>
                    <a:pt x="3500247" y="12700"/>
                  </a:lnTo>
                  <a:lnTo>
                    <a:pt x="3500247" y="0"/>
                  </a:lnTo>
                  <a:cubicBezTo>
                    <a:pt x="3739007" y="0"/>
                    <a:pt x="3933063" y="188976"/>
                    <a:pt x="3933063" y="422783"/>
                  </a:cubicBezTo>
                  <a:lnTo>
                    <a:pt x="3920363" y="422783"/>
                  </a:lnTo>
                  <a:lnTo>
                    <a:pt x="3933063" y="422783"/>
                  </a:lnTo>
                  <a:lnTo>
                    <a:pt x="3920363" y="422783"/>
                  </a:lnTo>
                  <a:lnTo>
                    <a:pt x="3933063" y="422783"/>
                  </a:lnTo>
                  <a:cubicBezTo>
                    <a:pt x="3933063" y="656590"/>
                    <a:pt x="3739007" y="845566"/>
                    <a:pt x="3500247" y="845566"/>
                  </a:cubicBezTo>
                  <a:lnTo>
                    <a:pt x="3500247" y="832866"/>
                  </a:lnTo>
                  <a:lnTo>
                    <a:pt x="3500247" y="845566"/>
                  </a:lnTo>
                  <a:lnTo>
                    <a:pt x="432816" y="845566"/>
                  </a:lnTo>
                  <a:lnTo>
                    <a:pt x="432816" y="832866"/>
                  </a:lnTo>
                  <a:lnTo>
                    <a:pt x="432816" y="845566"/>
                  </a:lnTo>
                  <a:cubicBezTo>
                    <a:pt x="194056" y="845566"/>
                    <a:pt x="0" y="656590"/>
                    <a:pt x="0" y="422783"/>
                  </a:cubicBezTo>
                  <a:moveTo>
                    <a:pt x="25400" y="422783"/>
                  </a:moveTo>
                  <a:lnTo>
                    <a:pt x="12700" y="422783"/>
                  </a:lnTo>
                  <a:lnTo>
                    <a:pt x="25400" y="422783"/>
                  </a:lnTo>
                  <a:cubicBezTo>
                    <a:pt x="25400" y="641985"/>
                    <a:pt x="207518" y="820166"/>
                    <a:pt x="432816" y="820166"/>
                  </a:cubicBezTo>
                  <a:lnTo>
                    <a:pt x="3500247" y="820166"/>
                  </a:lnTo>
                  <a:cubicBezTo>
                    <a:pt x="3725545" y="820166"/>
                    <a:pt x="3907663" y="641985"/>
                    <a:pt x="3907663" y="422783"/>
                  </a:cubicBezTo>
                  <a:cubicBezTo>
                    <a:pt x="3907663" y="203581"/>
                    <a:pt x="3725545" y="25400"/>
                    <a:pt x="3500247" y="25400"/>
                  </a:cubicBezTo>
                  <a:lnTo>
                    <a:pt x="432816" y="25400"/>
                  </a:lnTo>
                  <a:lnTo>
                    <a:pt x="432816" y="12700"/>
                  </a:lnTo>
                  <a:lnTo>
                    <a:pt x="432816" y="25400"/>
                  </a:lnTo>
                  <a:cubicBezTo>
                    <a:pt x="207518" y="25400"/>
                    <a:pt x="25400" y="203581"/>
                    <a:pt x="25400" y="422783"/>
                  </a:cubicBezTo>
                  <a:close/>
                </a:path>
              </a:pathLst>
            </a:custGeom>
            <a:solidFill>
              <a:srgbClr val="364076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7470835" y="3556541"/>
            <a:ext cx="116132" cy="116132"/>
            <a:chOff x="0" y="0"/>
            <a:chExt cx="232264" cy="2322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32156" cy="232156"/>
            </a:xfrm>
            <a:custGeom>
              <a:avLst/>
              <a:gdLst/>
              <a:ahLst/>
              <a:cxnLst/>
              <a:rect l="l" t="t" r="r" b="b"/>
              <a:pathLst>
                <a:path w="232156" h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8DA2FF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3067685" y="3684270"/>
            <a:ext cx="1953895" cy="7861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795"/>
              </a:lnSpc>
            </a:pPr>
            <a:r>
              <a:rPr lang="en-US" sz="2285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情绪理解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14010" y="2732405"/>
            <a:ext cx="1953895" cy="7664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795"/>
              </a:lnSpc>
            </a:pPr>
            <a:r>
              <a:rPr lang="en-US" sz="2285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长期记忆调用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49210" y="3750310"/>
            <a:ext cx="1953895" cy="7988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795"/>
              </a:lnSpc>
            </a:pPr>
            <a:r>
              <a:rPr lang="en-US" sz="2285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AI回应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701517" y="3538875"/>
            <a:ext cx="116132" cy="116132"/>
            <a:chOff x="0" y="0"/>
            <a:chExt cx="232264" cy="23226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32156" cy="232156"/>
            </a:xfrm>
            <a:custGeom>
              <a:avLst/>
              <a:gdLst/>
              <a:ahLst/>
              <a:cxnLst/>
              <a:rect l="l" t="t" r="r" b="b"/>
              <a:pathLst>
                <a:path w="232156" h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8DA2FF"/>
            </a:solidFill>
          </p:spPr>
        </p:sp>
      </p:grpSp>
      <p:sp>
        <p:nvSpPr>
          <p:cNvPr id="54" name="TextBox 54"/>
          <p:cNvSpPr txBox="1"/>
          <p:nvPr/>
        </p:nvSpPr>
        <p:spPr>
          <a:xfrm>
            <a:off x="930910" y="2732405"/>
            <a:ext cx="1953895" cy="800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795"/>
              </a:lnSpc>
            </a:pPr>
            <a:r>
              <a:rPr lang="en-US" sz="2285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情绪表达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1787523" y="3559701"/>
            <a:ext cx="116132" cy="116132"/>
            <a:chOff x="0" y="0"/>
            <a:chExt cx="232264" cy="23226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32156" cy="232156"/>
            </a:xfrm>
            <a:custGeom>
              <a:avLst/>
              <a:gdLst/>
              <a:ahLst/>
              <a:cxnLst/>
              <a:rect l="l" t="t" r="r" b="b"/>
              <a:pathLst>
                <a:path w="232156" h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8DA2F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9817649" y="2928269"/>
            <a:ext cx="1966503" cy="422794"/>
            <a:chOff x="0" y="0"/>
            <a:chExt cx="3933006" cy="845588"/>
          </a:xfrm>
        </p:grpSpPr>
        <p:sp>
          <p:nvSpPr>
            <p:cNvPr id="61" name="Freeform 61"/>
            <p:cNvSpPr/>
            <p:nvPr/>
          </p:nvSpPr>
          <p:spPr>
            <a:xfrm>
              <a:off x="12700" y="12700"/>
              <a:ext cx="3907663" cy="820166"/>
            </a:xfrm>
            <a:custGeom>
              <a:avLst/>
              <a:gdLst/>
              <a:ahLst/>
              <a:cxnLst/>
              <a:rect l="l" t="t" r="r" b="b"/>
              <a:pathLst>
                <a:path w="3907663" h="820166">
                  <a:moveTo>
                    <a:pt x="0" y="410083"/>
                  </a:moveTo>
                  <a:cubicBezTo>
                    <a:pt x="0" y="183642"/>
                    <a:pt x="188087" y="0"/>
                    <a:pt x="420116" y="0"/>
                  </a:cubicBezTo>
                  <a:lnTo>
                    <a:pt x="3487547" y="0"/>
                  </a:lnTo>
                  <a:cubicBezTo>
                    <a:pt x="3719576" y="0"/>
                    <a:pt x="3907663" y="183642"/>
                    <a:pt x="3907663" y="410083"/>
                  </a:cubicBezTo>
                  <a:cubicBezTo>
                    <a:pt x="3907663" y="636524"/>
                    <a:pt x="3719576" y="820166"/>
                    <a:pt x="3487547" y="820166"/>
                  </a:cubicBezTo>
                  <a:lnTo>
                    <a:pt x="420116" y="820166"/>
                  </a:lnTo>
                  <a:cubicBezTo>
                    <a:pt x="188087" y="820166"/>
                    <a:pt x="0" y="636524"/>
                    <a:pt x="0" y="410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3933063" cy="845566"/>
            </a:xfrm>
            <a:custGeom>
              <a:avLst/>
              <a:gdLst/>
              <a:ahLst/>
              <a:cxnLst/>
              <a:rect l="l" t="t" r="r" b="b"/>
              <a:pathLst>
                <a:path w="3933063" h="845566">
                  <a:moveTo>
                    <a:pt x="0" y="422783"/>
                  </a:moveTo>
                  <a:cubicBezTo>
                    <a:pt x="0" y="188976"/>
                    <a:pt x="194056" y="0"/>
                    <a:pt x="432816" y="0"/>
                  </a:cubicBezTo>
                  <a:lnTo>
                    <a:pt x="3500247" y="0"/>
                  </a:lnTo>
                  <a:lnTo>
                    <a:pt x="3500247" y="12700"/>
                  </a:lnTo>
                  <a:lnTo>
                    <a:pt x="3500247" y="0"/>
                  </a:lnTo>
                  <a:cubicBezTo>
                    <a:pt x="3739007" y="0"/>
                    <a:pt x="3933063" y="188976"/>
                    <a:pt x="3933063" y="422783"/>
                  </a:cubicBezTo>
                  <a:lnTo>
                    <a:pt x="3920363" y="422783"/>
                  </a:lnTo>
                  <a:lnTo>
                    <a:pt x="3933063" y="422783"/>
                  </a:lnTo>
                  <a:lnTo>
                    <a:pt x="3920363" y="422783"/>
                  </a:lnTo>
                  <a:lnTo>
                    <a:pt x="3933063" y="422783"/>
                  </a:lnTo>
                  <a:cubicBezTo>
                    <a:pt x="3933063" y="656590"/>
                    <a:pt x="3739007" y="845566"/>
                    <a:pt x="3500247" y="845566"/>
                  </a:cubicBezTo>
                  <a:lnTo>
                    <a:pt x="3500247" y="832866"/>
                  </a:lnTo>
                  <a:lnTo>
                    <a:pt x="3500247" y="845566"/>
                  </a:lnTo>
                  <a:lnTo>
                    <a:pt x="432816" y="845566"/>
                  </a:lnTo>
                  <a:lnTo>
                    <a:pt x="432816" y="832866"/>
                  </a:lnTo>
                  <a:lnTo>
                    <a:pt x="432816" y="845566"/>
                  </a:lnTo>
                  <a:cubicBezTo>
                    <a:pt x="194056" y="845566"/>
                    <a:pt x="0" y="656590"/>
                    <a:pt x="0" y="422783"/>
                  </a:cubicBezTo>
                  <a:moveTo>
                    <a:pt x="25400" y="422783"/>
                  </a:moveTo>
                  <a:lnTo>
                    <a:pt x="12700" y="422783"/>
                  </a:lnTo>
                  <a:lnTo>
                    <a:pt x="25400" y="422783"/>
                  </a:lnTo>
                  <a:cubicBezTo>
                    <a:pt x="25400" y="641985"/>
                    <a:pt x="207518" y="820166"/>
                    <a:pt x="432816" y="820166"/>
                  </a:cubicBezTo>
                  <a:lnTo>
                    <a:pt x="3500247" y="820166"/>
                  </a:lnTo>
                  <a:cubicBezTo>
                    <a:pt x="3725545" y="820166"/>
                    <a:pt x="3907663" y="641985"/>
                    <a:pt x="3907663" y="422783"/>
                  </a:cubicBezTo>
                  <a:cubicBezTo>
                    <a:pt x="3907663" y="203581"/>
                    <a:pt x="3725545" y="25400"/>
                    <a:pt x="3500247" y="25400"/>
                  </a:cubicBezTo>
                  <a:lnTo>
                    <a:pt x="432816" y="25400"/>
                  </a:lnTo>
                  <a:lnTo>
                    <a:pt x="432816" y="12700"/>
                  </a:lnTo>
                  <a:lnTo>
                    <a:pt x="432816" y="25400"/>
                  </a:lnTo>
                  <a:cubicBezTo>
                    <a:pt x="207518" y="25400"/>
                    <a:pt x="25400" y="203581"/>
                    <a:pt x="25400" y="422783"/>
                  </a:cubicBezTo>
                  <a:close/>
                </a:path>
              </a:pathLst>
            </a:custGeom>
            <a:solidFill>
              <a:srgbClr val="364076"/>
            </a:solidFill>
          </p:spPr>
        </p:sp>
      </p:grpSp>
      <p:sp>
        <p:nvSpPr>
          <p:cNvPr id="63" name="TextBox 63"/>
          <p:cNvSpPr txBox="1"/>
          <p:nvPr/>
        </p:nvSpPr>
        <p:spPr>
          <a:xfrm>
            <a:off x="9817735" y="2733040"/>
            <a:ext cx="1953895" cy="7994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795"/>
              </a:lnSpc>
            </a:pPr>
            <a:r>
              <a:rPr lang="en-US" sz="2285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家庭联动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9817735" y="3944620"/>
            <a:ext cx="1953895" cy="1770380"/>
            <a:chOff x="0" y="0"/>
            <a:chExt cx="3907606" cy="365324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907663" cy="3653282"/>
            </a:xfrm>
            <a:custGeom>
              <a:avLst/>
              <a:gdLst/>
              <a:ahLst/>
              <a:cxnLst/>
              <a:rect l="l" t="t" r="r" b="b"/>
              <a:pathLst>
                <a:path w="3907663" h="3653282">
                  <a:moveTo>
                    <a:pt x="0" y="105664"/>
                  </a:moveTo>
                  <a:cubicBezTo>
                    <a:pt x="0" y="47244"/>
                    <a:pt x="47244" y="0"/>
                    <a:pt x="105664" y="0"/>
                  </a:cubicBezTo>
                  <a:lnTo>
                    <a:pt x="3801999" y="0"/>
                  </a:lnTo>
                  <a:cubicBezTo>
                    <a:pt x="3860292" y="0"/>
                    <a:pt x="3907663" y="47244"/>
                    <a:pt x="3907663" y="105664"/>
                  </a:cubicBezTo>
                  <a:lnTo>
                    <a:pt x="3907663" y="3547618"/>
                  </a:lnTo>
                  <a:cubicBezTo>
                    <a:pt x="3907663" y="3605911"/>
                    <a:pt x="3860419" y="3653282"/>
                    <a:pt x="3801999" y="3653282"/>
                  </a:cubicBezTo>
                  <a:lnTo>
                    <a:pt x="105664" y="3653282"/>
                  </a:lnTo>
                  <a:cubicBezTo>
                    <a:pt x="47371" y="3653282"/>
                    <a:pt x="0" y="3606038"/>
                    <a:pt x="0" y="354761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3000"/>
                  </a:srgbClr>
                </a:gs>
                <a:gs pos="100000">
                  <a:srgbClr val="C0AE8F">
                    <a:alpha val="43000"/>
                  </a:srgbClr>
                </a:gs>
              </a:gsLst>
              <a:lin ang="2700000"/>
            </a:gradFill>
          </p:spPr>
        </p:sp>
      </p:grpSp>
      <p:grpSp>
        <p:nvGrpSpPr>
          <p:cNvPr id="67" name="Group 67"/>
          <p:cNvGrpSpPr/>
          <p:nvPr/>
        </p:nvGrpSpPr>
        <p:grpSpPr>
          <a:xfrm>
            <a:off x="111409" y="5919555"/>
            <a:ext cx="3933107" cy="938445"/>
            <a:chOff x="0" y="0"/>
            <a:chExt cx="1465800" cy="34974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465800" cy="349742"/>
            </a:xfrm>
            <a:custGeom>
              <a:avLst/>
              <a:gdLst/>
              <a:ahLst/>
              <a:cxnLst/>
              <a:rect l="l" t="t" r="r" b="b"/>
              <a:pathLst>
                <a:path w="1465800" h="349742">
                  <a:moveTo>
                    <a:pt x="52491" y="0"/>
                  </a:moveTo>
                  <a:lnTo>
                    <a:pt x="1413309" y="0"/>
                  </a:lnTo>
                  <a:cubicBezTo>
                    <a:pt x="1442299" y="0"/>
                    <a:pt x="1465800" y="23501"/>
                    <a:pt x="1465800" y="52491"/>
                  </a:cubicBezTo>
                  <a:lnTo>
                    <a:pt x="1465800" y="297251"/>
                  </a:lnTo>
                  <a:cubicBezTo>
                    <a:pt x="1465800" y="326241"/>
                    <a:pt x="1442299" y="349742"/>
                    <a:pt x="1413309" y="349742"/>
                  </a:cubicBezTo>
                  <a:lnTo>
                    <a:pt x="52491" y="349742"/>
                  </a:lnTo>
                  <a:cubicBezTo>
                    <a:pt x="23501" y="349742"/>
                    <a:pt x="0" y="326241"/>
                    <a:pt x="0" y="297251"/>
                  </a:cubicBezTo>
                  <a:lnTo>
                    <a:pt x="0" y="52491"/>
                  </a:lnTo>
                  <a:cubicBezTo>
                    <a:pt x="0" y="23501"/>
                    <a:pt x="23501" y="0"/>
                    <a:pt x="524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5000"/>
                  </a:srgbClr>
                </a:gs>
                <a:gs pos="100000">
                  <a:srgbClr val="C0AE8F">
                    <a:alpha val="55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1465800" cy="387842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89685" y="5771515"/>
            <a:ext cx="1235710" cy="8178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575"/>
              </a:lnSpc>
            </a:pPr>
            <a:r>
              <a:rPr lang="en-US" sz="2655" b="1">
                <a:solidFill>
                  <a:srgbClr val="97815B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懂情绪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43535" y="6311900"/>
            <a:ext cx="3472180" cy="5886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en-US" sz="1865">
                <a:solidFill>
                  <a:srgbClr val="B5A282">
                    <a:alpha val="75686"/>
                  </a:srgbClr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情感对话、心情记录、趋势分析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8263561" y="5885151"/>
            <a:ext cx="3808979" cy="938445"/>
            <a:chOff x="0" y="0"/>
            <a:chExt cx="1419539" cy="34974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19539" cy="349742"/>
            </a:xfrm>
            <a:custGeom>
              <a:avLst/>
              <a:gdLst/>
              <a:ahLst/>
              <a:cxnLst/>
              <a:rect l="l" t="t" r="r" b="b"/>
              <a:pathLst>
                <a:path w="1419539" h="349742">
                  <a:moveTo>
                    <a:pt x="54201" y="0"/>
                  </a:moveTo>
                  <a:lnTo>
                    <a:pt x="1365338" y="0"/>
                  </a:lnTo>
                  <a:cubicBezTo>
                    <a:pt x="1379713" y="0"/>
                    <a:pt x="1393499" y="5710"/>
                    <a:pt x="1403664" y="15875"/>
                  </a:cubicBezTo>
                  <a:cubicBezTo>
                    <a:pt x="1413828" y="26040"/>
                    <a:pt x="1419539" y="39826"/>
                    <a:pt x="1419539" y="54201"/>
                  </a:cubicBezTo>
                  <a:lnTo>
                    <a:pt x="1419539" y="295540"/>
                  </a:lnTo>
                  <a:cubicBezTo>
                    <a:pt x="1419539" y="325475"/>
                    <a:pt x="1395272" y="349742"/>
                    <a:pt x="1365338" y="349742"/>
                  </a:cubicBezTo>
                  <a:lnTo>
                    <a:pt x="54201" y="349742"/>
                  </a:lnTo>
                  <a:cubicBezTo>
                    <a:pt x="39826" y="349742"/>
                    <a:pt x="26040" y="344031"/>
                    <a:pt x="15875" y="333867"/>
                  </a:cubicBezTo>
                  <a:cubicBezTo>
                    <a:pt x="5710" y="323702"/>
                    <a:pt x="0" y="309916"/>
                    <a:pt x="0" y="295540"/>
                  </a:cubicBezTo>
                  <a:lnTo>
                    <a:pt x="0" y="54201"/>
                  </a:lnTo>
                  <a:cubicBezTo>
                    <a:pt x="0" y="24267"/>
                    <a:pt x="24267" y="0"/>
                    <a:pt x="542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55000"/>
                  </a:srgbClr>
                </a:gs>
                <a:gs pos="50000">
                  <a:srgbClr val="C0AE8F">
                    <a:alpha val="55000"/>
                  </a:srgbClr>
                </a:gs>
                <a:gs pos="100000">
                  <a:srgbClr val="D8D4CF">
                    <a:alpha val="5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1419539" cy="387842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263252" y="5919555"/>
            <a:ext cx="3784409" cy="938445"/>
            <a:chOff x="0" y="0"/>
            <a:chExt cx="1410382" cy="34974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410382" cy="349742"/>
            </a:xfrm>
            <a:custGeom>
              <a:avLst/>
              <a:gdLst/>
              <a:ahLst/>
              <a:cxnLst/>
              <a:rect l="l" t="t" r="r" b="b"/>
              <a:pathLst>
                <a:path w="1410382" h="349742">
                  <a:moveTo>
                    <a:pt x="54553" y="0"/>
                  </a:moveTo>
                  <a:lnTo>
                    <a:pt x="1355829" y="0"/>
                  </a:lnTo>
                  <a:cubicBezTo>
                    <a:pt x="1370298" y="0"/>
                    <a:pt x="1384173" y="5748"/>
                    <a:pt x="1394404" y="15978"/>
                  </a:cubicBezTo>
                  <a:cubicBezTo>
                    <a:pt x="1404635" y="26209"/>
                    <a:pt x="1410382" y="40085"/>
                    <a:pt x="1410382" y="54553"/>
                  </a:cubicBezTo>
                  <a:lnTo>
                    <a:pt x="1410382" y="295189"/>
                  </a:lnTo>
                  <a:cubicBezTo>
                    <a:pt x="1410382" y="325317"/>
                    <a:pt x="1385958" y="349742"/>
                    <a:pt x="1355829" y="349742"/>
                  </a:cubicBezTo>
                  <a:lnTo>
                    <a:pt x="54553" y="349742"/>
                  </a:lnTo>
                  <a:cubicBezTo>
                    <a:pt x="40085" y="349742"/>
                    <a:pt x="26209" y="343994"/>
                    <a:pt x="15978" y="333763"/>
                  </a:cubicBezTo>
                  <a:cubicBezTo>
                    <a:pt x="5748" y="323533"/>
                    <a:pt x="0" y="309657"/>
                    <a:pt x="0" y="295189"/>
                  </a:cubicBezTo>
                  <a:lnTo>
                    <a:pt x="0" y="54553"/>
                  </a:lnTo>
                  <a:cubicBezTo>
                    <a:pt x="0" y="40085"/>
                    <a:pt x="5748" y="26209"/>
                    <a:pt x="15978" y="15978"/>
                  </a:cubicBezTo>
                  <a:cubicBezTo>
                    <a:pt x="26209" y="5748"/>
                    <a:pt x="40085" y="0"/>
                    <a:pt x="545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55000"/>
                  </a:srgbClr>
                </a:gs>
                <a:gs pos="50000">
                  <a:srgbClr val="C0AE8F">
                    <a:alpha val="55000"/>
                  </a:srgbClr>
                </a:gs>
                <a:gs pos="100000">
                  <a:srgbClr val="D8D4CF">
                    <a:alpha val="5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1410382" cy="387842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5537835" y="5772150"/>
            <a:ext cx="1235710" cy="8172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575"/>
              </a:lnSpc>
            </a:pPr>
            <a:r>
              <a:rPr lang="en-US" sz="2655" b="1">
                <a:solidFill>
                  <a:srgbClr val="97815B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记人生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609455" y="5714365"/>
            <a:ext cx="1235710" cy="8750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5575"/>
              </a:lnSpc>
            </a:pPr>
            <a:r>
              <a:rPr lang="en-US" sz="2655" b="1">
                <a:solidFill>
                  <a:srgbClr val="97815B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懂情绪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359910" y="6311900"/>
            <a:ext cx="3472180" cy="5886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en-US" sz="1865">
                <a:solidFill>
                  <a:srgbClr val="B5A282">
                    <a:alpha val="75686"/>
                  </a:srgbClr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怀旧互动、老照片、人生回忆录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432165" y="6311900"/>
            <a:ext cx="3472180" cy="5886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0"/>
              </a:lnSpc>
            </a:pPr>
            <a:r>
              <a:rPr lang="en-US" sz="1865">
                <a:solidFill>
                  <a:srgbClr val="B5A282">
                    <a:alpha val="75686"/>
                  </a:srgbClr>
                </a:solidFill>
                <a:latin typeface="思源黑体 3" panose="020B0500000000000000" charset="-122"/>
                <a:ea typeface="思源黑体 3" panose="020B0500000000000000" charset="-122"/>
                <a:cs typeface="思源黑体 3" panose="020B0500000000000000" charset="-122"/>
                <a:sym typeface="思源黑体 3" panose="020B0500000000000000" charset="-122"/>
              </a:rPr>
              <a:t>认知训练、家庭联动、异常提醒</a:t>
            </a: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30" y="3916045"/>
            <a:ext cx="2162175" cy="1855470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1470025"/>
            <a:ext cx="2172970" cy="188087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655" y="3916680"/>
            <a:ext cx="2230120" cy="1866265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775" y="1470025"/>
            <a:ext cx="2231390" cy="1875155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165" y="3916045"/>
            <a:ext cx="2232025" cy="1855470"/>
          </a:xfrm>
          <a:prstGeom prst="rect">
            <a:avLst/>
          </a:prstGeom>
        </p:spPr>
      </p:pic>
      <p:sp>
        <p:nvSpPr>
          <p:cNvPr id="89" name="AutoShape 42"/>
          <p:cNvSpPr/>
          <p:nvPr/>
        </p:nvSpPr>
        <p:spPr>
          <a:xfrm>
            <a:off x="584509" y="1013206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971" y="6268307"/>
            <a:ext cx="777579" cy="101256"/>
            <a:chOff x="0" y="0"/>
            <a:chExt cx="1555157" cy="20251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2512" cy="2025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70529" y="0"/>
              <a:ext cx="202512" cy="2025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41058" y="0"/>
              <a:ext cx="202512" cy="2025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1587" y="0"/>
              <a:ext cx="202512" cy="2025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82116" y="0"/>
              <a:ext cx="202512" cy="2025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52644" y="0"/>
              <a:ext cx="202512" cy="2025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 rot="10510853">
            <a:off x="-1194047" y="2645061"/>
            <a:ext cx="6336215" cy="633621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 rot="10510853">
            <a:off x="-1504257" y="998011"/>
            <a:ext cx="3757908" cy="375790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7" name="Group 27"/>
          <p:cNvGrpSpPr/>
          <p:nvPr/>
        </p:nvGrpSpPr>
        <p:grpSpPr>
          <a:xfrm rot="10510853">
            <a:off x="2950442" y="2453089"/>
            <a:ext cx="1565252" cy="156525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680585" y="2908935"/>
            <a:ext cx="7456805" cy="1400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5515" b="1">
                <a:solidFill>
                  <a:srgbClr val="100F0D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核心功能与实验验证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99027" y="1712873"/>
            <a:ext cx="1079571" cy="107957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55230" y="1446530"/>
            <a:ext cx="1355090" cy="16357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521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04</a:t>
            </a:r>
          </a:p>
        </p:txBody>
      </p:sp>
      <p:grpSp>
        <p:nvGrpSpPr>
          <p:cNvPr id="35" name="Group 35"/>
          <p:cNvGrpSpPr/>
          <p:nvPr/>
        </p:nvGrpSpPr>
        <p:grpSpPr>
          <a:xfrm rot="10510853">
            <a:off x="10462058" y="-1878954"/>
            <a:ext cx="3757908" cy="3757908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4364" y="881054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391160" y="1109345"/>
            <a:ext cx="3918585" cy="5648960"/>
            <a:chOff x="0" y="0"/>
            <a:chExt cx="1212113" cy="19221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12113" cy="1922115"/>
            </a:xfrm>
            <a:custGeom>
              <a:avLst/>
              <a:gdLst/>
              <a:ahLst/>
              <a:cxnLst/>
              <a:rect l="l" t="t" r="r" b="b"/>
              <a:pathLst>
                <a:path w="1212113" h="1922115">
                  <a:moveTo>
                    <a:pt x="12436" y="0"/>
                  </a:moveTo>
                  <a:lnTo>
                    <a:pt x="1199677" y="0"/>
                  </a:lnTo>
                  <a:cubicBezTo>
                    <a:pt x="1202975" y="0"/>
                    <a:pt x="1206138" y="1310"/>
                    <a:pt x="1208470" y="3642"/>
                  </a:cubicBezTo>
                  <a:cubicBezTo>
                    <a:pt x="1210803" y="5975"/>
                    <a:pt x="1212113" y="9138"/>
                    <a:pt x="1212113" y="12436"/>
                  </a:cubicBezTo>
                  <a:lnTo>
                    <a:pt x="1212113" y="1909679"/>
                  </a:lnTo>
                  <a:cubicBezTo>
                    <a:pt x="1212113" y="1916548"/>
                    <a:pt x="1206545" y="1922115"/>
                    <a:pt x="1199677" y="1922115"/>
                  </a:cubicBezTo>
                  <a:lnTo>
                    <a:pt x="12436" y="1922115"/>
                  </a:lnTo>
                  <a:cubicBezTo>
                    <a:pt x="5568" y="1922115"/>
                    <a:pt x="0" y="1916548"/>
                    <a:pt x="0" y="1909679"/>
                  </a:cubicBezTo>
                  <a:lnTo>
                    <a:pt x="0" y="12436"/>
                  </a:lnTo>
                  <a:cubicBezTo>
                    <a:pt x="0" y="5568"/>
                    <a:pt x="5568" y="0"/>
                    <a:pt x="124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AE8F">
                    <a:alpha val="40000"/>
                  </a:srgbClr>
                </a:gs>
                <a:gs pos="100000">
                  <a:srgbClr val="FFFFFF">
                    <a:alpha val="4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12113" cy="1960215"/>
            </a:xfrm>
            <a:prstGeom prst="rect">
              <a:avLst/>
            </a:prstGeom>
          </p:spPr>
          <p:txBody>
            <a:bodyPr lIns="36648" tIns="36648" rIns="36648" bIns="36648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84550" y="4612005"/>
            <a:ext cx="8806180" cy="1819275"/>
            <a:chOff x="0" y="0"/>
            <a:chExt cx="2367845" cy="5312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7845" cy="531234"/>
            </a:xfrm>
            <a:custGeom>
              <a:avLst/>
              <a:gdLst/>
              <a:ahLst/>
              <a:cxnLst/>
              <a:rect l="l" t="t" r="r" b="b"/>
              <a:pathLst>
                <a:path w="2367845" h="531234">
                  <a:moveTo>
                    <a:pt x="6366" y="0"/>
                  </a:moveTo>
                  <a:lnTo>
                    <a:pt x="2361479" y="0"/>
                  </a:lnTo>
                  <a:cubicBezTo>
                    <a:pt x="2363167" y="0"/>
                    <a:pt x="2364786" y="671"/>
                    <a:pt x="2365980" y="1865"/>
                  </a:cubicBezTo>
                  <a:cubicBezTo>
                    <a:pt x="2367174" y="3058"/>
                    <a:pt x="2367845" y="4678"/>
                    <a:pt x="2367845" y="6366"/>
                  </a:cubicBezTo>
                  <a:lnTo>
                    <a:pt x="2367845" y="524868"/>
                  </a:lnTo>
                  <a:cubicBezTo>
                    <a:pt x="2367845" y="526556"/>
                    <a:pt x="2367174" y="528176"/>
                    <a:pt x="2365980" y="529369"/>
                  </a:cubicBezTo>
                  <a:cubicBezTo>
                    <a:pt x="2364786" y="530563"/>
                    <a:pt x="2363167" y="531234"/>
                    <a:pt x="2361479" y="531234"/>
                  </a:cubicBezTo>
                  <a:lnTo>
                    <a:pt x="6366" y="531234"/>
                  </a:lnTo>
                  <a:cubicBezTo>
                    <a:pt x="4678" y="531234"/>
                    <a:pt x="3058" y="530563"/>
                    <a:pt x="1865" y="529369"/>
                  </a:cubicBezTo>
                  <a:cubicBezTo>
                    <a:pt x="671" y="528176"/>
                    <a:pt x="0" y="526556"/>
                    <a:pt x="0" y="524868"/>
                  </a:cubicBezTo>
                  <a:lnTo>
                    <a:pt x="0" y="6366"/>
                  </a:lnTo>
                  <a:cubicBezTo>
                    <a:pt x="0" y="4678"/>
                    <a:pt x="671" y="3058"/>
                    <a:pt x="1865" y="1865"/>
                  </a:cubicBezTo>
                  <a:cubicBezTo>
                    <a:pt x="3058" y="671"/>
                    <a:pt x="4678" y="0"/>
                    <a:pt x="63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5000"/>
                  </a:srgbClr>
                </a:gs>
                <a:gs pos="100000">
                  <a:srgbClr val="C0AE8F">
                    <a:alpha val="45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67845" cy="569334"/>
            </a:xfrm>
            <a:prstGeom prst="rect">
              <a:avLst/>
            </a:prstGeom>
          </p:spPr>
          <p:txBody>
            <a:bodyPr lIns="36648" tIns="36648" rIns="36648" bIns="36648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4770" y="5431541"/>
            <a:ext cx="2901131" cy="451485"/>
            <a:chOff x="0" y="-176530"/>
            <a:chExt cx="5802262" cy="90297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758040" cy="561334"/>
              <a:chOff x="0" y="0"/>
              <a:chExt cx="544798" cy="11088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44798" cy="110881"/>
              </a:xfrm>
              <a:custGeom>
                <a:avLst/>
                <a:gdLst/>
                <a:ahLst/>
                <a:cxnLst/>
                <a:rect l="l" t="t" r="r" b="b"/>
                <a:pathLst>
                  <a:path w="544798" h="110881">
                    <a:moveTo>
                      <a:pt x="29942" y="0"/>
                    </a:moveTo>
                    <a:lnTo>
                      <a:pt x="514856" y="0"/>
                    </a:lnTo>
                    <a:cubicBezTo>
                      <a:pt x="531393" y="0"/>
                      <a:pt x="544798" y="13405"/>
                      <a:pt x="544798" y="29942"/>
                    </a:cubicBezTo>
                    <a:lnTo>
                      <a:pt x="544798" y="80939"/>
                    </a:lnTo>
                    <a:cubicBezTo>
                      <a:pt x="544798" y="97475"/>
                      <a:pt x="531393" y="110881"/>
                      <a:pt x="514856" y="110881"/>
                    </a:cubicBezTo>
                    <a:lnTo>
                      <a:pt x="29942" y="110881"/>
                    </a:lnTo>
                    <a:cubicBezTo>
                      <a:pt x="13405" y="110881"/>
                      <a:pt x="0" y="97475"/>
                      <a:pt x="0" y="80939"/>
                    </a:cubicBezTo>
                    <a:lnTo>
                      <a:pt x="0" y="29942"/>
                    </a:lnTo>
                    <a:cubicBezTo>
                      <a:pt x="0" y="13405"/>
                      <a:pt x="13405" y="0"/>
                      <a:pt x="2994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AE8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44798" cy="148981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044222" y="0"/>
              <a:ext cx="2758040" cy="561334"/>
              <a:chOff x="0" y="0"/>
              <a:chExt cx="544798" cy="11088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4798" cy="110881"/>
              </a:xfrm>
              <a:custGeom>
                <a:avLst/>
                <a:gdLst/>
                <a:ahLst/>
                <a:cxnLst/>
                <a:rect l="l" t="t" r="r" b="b"/>
                <a:pathLst>
                  <a:path w="544798" h="110881">
                    <a:moveTo>
                      <a:pt x="29942" y="0"/>
                    </a:moveTo>
                    <a:lnTo>
                      <a:pt x="514856" y="0"/>
                    </a:lnTo>
                    <a:cubicBezTo>
                      <a:pt x="531393" y="0"/>
                      <a:pt x="544798" y="13405"/>
                      <a:pt x="544798" y="29942"/>
                    </a:cubicBezTo>
                    <a:lnTo>
                      <a:pt x="544798" y="80939"/>
                    </a:lnTo>
                    <a:cubicBezTo>
                      <a:pt x="544798" y="97475"/>
                      <a:pt x="531393" y="110881"/>
                      <a:pt x="514856" y="110881"/>
                    </a:cubicBezTo>
                    <a:lnTo>
                      <a:pt x="29942" y="110881"/>
                    </a:lnTo>
                    <a:cubicBezTo>
                      <a:pt x="13405" y="110881"/>
                      <a:pt x="0" y="97475"/>
                      <a:pt x="0" y="80939"/>
                    </a:cubicBezTo>
                    <a:lnTo>
                      <a:pt x="0" y="29942"/>
                    </a:lnTo>
                    <a:cubicBezTo>
                      <a:pt x="0" y="13405"/>
                      <a:pt x="13405" y="0"/>
                      <a:pt x="2994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AE8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44798" cy="148981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218440" y="-176530"/>
              <a:ext cx="2321560" cy="902971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2615"/>
                </a:lnSpc>
              </a:pPr>
              <a:r>
                <a:rPr lang="en-US" sz="1245" spc="233">
                  <a:solidFill>
                    <a:srgbClr val="100F0D"/>
                  </a:solidFill>
                  <a:latin typeface="可画耀动黑-简" panose="020B0500000000000000" charset="-122"/>
                  <a:ea typeface="可画耀动黑-简" panose="020B0500000000000000" charset="-122"/>
                  <a:cs typeface="可画耀动黑-简" panose="020B0500000000000000" charset="-122"/>
                  <a:sym typeface="可画耀动黑-简" panose="020B0500000000000000" charset="-122"/>
                </a:rPr>
                <a:t>共情性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01340" y="-146050"/>
              <a:ext cx="2321560" cy="872491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2615"/>
                </a:lnSpc>
              </a:pPr>
              <a:r>
                <a:rPr lang="en-US" sz="1245" spc="233">
                  <a:solidFill>
                    <a:srgbClr val="100F0D"/>
                  </a:solidFill>
                  <a:latin typeface="可画耀动黑-简" panose="020B0500000000000000" charset="-122"/>
                  <a:ea typeface="可画耀动黑-简" panose="020B0500000000000000" charset="-122"/>
                  <a:cs typeface="可画耀动黑-简" panose="020B0500000000000000" charset="-122"/>
                  <a:sym typeface="可画耀动黑-简" panose="020B0500000000000000" charset="-122"/>
                </a:rPr>
                <a:t>适老性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4200" y="-163830"/>
            <a:ext cx="3064510" cy="10433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735" b="1" spc="207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模型实验验证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74770" y="5887468"/>
            <a:ext cx="2901131" cy="422910"/>
            <a:chOff x="0" y="-148590"/>
            <a:chExt cx="5802262" cy="845821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2758040" cy="561334"/>
              <a:chOff x="0" y="0"/>
              <a:chExt cx="544798" cy="11088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44798" cy="110881"/>
              </a:xfrm>
              <a:custGeom>
                <a:avLst/>
                <a:gdLst/>
                <a:ahLst/>
                <a:cxnLst/>
                <a:rect l="l" t="t" r="r" b="b"/>
                <a:pathLst>
                  <a:path w="544798" h="110881">
                    <a:moveTo>
                      <a:pt x="29942" y="0"/>
                    </a:moveTo>
                    <a:lnTo>
                      <a:pt x="514856" y="0"/>
                    </a:lnTo>
                    <a:cubicBezTo>
                      <a:pt x="531393" y="0"/>
                      <a:pt x="544798" y="13405"/>
                      <a:pt x="544798" y="29942"/>
                    </a:cubicBezTo>
                    <a:lnTo>
                      <a:pt x="544798" y="80939"/>
                    </a:lnTo>
                    <a:cubicBezTo>
                      <a:pt x="544798" y="97475"/>
                      <a:pt x="531393" y="110881"/>
                      <a:pt x="514856" y="110881"/>
                    </a:cubicBezTo>
                    <a:lnTo>
                      <a:pt x="29942" y="110881"/>
                    </a:lnTo>
                    <a:cubicBezTo>
                      <a:pt x="13405" y="110881"/>
                      <a:pt x="0" y="97475"/>
                      <a:pt x="0" y="80939"/>
                    </a:cubicBezTo>
                    <a:lnTo>
                      <a:pt x="0" y="29942"/>
                    </a:lnTo>
                    <a:cubicBezTo>
                      <a:pt x="0" y="13405"/>
                      <a:pt x="13405" y="0"/>
                      <a:pt x="2994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AE8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544798" cy="148981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044222" y="0"/>
              <a:ext cx="2758040" cy="561334"/>
              <a:chOff x="0" y="0"/>
              <a:chExt cx="544798" cy="11088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44798" cy="110881"/>
              </a:xfrm>
              <a:custGeom>
                <a:avLst/>
                <a:gdLst/>
                <a:ahLst/>
                <a:cxnLst/>
                <a:rect l="l" t="t" r="r" b="b"/>
                <a:pathLst>
                  <a:path w="544798" h="110881">
                    <a:moveTo>
                      <a:pt x="29942" y="0"/>
                    </a:moveTo>
                    <a:lnTo>
                      <a:pt x="514856" y="0"/>
                    </a:lnTo>
                    <a:cubicBezTo>
                      <a:pt x="531393" y="0"/>
                      <a:pt x="544798" y="13405"/>
                      <a:pt x="544798" y="29942"/>
                    </a:cubicBezTo>
                    <a:lnTo>
                      <a:pt x="544798" y="80939"/>
                    </a:lnTo>
                    <a:cubicBezTo>
                      <a:pt x="544798" y="97475"/>
                      <a:pt x="531393" y="110881"/>
                      <a:pt x="514856" y="110881"/>
                    </a:cubicBezTo>
                    <a:lnTo>
                      <a:pt x="29942" y="110881"/>
                    </a:lnTo>
                    <a:cubicBezTo>
                      <a:pt x="13405" y="110881"/>
                      <a:pt x="0" y="97475"/>
                      <a:pt x="0" y="80939"/>
                    </a:cubicBezTo>
                    <a:lnTo>
                      <a:pt x="0" y="29942"/>
                    </a:lnTo>
                    <a:cubicBezTo>
                      <a:pt x="0" y="13405"/>
                      <a:pt x="13405" y="0"/>
                      <a:pt x="2994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AE8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544798" cy="148981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18440" y="-134620"/>
              <a:ext cx="2321560" cy="829311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2615"/>
                </a:lnSpc>
              </a:pPr>
              <a:r>
                <a:rPr lang="en-US" sz="1245" spc="233">
                  <a:solidFill>
                    <a:srgbClr val="100F0D"/>
                  </a:solidFill>
                  <a:latin typeface="可画耀动黑-简" panose="020B0500000000000000" charset="-122"/>
                  <a:ea typeface="可画耀动黑-简" panose="020B0500000000000000" charset="-122"/>
                  <a:cs typeface="可画耀动黑-简" panose="020B0500000000000000" charset="-122"/>
                  <a:sym typeface="可画耀动黑-简" panose="020B0500000000000000" charset="-122"/>
                </a:rPr>
                <a:t>个性化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4190" y="-148590"/>
              <a:ext cx="2540000" cy="845821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250" spc="234">
                  <a:solidFill>
                    <a:srgbClr val="100F0D"/>
                  </a:solidFill>
                  <a:latin typeface="可画耀动黑-简" panose="020B0500000000000000" charset="-122"/>
                  <a:ea typeface="可画耀动黑-简" panose="020B0500000000000000" charset="-122"/>
                  <a:cs typeface="可画耀动黑-简" panose="020B0500000000000000" charset="-122"/>
                  <a:sym typeface="可画耀动黑-简" panose="020B0500000000000000" charset="-122"/>
                </a:rPr>
                <a:t>安全性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87261" y="6255764"/>
            <a:ext cx="1379020" cy="445135"/>
            <a:chOff x="0" y="-163830"/>
            <a:chExt cx="2758040" cy="89027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2758040" cy="594103"/>
              <a:chOff x="0" y="0"/>
              <a:chExt cx="544798" cy="11735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44798" cy="117354"/>
              </a:xfrm>
              <a:custGeom>
                <a:avLst/>
                <a:gdLst/>
                <a:ahLst/>
                <a:cxnLst/>
                <a:rect l="l" t="t" r="r" b="b"/>
                <a:pathLst>
                  <a:path w="544798" h="117354">
                    <a:moveTo>
                      <a:pt x="29942" y="0"/>
                    </a:moveTo>
                    <a:lnTo>
                      <a:pt x="514856" y="0"/>
                    </a:lnTo>
                    <a:cubicBezTo>
                      <a:pt x="531393" y="0"/>
                      <a:pt x="544798" y="13405"/>
                      <a:pt x="544798" y="29942"/>
                    </a:cubicBezTo>
                    <a:lnTo>
                      <a:pt x="544798" y="87412"/>
                    </a:lnTo>
                    <a:cubicBezTo>
                      <a:pt x="544798" y="103948"/>
                      <a:pt x="531393" y="117354"/>
                      <a:pt x="514856" y="117354"/>
                    </a:cubicBezTo>
                    <a:lnTo>
                      <a:pt x="29942" y="117354"/>
                    </a:lnTo>
                    <a:cubicBezTo>
                      <a:pt x="13405" y="117354"/>
                      <a:pt x="0" y="103948"/>
                      <a:pt x="0" y="87412"/>
                    </a:cubicBezTo>
                    <a:lnTo>
                      <a:pt x="0" y="29942"/>
                    </a:lnTo>
                    <a:cubicBezTo>
                      <a:pt x="0" y="13405"/>
                      <a:pt x="13405" y="0"/>
                      <a:pt x="2994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AE8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544798" cy="155454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218440" y="-163830"/>
              <a:ext cx="2321560" cy="890270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2615"/>
                </a:lnSpc>
              </a:pPr>
              <a:r>
                <a:rPr lang="en-US" sz="1245" spc="233">
                  <a:solidFill>
                    <a:srgbClr val="100F0D"/>
                  </a:solidFill>
                  <a:latin typeface="可画耀动黑-简" panose="020B0500000000000000" charset="-122"/>
                  <a:ea typeface="可画耀动黑-简" panose="020B0500000000000000" charset="-122"/>
                  <a:cs typeface="可画耀动黑-简" panose="020B0500000000000000" charset="-122"/>
                  <a:sym typeface="可画耀动黑-简" panose="020B0500000000000000" charset="-122"/>
                </a:rPr>
                <a:t>对话延续性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375660" y="1316990"/>
            <a:ext cx="8816975" cy="1797685"/>
            <a:chOff x="0" y="0"/>
            <a:chExt cx="2367845" cy="4820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367845" cy="482020"/>
            </a:xfrm>
            <a:custGeom>
              <a:avLst/>
              <a:gdLst/>
              <a:ahLst/>
              <a:cxnLst/>
              <a:rect l="l" t="t" r="r" b="b"/>
              <a:pathLst>
                <a:path w="2367845" h="482020">
                  <a:moveTo>
                    <a:pt x="6366" y="0"/>
                  </a:moveTo>
                  <a:lnTo>
                    <a:pt x="2361479" y="0"/>
                  </a:lnTo>
                  <a:cubicBezTo>
                    <a:pt x="2363167" y="0"/>
                    <a:pt x="2364786" y="671"/>
                    <a:pt x="2365980" y="1865"/>
                  </a:cubicBezTo>
                  <a:cubicBezTo>
                    <a:pt x="2367174" y="3058"/>
                    <a:pt x="2367845" y="4678"/>
                    <a:pt x="2367845" y="6366"/>
                  </a:cubicBezTo>
                  <a:lnTo>
                    <a:pt x="2367845" y="475654"/>
                  </a:lnTo>
                  <a:cubicBezTo>
                    <a:pt x="2367845" y="477342"/>
                    <a:pt x="2367174" y="478961"/>
                    <a:pt x="2365980" y="480155"/>
                  </a:cubicBezTo>
                  <a:cubicBezTo>
                    <a:pt x="2364786" y="481349"/>
                    <a:pt x="2363167" y="482020"/>
                    <a:pt x="2361479" y="482020"/>
                  </a:cubicBezTo>
                  <a:lnTo>
                    <a:pt x="6366" y="482020"/>
                  </a:lnTo>
                  <a:cubicBezTo>
                    <a:pt x="4678" y="482020"/>
                    <a:pt x="3058" y="481349"/>
                    <a:pt x="1865" y="480155"/>
                  </a:cubicBezTo>
                  <a:cubicBezTo>
                    <a:pt x="671" y="478961"/>
                    <a:pt x="0" y="477342"/>
                    <a:pt x="0" y="475654"/>
                  </a:cubicBezTo>
                  <a:lnTo>
                    <a:pt x="0" y="6366"/>
                  </a:lnTo>
                  <a:cubicBezTo>
                    <a:pt x="0" y="4678"/>
                    <a:pt x="671" y="3058"/>
                    <a:pt x="1865" y="1865"/>
                  </a:cubicBezTo>
                  <a:cubicBezTo>
                    <a:pt x="3058" y="671"/>
                    <a:pt x="4678" y="0"/>
                    <a:pt x="63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5000"/>
                  </a:srgbClr>
                </a:gs>
                <a:gs pos="100000">
                  <a:srgbClr val="C0AE8F">
                    <a:alpha val="45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367845" cy="520120"/>
            </a:xfrm>
            <a:prstGeom prst="rect">
              <a:avLst/>
            </a:prstGeom>
          </p:spPr>
          <p:txBody>
            <a:bodyPr lIns="36648" tIns="36648" rIns="36648" bIns="36648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84550" y="3222625"/>
            <a:ext cx="8806815" cy="1485265"/>
            <a:chOff x="0" y="0"/>
            <a:chExt cx="2367845" cy="50029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67845" cy="500296"/>
            </a:xfrm>
            <a:custGeom>
              <a:avLst/>
              <a:gdLst/>
              <a:ahLst/>
              <a:cxnLst/>
              <a:rect l="l" t="t" r="r" b="b"/>
              <a:pathLst>
                <a:path w="2367845" h="500296">
                  <a:moveTo>
                    <a:pt x="6366" y="0"/>
                  </a:moveTo>
                  <a:lnTo>
                    <a:pt x="2361479" y="0"/>
                  </a:lnTo>
                  <a:cubicBezTo>
                    <a:pt x="2363167" y="0"/>
                    <a:pt x="2364786" y="671"/>
                    <a:pt x="2365980" y="1865"/>
                  </a:cubicBezTo>
                  <a:cubicBezTo>
                    <a:pt x="2367174" y="3058"/>
                    <a:pt x="2367845" y="4678"/>
                    <a:pt x="2367845" y="6366"/>
                  </a:cubicBezTo>
                  <a:lnTo>
                    <a:pt x="2367845" y="493930"/>
                  </a:lnTo>
                  <a:cubicBezTo>
                    <a:pt x="2367845" y="495618"/>
                    <a:pt x="2367174" y="497238"/>
                    <a:pt x="2365980" y="498431"/>
                  </a:cubicBezTo>
                  <a:cubicBezTo>
                    <a:pt x="2364786" y="499625"/>
                    <a:pt x="2363167" y="500296"/>
                    <a:pt x="2361479" y="500296"/>
                  </a:cubicBezTo>
                  <a:lnTo>
                    <a:pt x="6366" y="500296"/>
                  </a:lnTo>
                  <a:cubicBezTo>
                    <a:pt x="4678" y="500296"/>
                    <a:pt x="3058" y="499625"/>
                    <a:pt x="1865" y="498431"/>
                  </a:cubicBezTo>
                  <a:cubicBezTo>
                    <a:pt x="671" y="497238"/>
                    <a:pt x="0" y="495618"/>
                    <a:pt x="0" y="493930"/>
                  </a:cubicBezTo>
                  <a:lnTo>
                    <a:pt x="0" y="6366"/>
                  </a:lnTo>
                  <a:cubicBezTo>
                    <a:pt x="0" y="4678"/>
                    <a:pt x="671" y="3058"/>
                    <a:pt x="1865" y="1865"/>
                  </a:cubicBezTo>
                  <a:cubicBezTo>
                    <a:pt x="3058" y="671"/>
                    <a:pt x="4678" y="0"/>
                    <a:pt x="636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45000"/>
                  </a:srgbClr>
                </a:gs>
                <a:gs pos="100000">
                  <a:srgbClr val="C0AE8F">
                    <a:alpha val="45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2367845" cy="538396"/>
            </a:xfrm>
            <a:prstGeom prst="rect">
              <a:avLst/>
            </a:prstGeom>
          </p:spPr>
          <p:txBody>
            <a:bodyPr lIns="36648" tIns="36648" rIns="36648" bIns="36648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7" name="Group 30"/>
          <p:cNvGrpSpPr/>
          <p:nvPr/>
        </p:nvGrpSpPr>
        <p:grpSpPr>
          <a:xfrm>
            <a:off x="854710" y="1210310"/>
            <a:ext cx="2243455" cy="450850"/>
            <a:chOff x="0" y="0"/>
            <a:chExt cx="846544" cy="239697"/>
          </a:xfrm>
        </p:grpSpPr>
        <p:sp>
          <p:nvSpPr>
            <p:cNvPr id="58" name="Freeform 31"/>
            <p:cNvSpPr/>
            <p:nvPr/>
          </p:nvSpPr>
          <p:spPr>
            <a:xfrm>
              <a:off x="0" y="0"/>
              <a:ext cx="846544" cy="239697"/>
            </a:xfrm>
            <a:custGeom>
              <a:avLst/>
              <a:gdLst/>
              <a:ahLst/>
              <a:cxnLst/>
              <a:rect l="l" t="t" r="r" b="b"/>
              <a:pathLst>
                <a:path w="846544" h="239697">
                  <a:moveTo>
                    <a:pt x="18406" y="0"/>
                  </a:moveTo>
                  <a:lnTo>
                    <a:pt x="828138" y="0"/>
                  </a:lnTo>
                  <a:cubicBezTo>
                    <a:pt x="838303" y="0"/>
                    <a:pt x="846544" y="8241"/>
                    <a:pt x="846544" y="18406"/>
                  </a:cubicBezTo>
                  <a:lnTo>
                    <a:pt x="846544" y="221291"/>
                  </a:lnTo>
                  <a:cubicBezTo>
                    <a:pt x="846544" y="231457"/>
                    <a:pt x="838303" y="239697"/>
                    <a:pt x="828138" y="239697"/>
                  </a:cubicBezTo>
                  <a:lnTo>
                    <a:pt x="18406" y="239697"/>
                  </a:lnTo>
                  <a:cubicBezTo>
                    <a:pt x="8241" y="239697"/>
                    <a:pt x="0" y="231457"/>
                    <a:pt x="0" y="221291"/>
                  </a:cubicBezTo>
                  <a:lnTo>
                    <a:pt x="0" y="18406"/>
                  </a:lnTo>
                  <a:cubicBezTo>
                    <a:pt x="0" y="8241"/>
                    <a:pt x="8241" y="0"/>
                    <a:pt x="184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D5C9">
                    <a:alpha val="100000"/>
                  </a:srgbClr>
                </a:gs>
                <a:gs pos="50000">
                  <a:srgbClr val="C0AE8F">
                    <a:alpha val="100000"/>
                  </a:srgbClr>
                </a:gs>
                <a:gs pos="100000">
                  <a:srgbClr val="D8D4C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9" name="TextBox 32"/>
            <p:cNvSpPr txBox="1"/>
            <p:nvPr/>
          </p:nvSpPr>
          <p:spPr>
            <a:xfrm>
              <a:off x="0" y="-38100"/>
              <a:ext cx="846544" cy="277797"/>
            </a:xfrm>
            <a:prstGeom prst="rect">
              <a:avLst/>
            </a:prstGeom>
          </p:spPr>
          <p:txBody>
            <a:bodyPr lIns="35002" tIns="35002" rIns="35002" bIns="35002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855345" y="1210310"/>
            <a:ext cx="2243455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实验逻辑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772160" y="1722755"/>
            <a:ext cx="249428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三组模型，逐步验证</a:t>
            </a:r>
          </a:p>
        </p:txBody>
      </p:sp>
      <p:grpSp>
        <p:nvGrpSpPr>
          <p:cNvPr id="62" name="Group 30"/>
          <p:cNvGrpSpPr/>
          <p:nvPr/>
        </p:nvGrpSpPr>
        <p:grpSpPr>
          <a:xfrm>
            <a:off x="474980" y="2371090"/>
            <a:ext cx="574040" cy="574675"/>
            <a:chOff x="0" y="0"/>
            <a:chExt cx="812800" cy="812800"/>
          </a:xfrm>
        </p:grpSpPr>
        <p:sp>
          <p:nvSpPr>
            <p:cNvPr id="63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64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65" name="TextBox 33"/>
          <p:cNvSpPr txBox="1"/>
          <p:nvPr/>
        </p:nvSpPr>
        <p:spPr>
          <a:xfrm>
            <a:off x="391795" y="1808480"/>
            <a:ext cx="749935" cy="11372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1</a:t>
            </a:r>
          </a:p>
        </p:txBody>
      </p:sp>
      <p:grpSp>
        <p:nvGrpSpPr>
          <p:cNvPr id="66" name="Group 30"/>
          <p:cNvGrpSpPr/>
          <p:nvPr/>
        </p:nvGrpSpPr>
        <p:grpSpPr>
          <a:xfrm>
            <a:off x="474980" y="3438525"/>
            <a:ext cx="574040" cy="574675"/>
            <a:chOff x="0" y="0"/>
            <a:chExt cx="812800" cy="812800"/>
          </a:xfrm>
        </p:grpSpPr>
        <p:sp>
          <p:nvSpPr>
            <p:cNvPr id="67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68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grpSp>
        <p:nvGrpSpPr>
          <p:cNvPr id="69" name="Group 30"/>
          <p:cNvGrpSpPr/>
          <p:nvPr/>
        </p:nvGrpSpPr>
        <p:grpSpPr>
          <a:xfrm>
            <a:off x="474980" y="4505960"/>
            <a:ext cx="574040" cy="574675"/>
            <a:chOff x="0" y="0"/>
            <a:chExt cx="812800" cy="812800"/>
          </a:xfrm>
        </p:grpSpPr>
        <p:sp>
          <p:nvSpPr>
            <p:cNvPr id="70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71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72" name="TextBox 33"/>
          <p:cNvSpPr txBox="1"/>
          <p:nvPr/>
        </p:nvSpPr>
        <p:spPr>
          <a:xfrm>
            <a:off x="391795" y="2853055"/>
            <a:ext cx="749935" cy="11372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2</a:t>
            </a:r>
          </a:p>
        </p:txBody>
      </p:sp>
      <p:sp>
        <p:nvSpPr>
          <p:cNvPr id="73" name="TextBox 33"/>
          <p:cNvSpPr txBox="1"/>
          <p:nvPr/>
        </p:nvSpPr>
        <p:spPr>
          <a:xfrm>
            <a:off x="391160" y="3942080"/>
            <a:ext cx="749935" cy="11372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3</a:t>
            </a:r>
          </a:p>
        </p:txBody>
      </p:sp>
      <p:cxnSp>
        <p:nvCxnSpPr>
          <p:cNvPr id="74" name="直接连接符 73"/>
          <p:cNvCxnSpPr/>
          <p:nvPr/>
        </p:nvCxnSpPr>
        <p:spPr>
          <a:xfrm flipH="1">
            <a:off x="760730" y="2934970"/>
            <a:ext cx="6350" cy="503555"/>
          </a:xfrm>
          <a:prstGeom prst="line">
            <a:avLst/>
          </a:prstGeom>
          <a:ln>
            <a:solidFill>
              <a:srgbClr val="A68A64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>
            <a:off x="772160" y="4013200"/>
            <a:ext cx="6350" cy="503555"/>
          </a:xfrm>
          <a:prstGeom prst="line">
            <a:avLst/>
          </a:prstGeom>
          <a:ln>
            <a:solidFill>
              <a:srgbClr val="A68A64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TextBox 19"/>
          <p:cNvSpPr txBox="1"/>
          <p:nvPr/>
        </p:nvSpPr>
        <p:spPr>
          <a:xfrm>
            <a:off x="1204595" y="2245995"/>
            <a:ext cx="1629410" cy="8807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040"/>
              </a:lnSpc>
            </a:pPr>
            <a:r>
              <a:rPr lang="en-US" sz="2400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基座大模型</a:t>
            </a:r>
          </a:p>
        </p:txBody>
      </p:sp>
      <p:sp>
        <p:nvSpPr>
          <p:cNvPr id="77" name="TextBox 20"/>
          <p:cNvSpPr txBox="1"/>
          <p:nvPr/>
        </p:nvSpPr>
        <p:spPr>
          <a:xfrm>
            <a:off x="1141095" y="3323590"/>
            <a:ext cx="2243455" cy="9112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040"/>
              </a:lnSpc>
            </a:pPr>
            <a:r>
              <a:rPr lang="en-US" sz="2400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提示词优化模型</a:t>
            </a:r>
          </a:p>
        </p:txBody>
      </p:sp>
      <p:sp>
        <p:nvSpPr>
          <p:cNvPr id="78" name="TextBox 21"/>
          <p:cNvSpPr txBox="1"/>
          <p:nvPr/>
        </p:nvSpPr>
        <p:spPr>
          <a:xfrm>
            <a:off x="1141730" y="4359910"/>
            <a:ext cx="2044700" cy="9112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040"/>
              </a:lnSpc>
            </a:pPr>
            <a:r>
              <a:rPr lang="en-US" sz="2400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LoRA微调模型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391160" y="5079365"/>
            <a:ext cx="1845945" cy="351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评价维度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3581400" y="880110"/>
            <a:ext cx="3515995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rgbClr val="7F6447"/>
                </a:solidFill>
              </a:rPr>
              <a:t>同一输入，不同模型回应</a:t>
            </a:r>
          </a:p>
        </p:txBody>
      </p:sp>
      <p:sp>
        <p:nvSpPr>
          <p:cNvPr id="84" name="圆角矩形 83"/>
          <p:cNvSpPr/>
          <p:nvPr/>
        </p:nvSpPr>
        <p:spPr>
          <a:xfrm>
            <a:off x="3384550" y="1448435"/>
            <a:ext cx="2124710" cy="1535430"/>
          </a:xfrm>
          <a:prstGeom prst="roundRect">
            <a:avLst/>
          </a:prstGeom>
          <a:solidFill>
            <a:srgbClr val="E8DFD2"/>
          </a:solidFill>
          <a:ln>
            <a:solidFill>
              <a:srgbClr val="E8DF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>
            <a:off x="3384550" y="3126105"/>
            <a:ext cx="2124075" cy="1485900"/>
          </a:xfrm>
          <a:prstGeom prst="roundRect">
            <a:avLst/>
          </a:prstGeom>
          <a:solidFill>
            <a:srgbClr val="E8DFD2"/>
          </a:solidFill>
          <a:ln>
            <a:solidFill>
              <a:srgbClr val="E8DF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圆角矩形 94"/>
          <p:cNvSpPr/>
          <p:nvPr/>
        </p:nvSpPr>
        <p:spPr>
          <a:xfrm>
            <a:off x="3384550" y="4761230"/>
            <a:ext cx="2124075" cy="1547495"/>
          </a:xfrm>
          <a:prstGeom prst="roundRect">
            <a:avLst/>
          </a:prstGeom>
          <a:solidFill>
            <a:srgbClr val="A68A64"/>
          </a:solidFill>
          <a:ln>
            <a:solidFill>
              <a:srgbClr val="E8DF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Group 30"/>
          <p:cNvGrpSpPr/>
          <p:nvPr/>
        </p:nvGrpSpPr>
        <p:grpSpPr>
          <a:xfrm>
            <a:off x="3509010" y="1525270"/>
            <a:ext cx="574040" cy="574675"/>
            <a:chOff x="0" y="0"/>
            <a:chExt cx="812800" cy="812800"/>
          </a:xfrm>
        </p:grpSpPr>
        <p:sp>
          <p:nvSpPr>
            <p:cNvPr id="82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83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96" name="TextBox 33"/>
          <p:cNvSpPr txBox="1"/>
          <p:nvPr/>
        </p:nvSpPr>
        <p:spPr>
          <a:xfrm>
            <a:off x="3509010" y="998220"/>
            <a:ext cx="574040" cy="11010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1</a:t>
            </a:r>
          </a:p>
        </p:txBody>
      </p:sp>
      <p:grpSp>
        <p:nvGrpSpPr>
          <p:cNvPr id="91" name="Group 30"/>
          <p:cNvGrpSpPr/>
          <p:nvPr/>
        </p:nvGrpSpPr>
        <p:grpSpPr>
          <a:xfrm>
            <a:off x="3509010" y="3221990"/>
            <a:ext cx="574040" cy="574675"/>
            <a:chOff x="0" y="0"/>
            <a:chExt cx="812800" cy="812800"/>
          </a:xfrm>
        </p:grpSpPr>
        <p:sp>
          <p:nvSpPr>
            <p:cNvPr id="92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93" name="TextBox 3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97" name="TextBox 33"/>
          <p:cNvSpPr txBox="1"/>
          <p:nvPr/>
        </p:nvSpPr>
        <p:spPr>
          <a:xfrm>
            <a:off x="3384550" y="2659380"/>
            <a:ext cx="749935" cy="11372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2</a:t>
            </a:r>
          </a:p>
        </p:txBody>
      </p:sp>
      <p:sp>
        <p:nvSpPr>
          <p:cNvPr id="98" name="椭圆 97"/>
          <p:cNvSpPr/>
          <p:nvPr/>
        </p:nvSpPr>
        <p:spPr>
          <a:xfrm>
            <a:off x="3509010" y="4887595"/>
            <a:ext cx="573405" cy="55943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TextBox 33"/>
          <p:cNvSpPr txBox="1"/>
          <p:nvPr/>
        </p:nvSpPr>
        <p:spPr>
          <a:xfrm>
            <a:off x="3509010" y="4309745"/>
            <a:ext cx="616585" cy="11372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3000">
                <a:solidFill>
                  <a:srgbClr val="7F6447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3</a:t>
            </a:r>
          </a:p>
        </p:txBody>
      </p:sp>
      <p:sp>
        <p:nvSpPr>
          <p:cNvPr id="100" name="TextBox 19"/>
          <p:cNvSpPr txBox="1"/>
          <p:nvPr/>
        </p:nvSpPr>
        <p:spPr>
          <a:xfrm>
            <a:off x="4217035" y="1316990"/>
            <a:ext cx="1628775" cy="9283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040"/>
              </a:lnSpc>
            </a:pPr>
            <a:r>
              <a:rPr lang="en-US" sz="1600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基座大模型</a:t>
            </a: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0" y="1448435"/>
            <a:ext cx="6447790" cy="1534795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65" y="3126740"/>
            <a:ext cx="6448425" cy="1485265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765" y="4707890"/>
            <a:ext cx="6448425" cy="1602740"/>
          </a:xfrm>
          <a:prstGeom prst="rect">
            <a:avLst/>
          </a:prstGeom>
        </p:spPr>
      </p:pic>
      <p:sp>
        <p:nvSpPr>
          <p:cNvPr id="106" name="TextBox 20"/>
          <p:cNvSpPr txBox="1"/>
          <p:nvPr/>
        </p:nvSpPr>
        <p:spPr>
          <a:xfrm>
            <a:off x="4082415" y="3061335"/>
            <a:ext cx="1530350" cy="8807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040"/>
              </a:lnSpc>
            </a:pPr>
            <a:r>
              <a:rPr lang="en-US" sz="1600">
                <a:solidFill>
                  <a:srgbClr val="97815B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提示词优化模型</a:t>
            </a:r>
          </a:p>
        </p:txBody>
      </p:sp>
      <p:sp>
        <p:nvSpPr>
          <p:cNvPr id="107" name="TextBox 20"/>
          <p:cNvSpPr txBox="1"/>
          <p:nvPr/>
        </p:nvSpPr>
        <p:spPr>
          <a:xfrm>
            <a:off x="4216400" y="4639310"/>
            <a:ext cx="1396365" cy="8807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040"/>
              </a:lnSpc>
            </a:pPr>
            <a:r>
              <a:rPr lang="en-US" sz="1600">
                <a:solidFill>
                  <a:schemeClr val="bg1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LoRA</a:t>
            </a:r>
            <a:r>
              <a:rPr lang="zh-CN" altLang="en-US" sz="1600">
                <a:solidFill>
                  <a:schemeClr val="bg1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微调模型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3648710" y="318135"/>
            <a:ext cx="8542020" cy="3937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600">
                <a:solidFill>
                  <a:srgbClr val="7F644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通过三组模型输出对比，验证暖伴在</a:t>
            </a:r>
            <a:r>
              <a:rPr lang="zh-CN" altLang="en-US" sz="16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共情性、适老性、个性化与对话延续性</a:t>
            </a:r>
            <a:r>
              <a:rPr lang="zh-CN" altLang="en-US" sz="1600">
                <a:solidFill>
                  <a:srgbClr val="7F644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方面的优化效果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3488055" y="2245360"/>
            <a:ext cx="2124710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rgbClr val="7F6447"/>
                </a:solidFill>
              </a:rPr>
              <a:t>基础能力对照</a:t>
            </a:r>
          </a:p>
          <a:p>
            <a:r>
              <a:rPr lang="zh-CN" altLang="en-US" sz="1200">
                <a:solidFill>
                  <a:srgbClr val="7F6447"/>
                </a:solidFill>
              </a:rPr>
              <a:t>回应偏通用，缺少情绪识别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3488055" y="3942080"/>
            <a:ext cx="201231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rgbClr val="7F6447"/>
                </a:solidFill>
              </a:rPr>
              <a:t>能够识别孤独情绪</a:t>
            </a:r>
          </a:p>
          <a:p>
            <a:r>
              <a:rPr lang="zh-CN" altLang="en-US" sz="1200">
                <a:solidFill>
                  <a:srgbClr val="7F6447"/>
                </a:solidFill>
              </a:rPr>
              <a:t>但个性化程度仍然有限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3488690" y="5520055"/>
            <a:ext cx="2020570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solidFill>
                  <a:schemeClr val="bg1"/>
                </a:solidFill>
              </a:rPr>
              <a:t>体现更强的共情与记忆关联对话更自然，也更能延续上下文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971" y="6268307"/>
            <a:ext cx="777579" cy="101256"/>
            <a:chOff x="0" y="0"/>
            <a:chExt cx="1555157" cy="20251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2512" cy="2025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70529" y="0"/>
              <a:ext cx="202512" cy="2025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41058" y="0"/>
              <a:ext cx="202512" cy="2025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1587" y="0"/>
              <a:ext cx="202512" cy="2025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82116" y="0"/>
              <a:ext cx="202512" cy="2025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52644" y="0"/>
              <a:ext cx="202512" cy="2025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 rot="10510853">
            <a:off x="-1194047" y="2645061"/>
            <a:ext cx="6336215" cy="633621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4" name="Group 24"/>
          <p:cNvGrpSpPr/>
          <p:nvPr/>
        </p:nvGrpSpPr>
        <p:grpSpPr>
          <a:xfrm rot="10510853">
            <a:off x="-1504257" y="998011"/>
            <a:ext cx="3757908" cy="3757908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27" name="Group 27"/>
          <p:cNvGrpSpPr/>
          <p:nvPr/>
        </p:nvGrpSpPr>
        <p:grpSpPr>
          <a:xfrm rot="10510853">
            <a:off x="2950442" y="2453089"/>
            <a:ext cx="1565252" cy="156525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680276" y="2908715"/>
            <a:ext cx="7117071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5515" b="1">
                <a:solidFill>
                  <a:srgbClr val="100F0D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应用场景与项目价值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99027" y="1712873"/>
            <a:ext cx="1079571" cy="107957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5A28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985"/>
                </a:lnSpc>
              </a:pPr>
              <a:endParaRPr sz="1200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55230" y="1490345"/>
            <a:ext cx="1355090" cy="15919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385"/>
              </a:lnSpc>
            </a:pPr>
            <a:r>
              <a:rPr lang="en-US" sz="5215">
                <a:solidFill>
                  <a:srgbClr val="FFFFFF"/>
                </a:solidFill>
                <a:latin typeface="Brown Sugar" panose="02000506000000020004"/>
                <a:ea typeface="Brown Sugar" panose="02000506000000020004"/>
                <a:cs typeface="Brown Sugar" panose="02000506000000020004"/>
                <a:sym typeface="Brown Sugar" panose="02000506000000020004"/>
              </a:rPr>
              <a:t>05</a:t>
            </a:r>
          </a:p>
        </p:txBody>
      </p:sp>
      <p:grpSp>
        <p:nvGrpSpPr>
          <p:cNvPr id="36" name="Group 36"/>
          <p:cNvGrpSpPr/>
          <p:nvPr/>
        </p:nvGrpSpPr>
        <p:grpSpPr>
          <a:xfrm rot="10510853">
            <a:off x="10462058" y="-1878954"/>
            <a:ext cx="3757908" cy="3757908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4509" y="1072824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584200" y="-133985"/>
            <a:ext cx="2822575" cy="10058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840"/>
              </a:lnSpc>
            </a:pPr>
            <a:r>
              <a:rPr lang="en-US" sz="3735" b="1" spc="207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应用场景</a:t>
            </a:r>
          </a:p>
        </p:txBody>
      </p:sp>
      <p:pic>
        <p:nvPicPr>
          <p:cNvPr id="53" name="图片 52"/>
          <p:cNvPicPr/>
          <p:nvPr/>
        </p:nvPicPr>
        <p:blipFill>
          <a:blip r:embed="rId2"/>
          <a:srcRect t="7233"/>
          <a:stretch>
            <a:fillRect/>
          </a:stretch>
        </p:blipFill>
        <p:spPr>
          <a:xfrm>
            <a:off x="635" y="1176020"/>
            <a:ext cx="12191365" cy="5681980"/>
          </a:xfrm>
          <a:prstGeom prst="rect">
            <a:avLst/>
          </a:prstGeom>
        </p:spPr>
      </p:pic>
      <p:cxnSp>
        <p:nvCxnSpPr>
          <p:cNvPr id="68" name="直接连接符 67"/>
          <p:cNvCxnSpPr/>
          <p:nvPr/>
        </p:nvCxnSpPr>
        <p:spPr>
          <a:xfrm flipV="1">
            <a:off x="7075805" y="806450"/>
            <a:ext cx="2096135" cy="1143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流程图: 终止 65"/>
          <p:cNvSpPr/>
          <p:nvPr/>
        </p:nvSpPr>
        <p:spPr>
          <a:xfrm>
            <a:off x="4763135" y="611505"/>
            <a:ext cx="2321560" cy="445135"/>
          </a:xfrm>
          <a:prstGeom prst="flowChartTerminator">
            <a:avLst/>
          </a:prstGeom>
          <a:solidFill>
            <a:srgbClr val="E8DFD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连接符 68"/>
          <p:cNvCxnSpPr/>
          <p:nvPr/>
        </p:nvCxnSpPr>
        <p:spPr>
          <a:xfrm flipV="1">
            <a:off x="2667000" y="835025"/>
            <a:ext cx="2096135" cy="1143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956175" y="611505"/>
            <a:ext cx="1975485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2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场景拓展路径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363980" y="1300480"/>
            <a:ext cx="145288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居家验证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9061450" y="1299845"/>
            <a:ext cx="197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机构与平台拓展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5015865" y="1299845"/>
            <a:ext cx="1259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社区协同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363980" y="1600200"/>
            <a:ext cx="224472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以独居、空巢及高龄老人为核心用户，完成产品体验与陪伴效果验证。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062085" y="1600200"/>
            <a:ext cx="237617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面向养老机构及智慧养老平台提供模块化接入与私有化部署。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5015230" y="1600200"/>
            <a:ext cx="232156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与社区养老服务中心合作，形成老人、家属与社工协同服务模式。</a:t>
            </a:r>
          </a:p>
        </p:txBody>
      </p:sp>
      <p:sp>
        <p:nvSpPr>
          <p:cNvPr id="60" name="流程图: 终止 59"/>
          <p:cNvSpPr/>
          <p:nvPr/>
        </p:nvSpPr>
        <p:spPr>
          <a:xfrm>
            <a:off x="2512060" y="1276985"/>
            <a:ext cx="991870" cy="27051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流程图: 终止 60"/>
          <p:cNvSpPr/>
          <p:nvPr/>
        </p:nvSpPr>
        <p:spPr>
          <a:xfrm>
            <a:off x="10820400" y="1299845"/>
            <a:ext cx="991870" cy="269875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流程图: 终止 61"/>
          <p:cNvSpPr/>
          <p:nvPr/>
        </p:nvSpPr>
        <p:spPr>
          <a:xfrm>
            <a:off x="6275070" y="1276350"/>
            <a:ext cx="1259205" cy="271145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2512060" y="1276985"/>
            <a:ext cx="1096645" cy="269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低成本验证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0820400" y="1300480"/>
            <a:ext cx="1163955" cy="270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规模化落地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6275070" y="1276985"/>
            <a:ext cx="1336675" cy="269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服务模式复制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1137920" y="2451100"/>
            <a:ext cx="145288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居家养老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9998075" y="2451100"/>
            <a:ext cx="209677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智慧养老平台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7084695" y="2451100"/>
            <a:ext cx="159448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养老机构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4147820" y="2451100"/>
            <a:ext cx="155067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社区养老</a:t>
            </a:r>
          </a:p>
        </p:txBody>
      </p:sp>
      <p:sp>
        <p:nvSpPr>
          <p:cNvPr id="74" name="流程图: 可选过程 73"/>
          <p:cNvSpPr/>
          <p:nvPr/>
        </p:nvSpPr>
        <p:spPr>
          <a:xfrm>
            <a:off x="452120" y="3097530"/>
            <a:ext cx="911225" cy="298450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流程图: 可选过程 74"/>
          <p:cNvSpPr/>
          <p:nvPr/>
        </p:nvSpPr>
        <p:spPr>
          <a:xfrm>
            <a:off x="452120" y="3597275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流程图: 可选过程 75"/>
          <p:cNvSpPr/>
          <p:nvPr/>
        </p:nvSpPr>
        <p:spPr>
          <a:xfrm>
            <a:off x="452120" y="4123055"/>
            <a:ext cx="911225" cy="26987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387350" y="3115310"/>
            <a:ext cx="1096645" cy="281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适用对象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387350" y="3569335"/>
            <a:ext cx="109601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核心应用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387350" y="4112895"/>
            <a:ext cx="10960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场景价值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1363980" y="3126105"/>
            <a:ext cx="172212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独居、空巢及高龄老人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1363980" y="3569335"/>
            <a:ext cx="1722120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日常对话、情绪陪伴、回忆唤醒、认知训练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1363980" y="4044315"/>
            <a:ext cx="172212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填补子女无法实时陪伴的时间空缺，提供持续、个性化的心理陪伴。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4317365" y="4004945"/>
            <a:ext cx="1779270" cy="563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帮助社区服务人员了解老人整体状态与变化趋势，提高关怀效率。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4318000" y="3568700"/>
            <a:ext cx="1722120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群体情绪趋势、重点人群筛查、活动建议、家庭协同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4318000" y="3079750"/>
            <a:ext cx="1722120" cy="488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社区老人、社工及养老服务中心</a:t>
            </a:r>
          </a:p>
        </p:txBody>
      </p:sp>
      <p:sp>
        <p:nvSpPr>
          <p:cNvPr id="89" name="流程图: 可选过程 88"/>
          <p:cNvSpPr/>
          <p:nvPr/>
        </p:nvSpPr>
        <p:spPr>
          <a:xfrm>
            <a:off x="6352540" y="3597275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流程图: 可选过程 89"/>
          <p:cNvSpPr/>
          <p:nvPr/>
        </p:nvSpPr>
        <p:spPr>
          <a:xfrm>
            <a:off x="3406775" y="4083685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流程图: 可选过程 90"/>
          <p:cNvSpPr/>
          <p:nvPr/>
        </p:nvSpPr>
        <p:spPr>
          <a:xfrm>
            <a:off x="3406775" y="3597275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流程图: 可选过程 91"/>
          <p:cNvSpPr/>
          <p:nvPr/>
        </p:nvSpPr>
        <p:spPr>
          <a:xfrm>
            <a:off x="3406775" y="3079750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流程图: 可选过程 92"/>
          <p:cNvSpPr/>
          <p:nvPr/>
        </p:nvSpPr>
        <p:spPr>
          <a:xfrm>
            <a:off x="9346565" y="3097530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流程图: 可选过程 93"/>
          <p:cNvSpPr/>
          <p:nvPr/>
        </p:nvSpPr>
        <p:spPr>
          <a:xfrm>
            <a:off x="6352540" y="3115310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流程图: 可选过程 94"/>
          <p:cNvSpPr/>
          <p:nvPr/>
        </p:nvSpPr>
        <p:spPr>
          <a:xfrm>
            <a:off x="6352540" y="4123055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流程图: 可选过程 96"/>
          <p:cNvSpPr/>
          <p:nvPr/>
        </p:nvSpPr>
        <p:spPr>
          <a:xfrm>
            <a:off x="9346565" y="3597275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流程图: 可选过程 97"/>
          <p:cNvSpPr/>
          <p:nvPr/>
        </p:nvSpPr>
        <p:spPr>
          <a:xfrm>
            <a:off x="9346565" y="4123055"/>
            <a:ext cx="911225" cy="309245"/>
          </a:xfrm>
          <a:prstGeom prst="flowChartAlternateProcess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3338195" y="3079750"/>
            <a:ext cx="1163955" cy="309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适用对象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275070" y="3125470"/>
            <a:ext cx="1061720" cy="270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适用对象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9276715" y="3107690"/>
            <a:ext cx="1097280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适用对象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6275705" y="3569335"/>
            <a:ext cx="106108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核心应用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3338195" y="3597275"/>
            <a:ext cx="109601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核心应用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9277350" y="3597275"/>
            <a:ext cx="1096645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核心应用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9276715" y="4112895"/>
            <a:ext cx="109728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场景价值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6275705" y="4112895"/>
            <a:ext cx="106108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场景价值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3338195" y="4064000"/>
            <a:ext cx="10960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场景价值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7263765" y="3079750"/>
            <a:ext cx="1722120" cy="488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机构老人、护理人员及管理人员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10257790" y="3079750"/>
            <a:ext cx="1722120" cy="488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政府平台、养老服务商及系统集成商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7263765" y="3575050"/>
            <a:ext cx="1722120" cy="488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日常互动、认知活动、情绪记录、文化娱乐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7263765" y="4004945"/>
            <a:ext cx="1722120" cy="528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补充机构人工陪伴能力，提升照护效率与个性化服务水平。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10257155" y="3568700"/>
            <a:ext cx="1838960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/>
              <a:t>API</a:t>
            </a:r>
            <a:r>
              <a:rPr lang="zh-CN" altLang="en-US" sz="1000"/>
              <a:t>接入、数据看板、模块化服务、私有化部署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10257155" y="4044315"/>
            <a:ext cx="1934845" cy="488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作为</a:t>
            </a:r>
            <a:r>
              <a:rPr lang="en-US" altLang="zh-CN" sz="1000"/>
              <a:t>AI</a:t>
            </a:r>
            <a:r>
              <a:rPr lang="zh-CN" altLang="en-US" sz="1000"/>
              <a:t>心理陪伴能力模块，接入现有智慧养老服务体系。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2039620" y="5377180"/>
            <a:ext cx="4653280" cy="617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暖伴不是把通用</a:t>
            </a:r>
            <a:r>
              <a:rPr lang="en-US" altLang="zh-CN" sz="1400"/>
              <a:t>AI</a:t>
            </a:r>
            <a:r>
              <a:rPr lang="zh-CN" altLang="en-US" sz="1400"/>
              <a:t>放大字体给老人使用，</a:t>
            </a:r>
          </a:p>
          <a:p>
            <a:r>
              <a:rPr lang="zh-CN" altLang="en-US" sz="1400"/>
              <a:t>而是从</a:t>
            </a:r>
            <a:r>
              <a:rPr lang="zh-CN" altLang="en-US" sz="14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感知、语言、记忆、隐私和守护机制</a:t>
            </a:r>
            <a:r>
              <a:rPr lang="zh-CN" altLang="en-US" sz="1400"/>
              <a:t>上重新设计</a:t>
            </a:r>
            <a:r>
              <a:rPr lang="en-US" altLang="zh-CN" sz="1400"/>
              <a:t>AI。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2040255" y="5993765"/>
            <a:ext cx="91122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居家验证</a:t>
            </a: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525" y="3359150"/>
            <a:ext cx="234950" cy="139700"/>
          </a:xfrm>
          <a:prstGeom prst="rect">
            <a:avLst/>
          </a:prstGeom>
        </p:spPr>
      </p:pic>
      <p:pic>
        <p:nvPicPr>
          <p:cNvPr id="117" name="图片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150" y="5993765"/>
            <a:ext cx="450850" cy="268605"/>
          </a:xfrm>
          <a:prstGeom prst="rect">
            <a:avLst/>
          </a:prstGeom>
        </p:spPr>
      </p:pic>
      <p:pic>
        <p:nvPicPr>
          <p:cNvPr id="118" name="图片 1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525" y="3359150"/>
            <a:ext cx="234950" cy="139700"/>
          </a:xfrm>
          <a:prstGeom prst="rect">
            <a:avLst/>
          </a:prstGeom>
        </p:spPr>
      </p:pic>
      <p:sp>
        <p:nvSpPr>
          <p:cNvPr id="120" name="文本框 119"/>
          <p:cNvSpPr txBox="1"/>
          <p:nvPr/>
        </p:nvSpPr>
        <p:spPr>
          <a:xfrm>
            <a:off x="4600575" y="5993765"/>
            <a:ext cx="91122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机构推广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3303905" y="5993765"/>
            <a:ext cx="91122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社区复制</a:t>
            </a:r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820" y="5993765"/>
            <a:ext cx="452755" cy="269240"/>
          </a:xfrm>
          <a:prstGeom prst="rect">
            <a:avLst/>
          </a:prstGeom>
        </p:spPr>
      </p:pic>
      <p:pic>
        <p:nvPicPr>
          <p:cNvPr id="123" name="图片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090" y="5993765"/>
            <a:ext cx="452755" cy="269240"/>
          </a:xfrm>
          <a:prstGeom prst="rect">
            <a:avLst/>
          </a:prstGeom>
        </p:spPr>
      </p:pic>
      <p:sp>
        <p:nvSpPr>
          <p:cNvPr id="124" name="文本框 123"/>
          <p:cNvSpPr txBox="1"/>
          <p:nvPr/>
        </p:nvSpPr>
        <p:spPr>
          <a:xfrm>
            <a:off x="5871845" y="5993765"/>
            <a:ext cx="91122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平台接入</a:t>
            </a:r>
          </a:p>
        </p:txBody>
      </p:sp>
      <p:sp>
        <p:nvSpPr>
          <p:cNvPr id="125" name="圆角矩形 124"/>
          <p:cNvSpPr/>
          <p:nvPr/>
        </p:nvSpPr>
        <p:spPr>
          <a:xfrm>
            <a:off x="6985635" y="5620385"/>
            <a:ext cx="1082040" cy="5467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圆角矩形 129"/>
          <p:cNvSpPr/>
          <p:nvPr/>
        </p:nvSpPr>
        <p:spPr>
          <a:xfrm>
            <a:off x="8264525" y="5620385"/>
            <a:ext cx="1082040" cy="5467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圆角矩形 130"/>
          <p:cNvSpPr/>
          <p:nvPr/>
        </p:nvSpPr>
        <p:spPr>
          <a:xfrm>
            <a:off x="9508490" y="5620385"/>
            <a:ext cx="1082040" cy="5467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圆角矩形 131"/>
          <p:cNvSpPr/>
          <p:nvPr/>
        </p:nvSpPr>
        <p:spPr>
          <a:xfrm>
            <a:off x="10820400" y="5620385"/>
            <a:ext cx="1082040" cy="5467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3" name="图片 1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635" y="5620385"/>
            <a:ext cx="245745" cy="280035"/>
          </a:xfrm>
          <a:prstGeom prst="rect">
            <a:avLst/>
          </a:prstGeom>
        </p:spPr>
      </p:pic>
      <p:pic>
        <p:nvPicPr>
          <p:cNvPr id="134" name="图片 1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490" y="5620385"/>
            <a:ext cx="245745" cy="280035"/>
          </a:xfrm>
          <a:prstGeom prst="rect">
            <a:avLst/>
          </a:prstGeom>
        </p:spPr>
      </p:pic>
      <p:pic>
        <p:nvPicPr>
          <p:cNvPr id="135" name="图片 1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525" y="5620385"/>
            <a:ext cx="245745" cy="280035"/>
          </a:xfrm>
          <a:prstGeom prst="rect">
            <a:avLst/>
          </a:prstGeom>
        </p:spPr>
      </p:pic>
      <p:pic>
        <p:nvPicPr>
          <p:cNvPr id="136" name="图片 1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5620385"/>
            <a:ext cx="245745" cy="280035"/>
          </a:xfrm>
          <a:prstGeom prst="rect">
            <a:avLst/>
          </a:prstGeom>
        </p:spPr>
      </p:pic>
      <p:sp>
        <p:nvSpPr>
          <p:cNvPr id="137" name="文本框 136"/>
          <p:cNvSpPr txBox="1"/>
          <p:nvPr/>
        </p:nvSpPr>
        <p:spPr>
          <a:xfrm>
            <a:off x="7263765" y="5753735"/>
            <a:ext cx="836930" cy="280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场景清晰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11066145" y="5753735"/>
            <a:ext cx="836930" cy="413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隐私可控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9680575" y="5753735"/>
            <a:ext cx="991870" cy="280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模块可接入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8427085" y="5753735"/>
            <a:ext cx="1082040" cy="413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>
                <a:solidFill>
                  <a:srgbClr val="A68A64"/>
                </a:solidFill>
                <a:latin typeface="黑体" panose="02010609060101010101" charset="-122"/>
                <a:ea typeface="黑体" panose="02010609060101010101" charset="-122"/>
              </a:rPr>
              <a:t>途径可复制</a:t>
            </a:r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480" y="150495"/>
            <a:ext cx="9142730" cy="436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/>
          <p:cNvPicPr/>
          <p:nvPr/>
        </p:nvPicPr>
        <p:blipFill>
          <a:blip r:embed="rId3"/>
          <a:stretch>
            <a:fillRect/>
          </a:stretch>
        </p:blipFill>
        <p:spPr>
          <a:xfrm>
            <a:off x="-1270" y="969645"/>
            <a:ext cx="12193270" cy="5843905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585144" y="-126999"/>
            <a:ext cx="5499772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3735" b="1" spc="207">
                <a:solidFill>
                  <a:srgbClr val="100F0D"/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项目总结与未来展望</a:t>
            </a:r>
          </a:p>
        </p:txBody>
      </p:sp>
      <p:sp>
        <p:nvSpPr>
          <p:cNvPr id="3" name="AutoShape 3"/>
          <p:cNvSpPr/>
          <p:nvPr/>
        </p:nvSpPr>
        <p:spPr>
          <a:xfrm>
            <a:off x="585144" y="924234"/>
            <a:ext cx="702427" cy="0"/>
          </a:xfrm>
          <a:prstGeom prst="line">
            <a:avLst/>
          </a:prstGeom>
          <a:ln w="47625" cap="rnd">
            <a:gradFill>
              <a:gsLst>
                <a:gs pos="0">
                  <a:srgbClr val="986F98">
                    <a:alpha val="100000"/>
                  </a:srgbClr>
                </a:gs>
                <a:gs pos="100000">
                  <a:srgbClr val="F6F1F6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725" y="306070"/>
            <a:ext cx="6852285" cy="365125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1076960" y="2244090"/>
            <a:ext cx="249174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00">
                <a:solidFill>
                  <a:schemeClr val="tx1"/>
                </a:solidFill>
              </a:rPr>
              <a:t>覆盖孤独、怀旧、焦虑等七类老年心理场景，为模型适配与陪伴策略设计提供数据基础。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076960" y="3010535"/>
            <a:ext cx="2491740" cy="56324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900"/>
              <a:t>构建温和、通俗、少说教的老年共情表达，提升对话亲切感、理解力与长期陪伴体验。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076960" y="3812540"/>
            <a:ext cx="2540000" cy="4813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900"/>
              <a:t>形成“懂情绪、记人生、会守护”的核心能力，支持陪伴、回忆唤醒、训练与家庭联动。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1076960" y="4652010"/>
            <a:ext cx="2579370" cy="48196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900"/>
              <a:t>融合多模态感知、长期记忆与个性化生成，让老年心理陪伴更低门槛、更连续、更有温度。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4209415" y="2891790"/>
            <a:ext cx="2072005" cy="9658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开展模型盲评与适老化测试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收集真实用户反馈并持续优化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扩充老年心理陪伴场景数据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优化 </a:t>
            </a:r>
            <a:r>
              <a:rPr lang="en-US" altLang="zh-CN" sz="900">
                <a:solidFill>
                  <a:srgbClr val="7F6447"/>
                </a:solidFill>
              </a:rPr>
              <a:t>LoRA </a:t>
            </a:r>
            <a:r>
              <a:rPr lang="zh-CN" altLang="en-US" sz="900">
                <a:solidFill>
                  <a:srgbClr val="7F6447"/>
                </a:solidFill>
              </a:rPr>
              <a:t>微调与回复机制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6873240" y="2891790"/>
            <a:ext cx="2072640" cy="9658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推进多模态融合与安全评测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与社区养老服务中心合作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开展机构试用与适老化验证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建立长期评估与效果复盘机制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9434195" y="2891790"/>
            <a:ext cx="2072640" cy="9658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提供 </a:t>
            </a:r>
            <a:r>
              <a:rPr lang="en-US" altLang="zh-CN" sz="900">
                <a:solidFill>
                  <a:srgbClr val="7F6447"/>
                </a:solidFill>
              </a:rPr>
              <a:t>SaaS </a:t>
            </a:r>
            <a:r>
              <a:rPr lang="zh-CN" altLang="en-US" sz="900">
                <a:solidFill>
                  <a:srgbClr val="7F6447"/>
                </a:solidFill>
              </a:rPr>
              <a:t>服务与私有化部署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输出标准 </a:t>
            </a:r>
            <a:r>
              <a:rPr lang="en-US" altLang="zh-CN" sz="900">
                <a:solidFill>
                  <a:srgbClr val="7F6447"/>
                </a:solidFill>
              </a:rPr>
              <a:t>API </a:t>
            </a:r>
            <a:r>
              <a:rPr lang="zh-CN" altLang="en-US" sz="900">
                <a:solidFill>
                  <a:srgbClr val="7F6447"/>
                </a:solidFill>
              </a:rPr>
              <a:t>与模块化能力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对接适老终端与智慧养老平台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>
                <a:solidFill>
                  <a:srgbClr val="7F6447"/>
                </a:solidFill>
              </a:rPr>
              <a:t>形成可复制的养老服务方案</a:t>
            </a: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540" y="-1233805"/>
            <a:ext cx="359410" cy="231775"/>
          </a:xfrm>
          <a:prstGeom prst="rect">
            <a:avLst/>
          </a:prstGeom>
        </p:spPr>
      </p:pic>
      <p:sp>
        <p:nvSpPr>
          <p:cNvPr id="73" name="流程图: 终止 72"/>
          <p:cNvSpPr/>
          <p:nvPr/>
        </p:nvSpPr>
        <p:spPr>
          <a:xfrm>
            <a:off x="6948805" y="3949700"/>
            <a:ext cx="785495" cy="173355"/>
          </a:xfrm>
          <a:prstGeom prst="flowChartTerminator">
            <a:avLst/>
          </a:prstGeom>
          <a:solidFill>
            <a:srgbClr val="E8DFD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流程图: 终止 73"/>
          <p:cNvSpPr/>
          <p:nvPr/>
        </p:nvSpPr>
        <p:spPr>
          <a:xfrm>
            <a:off x="7939405" y="3949700"/>
            <a:ext cx="785495" cy="173355"/>
          </a:xfrm>
          <a:prstGeom prst="flowChartTerminator">
            <a:avLst/>
          </a:prstGeom>
          <a:solidFill>
            <a:srgbClr val="E8DFD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6948805" y="3949700"/>
            <a:ext cx="784860" cy="173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7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社区合作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7940040" y="3949700"/>
            <a:ext cx="784860" cy="173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7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机构试用</a:t>
            </a: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300" y="3913505"/>
            <a:ext cx="228600" cy="209550"/>
          </a:xfrm>
          <a:prstGeom prst="rect">
            <a:avLst/>
          </a:prstGeom>
        </p:spPr>
      </p:pic>
      <p:sp>
        <p:nvSpPr>
          <p:cNvPr id="78" name="流程图: 终止 77"/>
          <p:cNvSpPr/>
          <p:nvPr/>
        </p:nvSpPr>
        <p:spPr>
          <a:xfrm>
            <a:off x="7412990" y="4293870"/>
            <a:ext cx="822960" cy="172720"/>
          </a:xfrm>
          <a:prstGeom prst="flowChartTerminator">
            <a:avLst/>
          </a:prstGeom>
          <a:solidFill>
            <a:schemeClr val="bg1"/>
          </a:solidFill>
          <a:ln>
            <a:solidFill>
              <a:srgbClr val="A68A6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7412355" y="4293235"/>
            <a:ext cx="824230" cy="173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800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效果验证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2046605" y="5643245"/>
            <a:ext cx="95834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以</a:t>
            </a:r>
            <a:r>
              <a:rPr lang="zh-CN" altLang="en-US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模型优化</a:t>
            </a:r>
            <a:r>
              <a:rPr lang="zh-CN" altLang="en-US"/>
              <a:t>为基础，以</a:t>
            </a:r>
            <a:r>
              <a:rPr lang="zh-CN" altLang="en-US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场景试点</a:t>
            </a:r>
            <a:r>
              <a:rPr lang="zh-CN" altLang="en-US"/>
              <a:t>为支撑，向</a:t>
            </a:r>
            <a:r>
              <a:rPr lang="zh-CN" altLang="en-US" b="1">
                <a:solidFill>
                  <a:srgbClr val="7F6447"/>
                </a:solidFill>
                <a:latin typeface="黑体" panose="02010609060101010101" charset="-122"/>
                <a:ea typeface="黑体" panose="02010609060101010101" charset="-122"/>
              </a:rPr>
              <a:t>平台化输出</a:t>
            </a:r>
            <a:r>
              <a:rPr lang="zh-CN" altLang="en-US"/>
              <a:t>延伸，打造可验证、可复制、可持续的老年心理陪伴发展路径。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48472" y="4493673"/>
            <a:ext cx="5159640" cy="456755"/>
            <a:chOff x="0" y="0"/>
            <a:chExt cx="2038376" cy="180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8376" cy="180447"/>
            </a:xfrm>
            <a:custGeom>
              <a:avLst/>
              <a:gdLst/>
              <a:ahLst/>
              <a:cxnLst/>
              <a:rect l="l" t="t" r="r" b="b"/>
              <a:pathLst>
                <a:path w="2038376" h="180447">
                  <a:moveTo>
                    <a:pt x="90223" y="0"/>
                  </a:moveTo>
                  <a:lnTo>
                    <a:pt x="1948153" y="0"/>
                  </a:lnTo>
                  <a:cubicBezTo>
                    <a:pt x="1997982" y="0"/>
                    <a:pt x="2038376" y="40394"/>
                    <a:pt x="2038376" y="90223"/>
                  </a:cubicBezTo>
                  <a:lnTo>
                    <a:pt x="2038376" y="90223"/>
                  </a:lnTo>
                  <a:cubicBezTo>
                    <a:pt x="2038376" y="140052"/>
                    <a:pt x="1997982" y="180447"/>
                    <a:pt x="1948153" y="180447"/>
                  </a:cubicBezTo>
                  <a:lnTo>
                    <a:pt x="90223" y="180447"/>
                  </a:lnTo>
                  <a:cubicBezTo>
                    <a:pt x="40394" y="180447"/>
                    <a:pt x="0" y="140052"/>
                    <a:pt x="0" y="90223"/>
                  </a:cubicBezTo>
                  <a:lnTo>
                    <a:pt x="0" y="90223"/>
                  </a:lnTo>
                  <a:cubicBezTo>
                    <a:pt x="0" y="40394"/>
                    <a:pt x="40394" y="0"/>
                    <a:pt x="90223" y="0"/>
                  </a:cubicBezTo>
                  <a:close/>
                </a:path>
              </a:pathLst>
            </a:custGeom>
            <a:solidFill>
              <a:srgbClr val="B5A282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38376" cy="180447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720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235360" y="4221868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5" y="0"/>
                </a:lnTo>
                <a:lnTo>
                  <a:pt x="382735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3827818" y="6151082"/>
            <a:ext cx="255157" cy="271805"/>
          </a:xfrm>
          <a:custGeom>
            <a:avLst/>
            <a:gdLst/>
            <a:ahLst/>
            <a:cxnLst/>
            <a:rect l="l" t="t" r="r" b="b"/>
            <a:pathLst>
              <a:path w="382735" h="407707">
                <a:moveTo>
                  <a:pt x="0" y="0"/>
                </a:moveTo>
                <a:lnTo>
                  <a:pt x="382734" y="0"/>
                </a:lnTo>
                <a:lnTo>
                  <a:pt x="382734" y="407707"/>
                </a:lnTo>
                <a:lnTo>
                  <a:pt x="0" y="407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6786983" y="-1473279"/>
            <a:ext cx="6336215" cy="633621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27246" y="2803859"/>
            <a:ext cx="3757908" cy="375790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262295" y="5769355"/>
            <a:ext cx="2524591" cy="25245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362330" y="5773211"/>
            <a:ext cx="160656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0"/>
              </a:lnSpc>
              <a:spcBef>
                <a:spcPct val="0"/>
              </a:spcBef>
            </a:pPr>
            <a:r>
              <a:rPr lang="en-US" sz="1510" b="1">
                <a:solidFill>
                  <a:srgbClr val="FFFFFF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指导老师：李小画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508112" y="3900187"/>
            <a:ext cx="1565252" cy="156525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AE8F">
                <a:alpha val="47843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855"/>
                </a:lnSpc>
              </a:pPr>
              <a:endParaRPr sz="12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35660" y="1664970"/>
            <a:ext cx="10376535" cy="1529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725"/>
              </a:lnSpc>
            </a:pPr>
            <a:r>
              <a:rPr lang="en-US" sz="6935" b="1" dirty="0" err="1">
                <a:solidFill>
                  <a:srgbClr val="1E1E1E"/>
                </a:solidFill>
                <a:latin typeface="思源黑体 1 Heavy" panose="020B0A00000000000000" charset="-122"/>
                <a:ea typeface="思源黑体 1 Heavy" panose="020B0A00000000000000" charset="-122"/>
                <a:cs typeface="思源黑体 1 Heavy" panose="020B0A00000000000000" charset="-122"/>
                <a:sym typeface="思源黑体 1 Heavy" panose="020B0A00000000000000" charset="-122"/>
              </a:rPr>
              <a:t>请各位老师批评指正</a:t>
            </a:r>
            <a:endParaRPr lang="en-US" sz="6935" b="1" dirty="0">
              <a:solidFill>
                <a:srgbClr val="1E1E1E"/>
              </a:solidFill>
              <a:latin typeface="思源黑体 1 Heavy" panose="020B0A00000000000000" charset="-122"/>
              <a:ea typeface="思源黑体 1 Heavy" panose="020B0A00000000000000" charset="-122"/>
              <a:cs typeface="思源黑体 1 Heavy" panose="020B0A00000000000000" charset="-122"/>
              <a:sym typeface="思源黑体 1 Heavy" panose="020B0A00000000000000" charset="-122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685800" y="544947"/>
            <a:ext cx="777579" cy="101256"/>
            <a:chOff x="0" y="0"/>
            <a:chExt cx="1555157" cy="202512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02512" cy="202512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70529" y="0"/>
              <a:ext cx="202512" cy="202512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41058" y="0"/>
              <a:ext cx="202512" cy="202512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11587" y="0"/>
              <a:ext cx="202512" cy="202512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82116" y="0"/>
              <a:ext cx="202512" cy="202512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352644" y="0"/>
              <a:ext cx="202512" cy="202512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7815B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855"/>
                  </a:lnSpc>
                </a:pPr>
                <a:endParaRPr sz="120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3025140" y="3290570"/>
            <a:ext cx="4076065" cy="95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55"/>
              </a:lnSpc>
              <a:spcBef>
                <a:spcPct val="0"/>
              </a:spcBef>
            </a:pPr>
            <a:r>
              <a:rPr lang="en-US" sz="3550" b="1">
                <a:solidFill>
                  <a:srgbClr val="100F0D"/>
                </a:solidFill>
                <a:latin typeface="思源黑体 1 Bold" panose="020B0800000000000000" charset="-122"/>
                <a:ea typeface="思源黑体 1 Bold" panose="020B0800000000000000" charset="-122"/>
                <a:cs typeface="思源黑体 1 Bold" panose="020B0800000000000000" charset="-122"/>
                <a:sym typeface="思源黑体 1 Bold" panose="020B0800000000000000" charset="-122"/>
              </a:rPr>
              <a:t>懂岁月，更懂老人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11120" y="4363085"/>
            <a:ext cx="4634865" cy="7048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200"/>
              </a:lnSpc>
            </a:pPr>
            <a:r>
              <a:rPr lang="en-US" sz="2000" spc="242">
                <a:solidFill>
                  <a:srgbClr val="FFFFFF">
                    <a:alpha val="92941"/>
                  </a:srgbClr>
                </a:solidFill>
                <a:latin typeface="可画耀动黑-简" panose="020B0500000000000000" charset="-122"/>
                <a:ea typeface="可画耀动黑-简" panose="020B0500000000000000" charset="-122"/>
                <a:cs typeface="可画耀动黑-简" panose="020B0500000000000000" charset="-122"/>
                <a:sym typeface="可画耀动黑-简" panose="020B0500000000000000" charset="-122"/>
              </a:rPr>
              <a:t>用AI听懂情绪、记住人生、连接家人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4.1002362204725,&quot;left&quot;:46.02430446194226,&quot;top&quot;:165.69976377952756,&quot;width&quot;:848.175695538057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29984251968506,&quot;left&quot;:46.02430446194226,&quot;top&quot;:165.69976377952756,&quot;width&quot;:848.175695538057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.4,&quot;left&quot;:145.15,&quot;top&quot;:456,&quot;width&quot;:704.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6*154"/>
  <p:tag name="TABLE_ENDDRAG_RECT" val="42*283*866*15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94*270"/>
  <p:tag name="TABLE_ENDDRAG_RECT" val="23*93*594*27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43.0570078740157,&quot;left&quot;:0.0017322834645710828,&quot;top&quot;:-213.0570078740157,&quot;width&quot;:959.998267716535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3956</Words>
  <Application>Microsoft Office PowerPoint</Application>
  <PresentationFormat>宽屏</PresentationFormat>
  <Paragraphs>484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Brown Sugar</vt:lpstr>
      <vt:lpstr>黑体</vt:lpstr>
      <vt:lpstr>可画耀动黑-简</vt:lpstr>
      <vt:lpstr>思源黑体 1</vt:lpstr>
      <vt:lpstr>思源黑体 1 Bold</vt:lpstr>
      <vt:lpstr>思源黑体 1 Heavy</vt:lpstr>
      <vt:lpstr>思源黑体 1 Medium</vt:lpstr>
      <vt:lpstr>思源黑体 3</vt:lpstr>
      <vt:lpstr>宋体</vt:lpstr>
      <vt:lpstr>微软雅黑</vt:lpstr>
      <vt:lpstr>字由点字典黑</vt:lpstr>
      <vt:lpstr>字由点字典黑 Bold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ASUS</dc:creator>
  <cp:lastModifiedBy>a13701148026@qq.com</cp:lastModifiedBy>
  <cp:revision>174</cp:revision>
  <dcterms:created xsi:type="dcterms:W3CDTF">2019-06-19T02:08:00Z</dcterms:created>
  <dcterms:modified xsi:type="dcterms:W3CDTF">2026-09-30T06:54:39Z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51D474D4832843189F407AC39E1C92C7_11</vt:lpwstr>
  </property>
</Properties>
</file>